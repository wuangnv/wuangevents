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rimson Roman" charset="1" panose="020305030604060203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37" Type="http://schemas.openxmlformats.org/officeDocument/2006/relationships/font" Target="fonts/font3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1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3496" y="3561740"/>
            <a:ext cx="13741008" cy="197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273496" y="5871185"/>
            <a:ext cx="13741008" cy="68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TRƯỜNG ĐẠI HỌC CÔNG NGHỆ SÀI GÒN (STU)</a:t>
            </a:r>
          </a:p>
          <a:p>
            <a:pPr>
              <a:spcAft>
                <a:spcPts val="2000"/>
              </a:spcAft>
              <a:defRPr sz="1400" b="1">
                <a:solidFill>
                  <a:srgbClr val="64748B"/>
                </a:solidFill>
                <a:latin typeface="Segoe UI"/>
              </a:defRPr>
            </a:pPr>
            <a:r>
              <a:t>KHOA CÔNG NGHỆ THÔNG TIN</a:t>
            </a:r>
          </a:p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BÁO CÁO LUẬN VĂN TỐT NGHIỆP</a:t>
            </a:r>
          </a:p>
          <a:p>
            <a:pPr>
              <a:spcAft>
                <a:spcPts val="3000"/>
              </a:spcAft>
              <a:defRPr sz="2400" b="1">
                <a:solidFill>
                  <a:srgbClr val="2563EB"/>
                </a:solidFill>
                <a:latin typeface="Segoe UI"/>
              </a:defRPr>
            </a:pPr>
            <a:r>
              <a:t>XÂY DỰNG WEBSITE QUẢN LÝ VÀ BÁN VÉ SỰ KIỆN TRỰC TUYẾN WUANGEVENTS</a:t>
            </a:r>
          </a:p>
          <a:p>
            <a:pPr>
              <a:defRPr sz="1500" b="1">
                <a:solidFill>
                  <a:srgbClr val="1F2937"/>
                </a:solidFill>
                <a:latin typeface="Segoe UI"/>
              </a:defRPr>
            </a:pPr>
            <a:r>
              <a:t>• Sinh viên thực hiện: Nguyễn Vinh Quang</a:t>
            </a:r>
          </a:p>
          <a:p>
            <a:pPr>
              <a:defRPr sz="1500">
                <a:solidFill>
                  <a:srgbClr val="1F2937"/>
                </a:solidFill>
                <a:latin typeface="Segoe UI"/>
              </a:defRPr>
            </a:pPr>
            <a:r>
              <a:t>• Mã số sinh viên: DH52201310    |    Lớp: D22_TH08</a:t>
            </a:r>
          </a:p>
          <a:p>
            <a:pPr>
              <a:defRPr sz="1500">
                <a:solidFill>
                  <a:srgbClr val="1F2937"/>
                </a:solidFill>
                <a:latin typeface="Segoe UI"/>
              </a:defRPr>
            </a:pPr>
            <a:r>
              <a:t>• Chuyên ngành: Công nghệ Thông tin (Hệ thống Thông tin)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4880" r="0" b="-51785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2273496" y="1459436"/>
            <a:ext cx="13741008" cy="197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73496" y="3768882"/>
            <a:ext cx="13741008" cy="68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1. MỤC TIÊU ĐỀ TÀI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Tóm tắt ngắn gọn các mục tiêu nghiên cứu và phát triển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Xây dựng Hệ thống Bán vé Trực tuyến toàn diện:</a:t>
            </a:r>
            <a:r>
              <a:rPr sz="1500">
                <a:solidFill>
                  <a:srgbClr val="1F2937"/>
                </a:solidFill>
                <a:latin typeface="Segoe UI"/>
              </a:rPr>
              <a:t> Cung cấp giải pháp số hóa trọn gói cho thị trường sự kiện Việt Nam.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Tự động hóa Quy trình Bán vé &amp; Giữ chỗ:</a:t>
            </a:r>
            <a:r>
              <a:rPr sz="1500">
                <a:solidFill>
                  <a:srgbClr val="1F2937"/>
                </a:solidFill>
                <a:latin typeface="Segoe UI"/>
              </a:rPr>
              <a:t> Hỗ trợ giữ chỗ tạm thời 10 phút và phát hành Vé điện tử kèm mã QR Code độc bản.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Tích hợp 3 Cổng Thanh toán Điện tử:</a:t>
            </a:r>
            <a:r>
              <a:rPr sz="1500">
                <a:solidFill>
                  <a:srgbClr val="1F2937"/>
                </a:solidFill>
                <a:latin typeface="Segoe UI"/>
              </a:rPr>
              <a:t> Kết nối trực tiếp API VNPay, MoMo và ZaloPay với cơ chế bảo mật chữ ký số HMAC-SHA256.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Bảo đảm An toàn Dữ liệu Đồng thời (Concurrency):</a:t>
            </a:r>
            <a:r>
              <a:rPr sz="1500">
                <a:solidFill>
                  <a:srgbClr val="1F2937"/>
                </a:solidFill>
                <a:latin typeface="Segoe UI"/>
              </a:rPr>
              <a:t> Đạt chỉ số 0% Bán vượt kho (Overselling) và 0% Trùng ghế (Double Booking) khi tải cao.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Phân quyền Đa vai trò Chuyên biệt:</a:t>
            </a:r>
            <a:r>
              <a:rPr sz="1500">
                <a:solidFill>
                  <a:srgbClr val="1F2937"/>
                </a:solidFill>
                <a:latin typeface="Segoe UI"/>
              </a:rPr>
              <a:t> Cung cấp 4 không gian quản trị độc lập cho Khách hàng, Ban tổ chức, Staff soát vé và Admin.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2100" y="1423098"/>
            <a:ext cx="13422789" cy="118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62100" y="3241650"/>
            <a:ext cx="1342278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2. NỘI DUNG THỰC HIỆN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Quy trình khảo sát, thiết kế và phát triển dự án WuangEvents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Phân tích Nghiệp vụ &amp; Đặc tả Sử dụng:</a:t>
            </a:r>
            <a:r>
              <a:rPr sz="1500">
                <a:solidFill>
                  <a:srgbClr val="1F2937"/>
                </a:solidFill>
                <a:latin typeface="Segoe UI"/>
              </a:rPr>
              <a:t> Khảo sát luồng nghiệp vụ bán vé thực tế, xây dựng 22 Use Cases và thiết kế CSDL chuẩn hóa (11 bảng).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Phát triển Nền tảng Backend .NET 9:</a:t>
            </a:r>
            <a:r>
              <a:rPr sz="1500">
                <a:solidFill>
                  <a:srgbClr val="1F2937"/>
                </a:solidFill>
                <a:latin typeface="Segoe UI"/>
              </a:rPr>
              <a:t> Sử dụng C# 13, ASP.NET Core MVC, Dapper Micro-ORM, mã hóa băm mật khẩu BCrypt và thư viện QRCoder.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Tích hợp API Cổng Thanh toán:</a:t>
            </a:r>
            <a:r>
              <a:rPr sz="1500">
                <a:solidFill>
                  <a:srgbClr val="1F2937"/>
                </a:solidFill>
                <a:latin typeface="Segoe UI"/>
              </a:rPr>
              <a:t> Hiện thực luồng kết nối 3 cổng VNPay (SHA256 Checksum), MoMo (HMAC-SHA256) và ZaloPay (HMAC-SHA256).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Thiết kế Giao diện Web Responsive:</a:t>
            </a:r>
            <a:r>
              <a:rPr sz="1500">
                <a:solidFill>
                  <a:srgbClr val="1F2937"/>
                </a:solidFill>
                <a:latin typeface="Segoe UI"/>
              </a:rPr>
              <a:t> Xây dựng giao diện tương thích Máy tính &amp; Điện thoại, tích hợp Sơ đồ chọn ghế trực quan (Seat Map).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Kiểm thử &amp; Đánh giá Hệ thống:</a:t>
            </a:r>
            <a:r>
              <a:rPr sz="1500">
                <a:solidFill>
                  <a:srgbClr val="1F2937"/>
                </a:solidFill>
                <a:latin typeface="Segoe UI"/>
              </a:rPr>
              <a:t> Thực thi 27 Kịch bản Test Case (Chức năng, Bảo mật chữ ký số, Giữ chỗ 10 phút và Xử lý đồng thời).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5955" y="8165147"/>
            <a:ext cx="10263345" cy="109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232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6462955"/>
          </a:xfrm>
          <a:custGeom>
            <a:avLst/>
            <a:gdLst/>
            <a:ahLst/>
            <a:cxnLst/>
            <a:rect r="r" b="b" t="t" l="l"/>
            <a:pathLst>
              <a:path h="6462955" w="18288000">
                <a:moveTo>
                  <a:pt x="0" y="0"/>
                </a:moveTo>
                <a:lnTo>
                  <a:pt x="18288000" y="0"/>
                </a:lnTo>
                <a:lnTo>
                  <a:pt x="18288000" y="6462955"/>
                </a:lnTo>
                <a:lnTo>
                  <a:pt x="0" y="646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322" r="0" b="-44322"/>
            </a:stretch>
          </a:blipFill>
        </p:spPr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3. THÁCH THỨC VÀ GIẢI PHÁP KỸ THUẬT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Các bài toán kỹ thuật phức tạp và giải pháp hiện thực trong ASP.NET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• Thách thức 1: Tranh chấp Mua vé Đồng thời (Race Condition)
</a:t>
            </a:r>
            <a:r>
              <a:rPr sz="1400">
                <a:solidFill>
                  <a:srgbClr val="1F2937"/>
                </a:solidFill>
                <a:latin typeface="Segoe UI"/>
              </a:rPr>
              <a:t>   ➔ Giải pháp: Áp dụng Pessimistic Concurrency Control (WITH (UPDLOCK, HOLDLOCK)) + IsolationLevel.Serializable + Cập nhật điều kiện nguyên tử (Atomic Update).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• Thách thức 2: Quản lý Đơn hàng Quá hạn &amp; Khóa Giữ chỗ
</a:t>
            </a:r>
            <a:r>
              <a:rPr sz="1400">
                <a:solidFill>
                  <a:srgbClr val="1F2937"/>
                </a:solidFill>
                <a:latin typeface="Segoe UI"/>
              </a:rPr>
              <a:t>   ➔ Giải pháp: Cấu hình khóa giữ vé 10 phút, kích hoạt tự động tiến trình GiaiPhongDonHangHetHan hoàn trả kho vé/ghế khi hết hạn.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• Thách thức 3: Bảo mật Thanh toán &amp; Chống giả mạo Callback
</a:t>
            </a:r>
            <a:r>
              <a:rPr sz="1400">
                <a:solidFill>
                  <a:srgbClr val="1F2937"/>
                </a:solidFill>
                <a:latin typeface="Segoe UI"/>
              </a:rPr>
              <a:t>   ➔ Giải pháp: Xác thực chữ ký điện tử hai chiều HMAC-SHA256 / SHA256 Checksum, đảm bảo tính Toàn vẹn (Integrity) và Chống chối bỏ.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Segoe UI"/>
              </a:rPr>
              <a:t>• Thách thức 4: Cổng Soát vé Gian lận (Double Check-in)
</a:t>
            </a:r>
            <a:r>
              <a:rPr sz="1400">
                <a:solidFill>
                  <a:srgbClr val="1F2937"/>
                </a:solidFill>
                <a:latin typeface="Segoe UI"/>
              </a:rPr>
              <a:t>   ➔ Giải pháp: Mỗi vé phát hành 1 mã QR duy nhất mã hóa. Hệ thống chặn soát vé lần 2 và ghi vết lịch sử nhân viên check-in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4835" y="1557414"/>
            <a:ext cx="5851439" cy="7172172"/>
          </a:xfrm>
          <a:custGeom>
            <a:avLst/>
            <a:gdLst/>
            <a:ahLst/>
            <a:cxnLst/>
            <a:rect r="r" b="b" t="t" l="l"/>
            <a:pathLst>
              <a:path h="7172172" w="5851439">
                <a:moveTo>
                  <a:pt x="0" y="0"/>
                </a:moveTo>
                <a:lnTo>
                  <a:pt x="5851439" y="0"/>
                </a:lnTo>
                <a:lnTo>
                  <a:pt x="5851439" y="7172172"/>
                </a:lnTo>
                <a:lnTo>
                  <a:pt x="0" y="7172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85" t="0" r="-11285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8977993" y="3539882"/>
            <a:ext cx="7758428" cy="222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977993" y="6208902"/>
            <a:ext cx="7758428" cy="51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4. NGHIỆP VỤ VÀ THIẾT KẾ DỮ LIỆU (CSDL QUAN HỆ)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Mô hình Cơ sở Dữ liệu 11 bảng chuẩn hóa và các ràng buộc toàn vẹn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Cấu trúc Mô hình 11 Bảng Quan hệ:</a:t>
            </a:r>
            <a:r>
              <a:rPr sz="1400">
                <a:solidFill>
                  <a:srgbClr val="1F2937"/>
                </a:solidFill>
                <a:latin typeface="Segoe UI"/>
              </a:rPr>
              <a:t>
   - Nhóm Tài khoản &amp; Phân quyền: NguoiDung, ThongTinBanToChuc, NhanVienSuKien.
   - Nhóm Sự kiện &amp; Ghế ngồi: SuKien, LoaiVe, SoDoChoNgoi, KhuVuc, HangGhe, ChoNgoi.
   - Nhóm Giao dịch &amp; Vé điện tử: DonHang, ChiTietDonHang (MaVe, MaQR, TrangThaiCheckin), MaGiamGia.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Các Ràng buộc Toàn vẹn Chính (Database Constraints):</a:t>
            </a:r>
            <a:r>
              <a:rPr sz="1400">
                <a:solidFill>
                  <a:srgbClr val="1F2937"/>
                </a:solidFill>
                <a:latin typeface="Segoe UI"/>
              </a:rPr>
              <a:t>
   - Primary Key &amp; Foreign Key (CASCADE / RESTRICT): Bảo đảm tính toàn vẹn tham chiếu.
   - Ràng buộc Duy nhất (UNIQUE): Đảm bảo duy nhất trên Email, MaDonHang, MaVe, MaQR, MaCode.
   - Ràng buộc Kiểm tra (CHECK): GiaBan &gt;= 0, (SoLuongDaBan + SoLuongGiuCho) &lt;= SoLuongTong.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7971" y="1191608"/>
            <a:ext cx="12217671" cy="107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90528" y="7634892"/>
            <a:ext cx="263438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90528" y="6483881"/>
            <a:ext cx="2634387" cy="90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790528" y="3438866"/>
            <a:ext cx="2634387" cy="2538866"/>
          </a:xfrm>
          <a:custGeom>
            <a:avLst/>
            <a:gdLst/>
            <a:ahLst/>
            <a:cxnLst/>
            <a:rect r="r" b="b" t="t" l="l"/>
            <a:pathLst>
              <a:path h="2538866" w="2634387">
                <a:moveTo>
                  <a:pt x="0" y="0"/>
                </a:moveTo>
                <a:lnTo>
                  <a:pt x="2634387" y="0"/>
                </a:lnTo>
                <a:lnTo>
                  <a:pt x="2634387" y="2538866"/>
                </a:lnTo>
                <a:lnTo>
                  <a:pt x="0" y="253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407" t="-21338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863085" y="7634892"/>
            <a:ext cx="263438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63085" y="6483881"/>
            <a:ext cx="2634387" cy="90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63085" y="3438866"/>
            <a:ext cx="2634387" cy="2538866"/>
          </a:xfrm>
          <a:custGeom>
            <a:avLst/>
            <a:gdLst/>
            <a:ahLst/>
            <a:cxnLst/>
            <a:rect r="r" b="b" t="t" l="l"/>
            <a:pathLst>
              <a:path h="2538866" w="2634387">
                <a:moveTo>
                  <a:pt x="0" y="0"/>
                </a:moveTo>
                <a:lnTo>
                  <a:pt x="2634387" y="0"/>
                </a:lnTo>
                <a:lnTo>
                  <a:pt x="2634387" y="2538866"/>
                </a:lnTo>
                <a:lnTo>
                  <a:pt x="0" y="2538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2743" r="0" b="-2899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3935642" y="7634892"/>
            <a:ext cx="263438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935642" y="6483881"/>
            <a:ext cx="2634387" cy="90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935642" y="3438866"/>
            <a:ext cx="2634387" cy="2538866"/>
          </a:xfrm>
          <a:custGeom>
            <a:avLst/>
            <a:gdLst/>
            <a:ahLst/>
            <a:cxnLst/>
            <a:rect r="r" b="b" t="t" l="l"/>
            <a:pathLst>
              <a:path h="2538866" w="2634387">
                <a:moveTo>
                  <a:pt x="0" y="0"/>
                </a:moveTo>
                <a:lnTo>
                  <a:pt x="2634387" y="0"/>
                </a:lnTo>
                <a:lnTo>
                  <a:pt x="2634387" y="2538866"/>
                </a:lnTo>
                <a:lnTo>
                  <a:pt x="0" y="253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512" t="-20775" r="-16082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717971" y="7634892"/>
            <a:ext cx="263438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17971" y="6483881"/>
            <a:ext cx="2634387" cy="90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17971" y="3438866"/>
            <a:ext cx="2634387" cy="2538866"/>
          </a:xfrm>
          <a:custGeom>
            <a:avLst/>
            <a:gdLst/>
            <a:ahLst/>
            <a:cxnLst/>
            <a:rect r="r" b="b" t="t" l="l"/>
            <a:pathLst>
              <a:path h="2538866" w="2634387">
                <a:moveTo>
                  <a:pt x="0" y="0"/>
                </a:moveTo>
                <a:lnTo>
                  <a:pt x="2634387" y="0"/>
                </a:lnTo>
                <a:lnTo>
                  <a:pt x="2634387" y="2538866"/>
                </a:lnTo>
                <a:lnTo>
                  <a:pt x="0" y="2538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821" r="0" b="-27821"/>
            </a:stretch>
          </a:blipFill>
        </p:spPr>
        <p:txBody>
          <a:bodyPr/>
          <a:p/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5. GIAO DIỆN HỆ THỐNG (SYSTEM INTERFACES)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Tổng quan các nhóm màn hình giao diện người dùng chính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1. Nhóm Giao diện Khách hàng (Buyer UI):</a:t>
            </a:r>
            <a:r>
              <a:rPr sz="1400">
                <a:solidFill>
                  <a:srgbClr val="1F2937"/>
                </a:solidFill>
                <a:latin typeface="Segoe UI"/>
              </a:rPr>
              <a:t>
    Trang chủ sự kiện nổi bật, Chi tiết sự kiện &amp; Sơ đồ chọn ghế trực quan, Màn hình Thanh toán 3 cổng &amp; Chi tiết Vé điện tử QR Code.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2. Nhóm Giao diện Ban tổ chức (Organizer UI):</a:t>
            </a:r>
            <a:r>
              <a:rPr sz="1400">
                <a:solidFill>
                  <a:srgbClr val="1F2937"/>
                </a:solidFill>
                <a:latin typeface="Segoe UI"/>
              </a:rPr>
              <a:t>
    Dashboard thống kê doanh thu / tỷ lệ check-in, Giao diện Tạo sự kiện &amp; Cấu hình loại vé/ghế, Quản lý Voucher &amp; Yêu cầu rút tiền.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3. Nhóm Giao diện Nhân viên Soát vé (Staff UI):</a:t>
            </a:r>
            <a:r>
              <a:rPr sz="1400">
                <a:solidFill>
                  <a:srgbClr val="1F2937"/>
                </a:solidFill>
                <a:latin typeface="Segoe UI"/>
              </a:rPr>
              <a:t>
    Màn hình Web Camera Quét mã QR Code &amp; Nhập mã vé thủ công, Phản hồi màu Xanh (Thành công) / Đỏ (Vé đã check-in / Lỗi).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4. Nhóm Giao diện Quản trị viên (Admin UI):</a:t>
            </a:r>
            <a:r>
              <a:rPr sz="1400">
                <a:solidFill>
                  <a:srgbClr val="1F2937"/>
                </a:solidFill>
                <a:latin typeface="Segoe UI"/>
              </a:rPr>
              <a:t>
    Dashboard tổng quan toàn hệ thống, Màn hình Duyệt hồ sơ Ban tổ chức &amp; Duyệt sự kiện mở bán, Quản lý đơn hàng &amp; Hoàn tiền nội bộ.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2374" y="1143000"/>
            <a:ext cx="13323251" cy="116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7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82374" y="8458200"/>
            <a:ext cx="1332325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6308" y="1972490"/>
            <a:ext cx="17366075" cy="67879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6. CÁC CHỨC NĂNG ĐÃ XÂY DỰNG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Danh mục danh sách chức năng theo từng tác nhân (Chỉ liệt kê gạch đầu dòng)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• Khách hàng (Buyer):</a:t>
            </a:r>
            <a:r>
              <a:rPr sz="1400">
                <a:solidFill>
                  <a:srgbClr val="1F2937"/>
                </a:solidFill>
                <a:latin typeface="Segoe UI"/>
              </a:rPr>
              <a:t>
    Tìm kiếm/lọc sự kiện, Đăng ký/Đăng nhập &amp; Google OAuth, Đặt vé thường/ghế sơ đồ, Áp dụng Voucher, Thanh toán VNPay/MoMo/ZaloPay, Xem vé QR.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• Ban tổ chức (Organizer):</a:t>
            </a:r>
            <a:r>
              <a:rPr sz="1400">
                <a:solidFill>
                  <a:srgbClr val="1F2937"/>
                </a:solidFill>
                <a:latin typeface="Segoe UI"/>
              </a:rPr>
              <a:t>
    Đăng ký hồ sơ, Tạo/sửa sự kiện, Cấu hình loại vé &amp; sơ đồ ghế, Quản lý Voucher, Phân công Staff, Báo cáo doanh thu/check-in, Xuất CSV, Rút tiền.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• Nhân viên Soát vé (Staff):</a:t>
            </a:r>
            <a:r>
              <a:rPr sz="1400">
                <a:solidFill>
                  <a:srgbClr val="1F2937"/>
                </a:solidFill>
                <a:latin typeface="Segoe UI"/>
              </a:rPr>
              <a:t>
    Truy cập sự kiện được phân công, Quét mã QR bằng Web Camera, Nhập mã vé thủ công, Kiểm tra trạng thái vé real-time.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• Quản trị viên (Admin):</a:t>
            </a:r>
            <a:r>
              <a:rPr sz="1400">
                <a:solidFill>
                  <a:srgbClr val="1F2937"/>
                </a:solidFill>
                <a:latin typeface="Segoe UI"/>
              </a:rPr>
              <a:t>
    Duyệt hồ sơ Ban tổ chức, Duyệt sự kiện mở bán, Quản lý đơn hàng toàn hệ thống, Hoàn tiền nội bộ, Duyệt rút tiền, Quản lý cấu hình &amp; Audit Log.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2196" y="0"/>
            <a:ext cx="7245804" cy="10287000"/>
          </a:xfrm>
          <a:custGeom>
            <a:avLst/>
            <a:gdLst/>
            <a:ahLst/>
            <a:cxnLst/>
            <a:rect r="r" b="b" t="t" l="l"/>
            <a:pathLst>
              <a:path h="10287000" w="7245804">
                <a:moveTo>
                  <a:pt x="0" y="0"/>
                </a:moveTo>
                <a:lnTo>
                  <a:pt x="7245804" y="0"/>
                </a:lnTo>
                <a:lnTo>
                  <a:pt x="7245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7" t="0" r="-1287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501050" y="1326661"/>
            <a:ext cx="7989635" cy="230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01050" y="8311158"/>
            <a:ext cx="7989635" cy="53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4"/>
              </a:lnSpc>
              <a:spcBef>
                <a:spcPct val="0"/>
              </a:spcBef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7. KẾT QUẢ THỰC HIỆN &amp; CHỈ SỐ NĂNG LỰC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Đánh giá kết quả xây dựng dự án và các thông số chịu tải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Hoàn thành 100% Khung ứng dụng Web:</a:t>
            </a:r>
            <a:r>
              <a:rPr sz="1500">
                <a:solidFill>
                  <a:srgbClr val="1F2937"/>
                </a:solidFill>
                <a:latin typeface="Segoe UI"/>
              </a:rPr>
              <a:t> Website chạy ổn định trên .NET 9.0, tương thích Responsive trên Desktop &amp; Mobile.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Số người dùng truy cập đồng thời (Concurrent Users):</a:t>
            </a:r>
            <a:r>
              <a:rPr sz="1500">
                <a:solidFill>
                  <a:srgbClr val="1F2937"/>
                </a:solidFill>
                <a:latin typeface="Segoe UI"/>
              </a:rPr>
              <a:t> Đạt từ 3,000 – 5,000 người dùng online cùng lúc nhờ Kestrel ThreadPool Async.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Tải truy vấn đọc (Read Throughput - RPS):</a:t>
            </a:r>
            <a:r>
              <a:rPr sz="1500">
                <a:solidFill>
                  <a:srgbClr val="1F2937"/>
                </a:solidFill>
                <a:latin typeface="Segoe UI"/>
              </a:rPr>
              <a:t> Đạt ~2,500 Requests/giây nhờ Dapper SQL có Indexing tối ưu.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Tải giao dịch ghi (Write Throughput - TPS):</a:t>
            </a:r>
            <a:r>
              <a:rPr sz="1500">
                <a:solidFill>
                  <a:srgbClr val="1F2937"/>
                </a:solidFill>
                <a:latin typeface="Segoe UI"/>
              </a:rPr>
              <a:t> Đạt ~150 – 300 Giao dịch/giây, đảm bảo hàng chờ an toàn tại SQL Server.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Chỉ số An toàn Dữ liệu Đồng thời:</a:t>
            </a:r>
            <a:r>
              <a:rPr sz="1500">
                <a:solidFill>
                  <a:srgbClr val="1F2937"/>
                </a:solidFill>
                <a:latin typeface="Segoe UI"/>
              </a:rPr>
              <a:t> Đạt 0% Bán vượt kho (Overselling), 0% Trùng ghế (Double Booking) và 100% Bảo mật chữ ký thanh toán.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3293" y="1473301"/>
            <a:ext cx="12421413" cy="109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831365" y="4831593"/>
            <a:ext cx="4011474" cy="9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831365" y="4185407"/>
            <a:ext cx="4011474" cy="40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933293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831365" y="7769225"/>
            <a:ext cx="4011474" cy="9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31365" y="7123039"/>
            <a:ext cx="4011474" cy="40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933293" y="7225579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1343232" y="4831593"/>
            <a:ext cx="4011474" cy="9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343232" y="4185407"/>
            <a:ext cx="4011474" cy="40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445161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1343232" y="7769225"/>
            <a:ext cx="4011474" cy="93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343232" y="7123039"/>
            <a:ext cx="4011474" cy="40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45161" y="7225579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" name="TextBox 14"/>
          <p:cNvSpPr txBox="1"/>
          <p:nvPr/>
        </p:nvSpPr>
        <p:spPr>
          <a:xfrm>
            <a:off x="731520" y="457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8. KẾT LUẬN VÀ HƯỚNG MỞ RỘNG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Đánh giá mục tiêu đối sánh, hạn chế tồn tại và hướng phát triển tương lai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1. Đối sánh Mục tiêu vs Kết quả:</a:t>
            </a:r>
            <a:r>
              <a:rPr sz="1500">
                <a:solidFill>
                  <a:srgbClr val="1F2937"/>
                </a:solidFill>
                <a:latin typeface="Segoe UI"/>
              </a:rPr>
              <a:t> Đã hoàn thành toàn bộ mục tiêu đề ra (Thanh toán 3 cổng, Giữ chỗ 10 phút, Vé QR Code, Khóa bi quan chống overbooking).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2. Những Hạn chế / Chưa làm được:</a:t>
            </a:r>
            <a:r>
              <a:rPr sz="1500">
                <a:solidFill>
                  <a:srgbClr val="1F2937"/>
                </a:solidFill>
                <a:latin typeface="Segoe UI"/>
              </a:rPr>
              <a:t> Chưa tích hợp API hoàn tiền tự động trực tiếp từ ngân hàng (mới ghi nhận nội bộ); Chưa có ứng dụng Mobile Native.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• 3. Hướng Phát triển Mở rộng:</a:t>
            </a:r>
            <a:r>
              <a:rPr sz="1500">
                <a:solidFill>
                  <a:srgbClr val="1F2937"/>
                </a:solidFill>
                <a:latin typeface="Segoe UI"/>
              </a:rPr>
              <a:t> Tích hợp Hàng chờ Redis / RabbitMQ để nâng công suất ghi lên 2,000+ TPS; Xây dựng Ứng dụng Mobile App (Flutter) quét QR Code.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2268" y="2272262"/>
            <a:ext cx="13583463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352268" y="7151668"/>
            <a:ext cx="7989635" cy="68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XIN CHÂN THÀNH CẢM ƠN QUÝ THẦY CÔ TRONG HỘI ĐỒNG ĐÃ LẮNG NGHE!</a:t>
            </a:r>
          </a:p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PHIÊN THẢO LUẬN &amp; HỎI ĐÁP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DAHR3xFp9Ug</dc:identifier>
  <dcterms:modified xsi:type="dcterms:W3CDTF">2011-08-01T06:04:30Z</dcterms:modified>
  <cp:revision>1</cp:revision>
  <dc:title>Trắng Màu nâu Điểm nhấn Đơn giản Phông chữ Serif cho Doanh nghiệp Bản thuyết trình</dc:title>
</cp:coreProperties>
</file>