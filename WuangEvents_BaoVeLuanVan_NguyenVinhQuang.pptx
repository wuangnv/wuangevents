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3b81c9f44a4909" /><Relationship Type="http://schemas.openxmlformats.org/officeDocument/2006/relationships/extended-properties" Target="/docProps/app.xml" Id="Rb026121cdfdf421d" /><Relationship Type="http://schemas.openxmlformats.org/officeDocument/2006/relationships/officeDocument" Target="/ppt/presentation.xml" Id="R19a45c239d1d495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624dc2527dd450a"/>
  </p:sldMasterIdLst>
  <p:notesMasterIdLst>
    <p:notesMasterId xmlns:r="http://schemas.openxmlformats.org/officeDocument/2006/relationships" r:id="R5e8109f6e833471a"/>
  </p:notesMasterIdLst>
  <p:sldIdLst>
    <p:sldId xmlns:r="http://schemas.openxmlformats.org/officeDocument/2006/relationships" id="256" r:id="R85ceb486795e4ac7"/>
    <p:sldId xmlns:r="http://schemas.openxmlformats.org/officeDocument/2006/relationships" id="257" r:id="Rce8c367b77884298"/>
    <p:sldId xmlns:r="http://schemas.openxmlformats.org/officeDocument/2006/relationships" id="258" r:id="R34d46f11e9f143e7"/>
    <p:sldId xmlns:r="http://schemas.openxmlformats.org/officeDocument/2006/relationships" id="259" r:id="R8c4f0b1cd8574a98"/>
    <p:sldId xmlns:r="http://schemas.openxmlformats.org/officeDocument/2006/relationships" id="260" r:id="Ra696e62742134d41"/>
    <p:sldId xmlns:r="http://schemas.openxmlformats.org/officeDocument/2006/relationships" id="261" r:id="Rb7a12a92d7e54c7f"/>
    <p:sldId xmlns:r="http://schemas.openxmlformats.org/officeDocument/2006/relationships" id="262" r:id="R8e1f5e0d440e4ce8"/>
    <p:sldId xmlns:r="http://schemas.openxmlformats.org/officeDocument/2006/relationships" id="263" r:id="Rca79cbacf68c4375"/>
    <p:sldId xmlns:r="http://schemas.openxmlformats.org/officeDocument/2006/relationships" id="264" r:id="R24045ec4082c4302"/>
    <p:sldId xmlns:r="http://schemas.openxmlformats.org/officeDocument/2006/relationships" id="265" r:id="R3291dde392c9431c"/>
  </p:sldIdLst>
  <p:sldSz cx="18288000" cy="10287000"/>
  <p:notesSz cx="6858000" cy="9144000"/>
  <p:embeddedFontLst>
    <p:embeddedFont>
      <p:font typeface="Crimson Roman"/>
      <p:regular xmlns:r="http://schemas.openxmlformats.org/officeDocument/2006/relationships" r:id="R219e7c5404e54ef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1d47dd4696349fe" /><Relationship Type="http://schemas.openxmlformats.org/officeDocument/2006/relationships/slideMaster" Target="/ppt/slideMasters/slideMaster1.xml" Id="Ra624dc2527dd450a" /><Relationship Type="http://schemas.openxmlformats.org/officeDocument/2006/relationships/notesMaster" Target="/ppt/notesMasters/notesMaster1.xml" Id="R5e8109f6e833471a" /><Relationship Type="http://schemas.openxmlformats.org/officeDocument/2006/relationships/presProps" Target="/ppt/presProps.xml" Id="Rabe6c4350a6e4870" /><Relationship Type="http://schemas.openxmlformats.org/officeDocument/2006/relationships/viewProps" Target="/ppt/viewProps.xml" Id="R3a739f949b3140a7" /><Relationship Type="http://schemas.openxmlformats.org/officeDocument/2006/relationships/tableStyles" Target="/ppt/tableStyles.xml" Id="R84b3bc2084e84259" /><Relationship Type="http://schemas.openxmlformats.org/officeDocument/2006/relationships/font" Target="/ppt/fonts/font.dat" Id="R219e7c5404e54ef1" /><Relationship Type="http://schemas.openxmlformats.org/officeDocument/2006/relationships/slide" Target="/ppt/slides/slide1.xml" Id="R85ceb486795e4ac7" /><Relationship Type="http://schemas.openxmlformats.org/officeDocument/2006/relationships/slide" Target="/ppt/slides/slide2.xml" Id="Rce8c367b77884298" /><Relationship Type="http://schemas.openxmlformats.org/officeDocument/2006/relationships/slide" Target="/ppt/slides/slide3.xml" Id="R34d46f11e9f143e7" /><Relationship Type="http://schemas.openxmlformats.org/officeDocument/2006/relationships/slide" Target="/ppt/slides/slide4.xml" Id="R8c4f0b1cd8574a98" /><Relationship Type="http://schemas.openxmlformats.org/officeDocument/2006/relationships/slide" Target="/ppt/slides/slide5.xml" Id="Ra696e62742134d41" /><Relationship Type="http://schemas.openxmlformats.org/officeDocument/2006/relationships/slide" Target="/ppt/slides/slide6.xml" Id="Rb7a12a92d7e54c7f" /><Relationship Type="http://schemas.openxmlformats.org/officeDocument/2006/relationships/slide" Target="/ppt/slides/slide7.xml" Id="R8e1f5e0d440e4ce8" /><Relationship Type="http://schemas.openxmlformats.org/officeDocument/2006/relationships/slide" Target="/ppt/slides/slide8.xml" Id="Rca79cbacf68c4375" /><Relationship Type="http://schemas.openxmlformats.org/officeDocument/2006/relationships/slide" Target="/ppt/slides/slide9.xml" Id="R24045ec4082c4302" /><Relationship Type="http://schemas.openxmlformats.org/officeDocument/2006/relationships/slide" Target="/ppt/slides/slide10.xml" Id="R3291dde392c943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58f3ea08724a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9b999992164a02" /><Relationship Type="http://schemas.openxmlformats.org/officeDocument/2006/relationships/notesMaster" Target="/ppt/notesMasters/notesMaster1.xml" Id="Rd888bc97168843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e5a161fc344424" /><Relationship Type="http://schemas.openxmlformats.org/officeDocument/2006/relationships/notesMaster" Target="/ppt/notesMasters/notesMaster1.xml" Id="R6e9f1941076e4a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b0468cd1cb46ee" /><Relationship Type="http://schemas.openxmlformats.org/officeDocument/2006/relationships/notesMaster" Target="/ppt/notesMasters/notesMaster1.xml" Id="R119102a725de4f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e85f0e9ea44dfa" /><Relationship Type="http://schemas.openxmlformats.org/officeDocument/2006/relationships/notesMaster" Target="/ppt/notesMasters/notesMaster1.xml" Id="R3a0fdd136f214f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13998bd480488f" /><Relationship Type="http://schemas.openxmlformats.org/officeDocument/2006/relationships/notesMaster" Target="/ppt/notesMasters/notesMaster1.xml" Id="R831457b143644e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a3a204e39144ba" /><Relationship Type="http://schemas.openxmlformats.org/officeDocument/2006/relationships/notesMaster" Target="/ppt/notesMasters/notesMaster1.xml" Id="Rd285847d7eac41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b6d603b7d84f29" /><Relationship Type="http://schemas.openxmlformats.org/officeDocument/2006/relationships/notesMaster" Target="/ppt/notesMasters/notesMaster1.xml" Id="R7e9c8c3f60994d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737ac3da494dec" /><Relationship Type="http://schemas.openxmlformats.org/officeDocument/2006/relationships/notesMaster" Target="/ppt/notesMasters/notesMaster1.xml" Id="R6d7073de55144b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e63290031845f7" /><Relationship Type="http://schemas.openxmlformats.org/officeDocument/2006/relationships/notesMaster" Target="/ppt/notesMasters/notesMaster1.xml" Id="R58d0ae08326f42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031aba0bd74cb4" /><Relationship Type="http://schemas.openxmlformats.org/officeDocument/2006/relationships/notesMaster" Target="/ppt/notesMasters/notesMaster1.xml" Id="Rb7b098ed6f164e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thưa quý thầy cô, em là Nguyễn Vinh Quang. Đề tài của em là website quản lý và bán vé sự kiện trực tuyến WuangEvents.</a:t>
            </a:r>
          </a:p>
          <a:p xmlns:a="http://schemas.openxmlformats.org/drawingml/2006/main">
            <a:r>
              <a:t/>
            </a:r>
          </a:p>
          <a:p xmlns:a="http://schemas.openxmlformats.org/drawingml/2006/main">
            <a:r>
              <a:t>[Sources]</a:t>
            </a:r>
          </a:p>
          <a:p xmlns:a="http://schemas.openxmlformats.org/drawingml/2006/main">
            <a:r>
              <a:t>- C:/Users/Wuang/Desktop/NguyenVinhQuang_DH52201310.docx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chính không chỉ là bán vé, mà là liên kết toàn bộ quá trình từ tạo sự kiện đến tham dự trong cùng một hệ thống.</a:t>
            </a:r>
          </a:p>
          <a:p xmlns:a="http://schemas.openxmlformats.org/drawingml/2006/main">
            <a:r>
              <a:t/>
            </a:r>
          </a:p>
          <a:p xmlns:a="http://schemas.openxmlformats.org/drawingml/2006/main">
            <a:r>
              <a:t>[Sources]</a:t>
            </a:r>
          </a:p>
          <a:p xmlns:a="http://schemas.openxmlformats.org/drawingml/2006/main">
            <a:r>
              <a:t>- C:/Users/Wuang/Desktop/NguyenVinhQuang_DH52201310.docx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thực hiện lần lượt phân tích, thiết kế, lập trình và kiểm thử. Phạm vi tập trung vào website responsive và các cổng thanh toán ở môi trường thử nghiệm.</a:t>
            </a:r>
          </a:p>
          <a:p xmlns:a="http://schemas.openxmlformats.org/drawingml/2006/main">
            <a:r>
              <a:t/>
            </a:r>
          </a:p>
          <a:p xmlns:a="http://schemas.openxmlformats.org/drawingml/2006/main">
            <a:r>
              <a:t>[Sources]</a:t>
            </a:r>
          </a:p>
          <a:p xmlns:a="http://schemas.openxmlformats.org/drawingml/2006/main">
            <a:r>
              <a:t>- C:/Users/Wuang/Desktop/NguyenVinhQuang_DH52201310.docx</a:t>
            </a:r>
          </a:p>
          <a:p xmlns:a="http://schemas.openxmlformats.org/drawingml/2006/main">
            <a:r>
              <a:t>- C:/Users/Wuang/Desktop/Vibe/QuanLySuKienWuangEvents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Thách thức lớn nhất là nhiều người cùng mua một ghế hoặc số vé cuối cùng. Hệ thống khóa đúng bản ghi trong giao dịch nên chỉ một yêu cầu hợp lệ được chấp nhận.</a:t>
            </a:r>
          </a:p>
          <a:p xmlns:a="http://schemas.openxmlformats.org/drawingml/2006/main">
            <a:r>
              <a:t/>
            </a:r>
          </a:p>
          <a:p xmlns:a="http://schemas.openxmlformats.org/drawingml/2006/main">
            <a:r>
              <a:t>[Sources]</a:t>
            </a:r>
          </a:p>
          <a:p xmlns:a="http://schemas.openxmlformats.org/drawingml/2006/main">
            <a:r>
              <a:t>- C:/Users/Wuang/Desktop/Vibe/QuanLySuKienWuangEvents/Controllers/BookingController.cs</a:t>
            </a:r>
          </a:p>
          <a:p xmlns:a="http://schemas.openxmlformats.org/drawingml/2006/main">
            <a:r>
              <a:t>- C:/Users/Wuang/Desktop/Vibe/QuanLySuKienWuangEvents/Database_WuangEvents.sql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bên trái là ERD mức ý niệm. Từ nghiệp vụ, em xây dựng cơ sở dữ liệu quan hệ gồm 13 bảng và dùng khóa ngoại để giữ tính nhất quán.</a:t>
            </a:r>
          </a:p>
          <a:p xmlns:a="http://schemas.openxmlformats.org/drawingml/2006/main">
            <a:r>
              <a:t/>
            </a:r>
          </a:p>
          <a:p xmlns:a="http://schemas.openxmlformats.org/drawingml/2006/main">
            <a:r>
              <a:t>[Sources]</a:t>
            </a:r>
          </a:p>
          <a:p xmlns:a="http://schemas.openxmlformats.org/drawingml/2006/main">
            <a:r>
              <a:t>- C:/Users/Wuang/Desktop/Vibe/work_tmp/thesis_slide_build_20260810/report-media/image14.png</a:t>
            </a:r>
          </a:p>
          <a:p xmlns:a="http://schemas.openxmlformats.org/drawingml/2006/main">
            <a:r>
              <a:t>- C:/Users/Wuang/Desktop/Vibe/QuanLySuKienWuangEvents/Database_WuangEvents.sql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bốn màn hình đại diện: khách tìm sự kiện, đặt vé và thanh toán; ban tổ chức vận hành; nhân viên thực hiện check-in.</a:t>
            </a:r>
          </a:p>
          <a:p xmlns:a="http://schemas.openxmlformats.org/drawingml/2006/main">
            <a:r>
              <a:t/>
            </a:r>
          </a:p>
          <a:p xmlns:a="http://schemas.openxmlformats.org/drawingml/2006/main">
            <a:r>
              <a:t>[Sources]</a:t>
            </a:r>
          </a:p>
          <a:p xmlns:a="http://schemas.openxmlformats.org/drawingml/2006/main">
            <a:r>
              <a:t>- C:/Users/Wuang/Desktop/Vibe/work_tmp/thesis_slide_build_20260810/report-media/image68.jpg</a:t>
            </a:r>
          </a:p>
          <a:p xmlns:a="http://schemas.openxmlformats.org/drawingml/2006/main">
            <a:r>
              <a:t>- C:/Users/Wuang/Desktop/Vibe/work_tmp/thesis_slide_build_20260810/report-media/image74.png</a:t>
            </a:r>
          </a:p>
          <a:p xmlns:a="http://schemas.openxmlformats.org/drawingml/2006/main">
            <a:r>
              <a:t>- C:/Users/Wuang/Desktop/Vibe/work_tmp/thesis_slide_build_20260810/report-media/image79.jpg</a:t>
            </a:r>
          </a:p>
          <a:p xmlns:a="http://schemas.openxmlformats.org/drawingml/2006/main">
            <a:r>
              <a:t>- C:/Users/Wuang/Desktop/Vibe/work_tmp/thesis_slide_build_20260810/report-media/image90.png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chỉ liệt kê chức năng. Khi demo em sẽ đi theo một luồng xuyên suốt thay vì mở từng chức năng rời rạc.</a:t>
            </a:r>
          </a:p>
          <a:p xmlns:a="http://schemas.openxmlformats.org/drawingml/2006/main">
            <a:r>
              <a:t/>
            </a:r>
          </a:p>
          <a:p xmlns:a="http://schemas.openxmlformats.org/drawingml/2006/main">
            <a:r>
              <a:t>[Sources]</a:t>
            </a:r>
          </a:p>
          <a:p xmlns:a="http://schemas.openxmlformats.org/drawingml/2006/main">
            <a:r>
              <a:t>- C:/Users/Wuang/Desktop/NguyenVinhQuang_DH52201310.docx</a:t>
            </a:r>
          </a:p>
          <a:p xmlns:a="http://schemas.openxmlformats.org/drawingml/2006/main">
            <a:r>
              <a:t>- C:/Users/Wuang/Desktop/Vibe/QuanLySuKienWuangEvents/Controllers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đạt được là một hệ thống chạy xuyên suốt cho bốn vai trò. Các cổng thanh toán đang dùng môi trường sandbox nên không phát sinh tiền thật.</a:t>
            </a:r>
          </a:p>
          <a:p xmlns:a="http://schemas.openxmlformats.org/drawingml/2006/main">
            <a:r>
              <a:t/>
            </a:r>
          </a:p>
          <a:p xmlns:a="http://schemas.openxmlformats.org/drawingml/2006/main">
            <a:r>
              <a:t>[Sources]</a:t>
            </a:r>
          </a:p>
          <a:p xmlns:a="http://schemas.openxmlformats.org/drawingml/2006/main">
            <a:r>
              <a:t>- C:/Users/Wuang/Desktop/NguyenVinhQuang_DH52201310.docx</a:t>
            </a:r>
          </a:p>
          <a:p xmlns:a="http://schemas.openxmlformats.org/drawingml/2006/main">
            <a:r>
              <a:t>- C:/Users/Wuang/Desktop/Vibe/QuanLySuKienWuangEvents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mục tiêu chức năng chính đều đã đạt. Hạn chế lớn nhất là chưa có kiểm thử tải production và các cổng thanh toán còn ở sandbox.</a:t>
            </a:r>
          </a:p>
          <a:p xmlns:a="http://schemas.openxmlformats.org/drawingml/2006/main">
            <a:r>
              <a:t/>
            </a:r>
          </a:p>
          <a:p xmlns:a="http://schemas.openxmlformats.org/drawingml/2006/main">
            <a:r>
              <a:t>[Sources]</a:t>
            </a:r>
          </a:p>
          <a:p xmlns:a="http://schemas.openxmlformats.org/drawingml/2006/main">
            <a:r>
              <a:t>- C:/Users/Wuang/Desktop/NguyenVinhQuang_DH52201310.docx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xin cảm ơn quý thầy cô. Sau đây em xin chuyển sang phần demo hệ thống.</a:t>
            </a:r>
          </a:p>
          <a:p xmlns:a="http://schemas.openxmlformats.org/drawingml/2006/main">
            <a:r>
              <a:t/>
            </a:r>
          </a:p>
          <a:p xmlns:a="http://schemas.openxmlformats.org/drawingml/2006/main">
            <a:r>
              <a:t>[Sources]</a:t>
            </a:r>
          </a:p>
          <a:p xmlns:a="http://schemas.openxmlformats.org/drawingml/2006/main">
            <a:r>
              <a:t>- C:/Users/Wuang/Desktop/NguyenVinhQuang_DH52201310.docx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83477fdd4742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5cb280afbf41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ee697117f549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ec9e95d2a045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d55b903e2446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0d7eac40c642d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a76a90080a349b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b21a1b472594f8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bce3c4eaef044c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e74e0b5bb8e47e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641be11b6a3448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0E24F3-4DE3-4007-BE80-419DF7700D73}"/>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42D0BA5-FD7E-443C-A79D-B4933ABB721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87BFA61F-8CB9-4383-8C6C-E4A9D605B9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DC4A0373-F844-4FCE-91A1-60AB4B49372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8DF1092-99C9-424D-8B17-38249B3663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DEF1BAC-689F-45D3-A373-9EE2277AA5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0EA7D80-3AFF-408A-8E18-3EBFDFBC1D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455B263-504F-49A6-86F1-378DE64B6C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7E5F5E7-1095-4C59-BE5B-EBB9FA6262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4035609-FD2A-40D5-A3F9-67F64C446C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E52BC-5A58-4210-83BA-C4B8B366818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18D6E65-DE01-4067-9F16-8A81C0EC8C53}"/>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0841CA5-C462-407F-ABB2-F9F332963F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A30565D-04D0-45B9-9F2B-F70DF6D1E2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068E1CC-FF77-4435-957B-CC97911419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94B7A9-D793-4524-BA42-4A0B98CD6C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648D4C8-D6C1-4AA6-8115-6452FB647C8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311C6B4-E4AF-4ADB-AB65-C359613459E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C026DB69-4AE4-4853-9F73-0E4C4EBE275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A90CE485-DA1F-4AB0-939F-31D3A6012E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6DE6E8F-2168-4A41-B5D7-58F42608701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E9EEB-09DC-4616-B4C1-0A38A61BD8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12523F9-D27B-4A98-A16D-7CBE12C14881}"/>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C99921B-2429-483D-A1AA-4DCCA5F17EB8}"/>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3C9EAC7-088B-458F-B743-42157B949415}"/>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1AE045F-71AE-4AD1-AE95-B275BA51A0CD}"/>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EBFA1E6-E26D-4A5F-8B59-46B3D89677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232FD083-82E3-4632-94F9-245DBC2782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97CD0A8-F201-4916-B189-BBC7F14984E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550DD5-3906-49BB-8089-6CF65899703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A668F163-09E8-4C82-820F-9EABAC144C9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90A84F59-EC35-4153-8D46-EAF022A17F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F0343FB-7EAC-458F-888B-B3507950C4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BDD5C0C2-4B71-49D0-8120-6C4436C501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75E08065-BD01-41F7-97E5-D19C482B1B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6222EDB-A27A-4957-BC13-834A6DB5CB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E203CE-B6D3-4E6E-B602-7446CBB6F2F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A7E4CE1-D319-4BB1-B433-5F50ED1E05F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429E331A-2CE8-4505-98C2-DC0E52A7B004}"/>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1C5921A-85CC-4F42-A6B9-AD37182550C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ABF5BE6C-B4D1-48BD-A06E-F2111606FA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E53AE2-4D05-43B2-9924-B51AF5F6A3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D79B45-D6F5-4C97-BC5F-C3949D3ED999}"/>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50EFBF0-1FC0-4391-A80D-2C7D9B63B4B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0A8773DA-18F5-4BDB-BC22-D9D8565ACDF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11AF35C-8CA7-4D34-8243-F9A095A8BE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E6819B31-C017-45B5-BAAB-E08F248A91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9D50409-7F60-4EFF-8FF3-60FD1FD9E2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580810-28E5-4C6C-8F11-B47D26EB62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8D49B62-4AAD-4268-A99C-510C7D070DB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B3A9B3A-8482-48BE-9D77-F548734E56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D815C2F6-1601-4B5C-BDA2-9DA9C3412C8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520B874-F2A4-48F5-9659-67E7112752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2E6BBF7-33C9-4F33-8532-BA1251E6AC9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CC39D96E-5F74-4D40-9E67-76D2C28A1ED5}"/>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BC1CB92-0E9A-45D7-A874-C106334EB6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C3BB0DD-A5B6-4791-8E0A-5FEDC9A121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474D8E5-763A-4997-9E83-2743C69247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74bcb8d09a4d72" /><Relationship Type="http://schemas.openxmlformats.org/officeDocument/2006/relationships/slideLayout" Target="/ppt/slideLayouts/slideLayout1.xml" Id="Rf2780edbe5c347ec" /><Relationship Type="http://schemas.openxmlformats.org/officeDocument/2006/relationships/slideLayout" Target="/ppt/slideLayouts/slideLayout2.xml" Id="Rc9d70ac89184403d" /><Relationship Type="http://schemas.openxmlformats.org/officeDocument/2006/relationships/slideLayout" Target="/ppt/slideLayouts/slideLayout3.xml" Id="R129b93dbdb624489" /><Relationship Type="http://schemas.openxmlformats.org/officeDocument/2006/relationships/slideLayout" Target="/ppt/slideLayouts/slideLayout4.xml" Id="R33a0dbf1461c471c" /><Relationship Type="http://schemas.openxmlformats.org/officeDocument/2006/relationships/slideLayout" Target="/ppt/slideLayouts/slideLayout5.xml" Id="R0f2a2b9da3974e6f" /><Relationship Type="http://schemas.openxmlformats.org/officeDocument/2006/relationships/slideLayout" Target="/ppt/slideLayouts/slideLayout6.xml" Id="R8cf7cf68008047ac" /><Relationship Type="http://schemas.openxmlformats.org/officeDocument/2006/relationships/slideLayout" Target="/ppt/slideLayouts/slideLayout7.xml" Id="Rd179a1be33f74d1f" /><Relationship Type="http://schemas.openxmlformats.org/officeDocument/2006/relationships/slideLayout" Target="/ppt/slideLayouts/slideLayout8.xml" Id="R8d7f1373c1a84ee0" /><Relationship Type="http://schemas.openxmlformats.org/officeDocument/2006/relationships/slideLayout" Target="/ppt/slideLayouts/slideLayout9.xml" Id="R331b86685e1f4a19" /><Relationship Type="http://schemas.openxmlformats.org/officeDocument/2006/relationships/slideLayout" Target="/ppt/slideLayouts/slideLayout10.xml" Id="Rc49ab7b6a4924dcc" /><Relationship Type="http://schemas.openxmlformats.org/officeDocument/2006/relationships/slideLayout" Target="/ppt/slideLayouts/slideLayout11.xml" Id="R74c2aa3f5d35405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3DD14E5-534C-4623-9803-0E352E2FDCD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9E5D815-5166-4F69-875E-3849A8D6577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3DBAE0A-A788-4F41-AA9E-4710682741F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520FC544-562A-4DC4-989E-B76E345956B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16173D3-470E-499D-9B61-81C0A734F29F}"/>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780edbe5c347ec"/>
    <p:sldLayoutId xmlns:r="http://schemas.openxmlformats.org/officeDocument/2006/relationships" id="2147483650" r:id="Rc9d70ac89184403d"/>
    <p:sldLayoutId xmlns:r="http://schemas.openxmlformats.org/officeDocument/2006/relationships" id="2147483651" r:id="R129b93dbdb624489"/>
    <p:sldLayoutId xmlns:r="http://schemas.openxmlformats.org/officeDocument/2006/relationships" id="2147483652" r:id="R33a0dbf1461c471c"/>
    <p:sldLayoutId xmlns:r="http://schemas.openxmlformats.org/officeDocument/2006/relationships" id="2147483653" r:id="R0f2a2b9da3974e6f"/>
    <p:sldLayoutId xmlns:r="http://schemas.openxmlformats.org/officeDocument/2006/relationships" id="2147483654" r:id="R8cf7cf68008047ac"/>
    <p:sldLayoutId xmlns:r="http://schemas.openxmlformats.org/officeDocument/2006/relationships" id="2147483655" r:id="Rd179a1be33f74d1f"/>
    <p:sldLayoutId xmlns:r="http://schemas.openxmlformats.org/officeDocument/2006/relationships" id="2147483656" r:id="R8d7f1373c1a84ee0"/>
    <p:sldLayoutId xmlns:r="http://schemas.openxmlformats.org/officeDocument/2006/relationships" id="2147483657" r:id="R331b86685e1f4a19"/>
    <p:sldLayoutId xmlns:r="http://schemas.openxmlformats.org/officeDocument/2006/relationships" id="2147483658" r:id="Rc49ab7b6a4924dcc"/>
    <p:sldLayoutId xmlns:r="http://schemas.openxmlformats.org/officeDocument/2006/relationships" id="2147483659" r:id="R74c2aa3f5d354050"/>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e2c386d7b2234885" /><Relationship Type="http://schemas.openxmlformats.org/officeDocument/2006/relationships/notesSlide" Target="/ppt/notesSlides/notesSlide1.xml" Id="R74ba337d198247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bc5d55840d7e423f" /><Relationship Type="http://schemas.openxmlformats.org/officeDocument/2006/relationships/notesSlide" Target="/ppt/notesSlides/notesSlide2.xml" Id="R8aa6827a477d48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ea4de2ff6cfe451a" /><Relationship Type="http://schemas.openxmlformats.org/officeDocument/2006/relationships/notesSlide" Target="/ppt/notesSlides/notesSlide3.xml" Id="R84f47d412e4d49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4e25047efdc4b78" /><Relationship Type="http://schemas.openxmlformats.org/officeDocument/2006/relationships/notesSlide" Target="/ppt/notesSlides/notesSlide4.xml" Id="R127bd61e867c41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9974bd549c524c4c" /><Relationship Type="http://schemas.openxmlformats.org/officeDocument/2006/relationships/image" Target="/ppt/media/image.png" Id="R5e750c6324674263" /><Relationship Type="http://schemas.openxmlformats.org/officeDocument/2006/relationships/notesSlide" Target="/ppt/notesSlides/notesSlide5.xml" Id="R5713cb20a5994b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58b53448a65c4ce7" /><Relationship Type="http://schemas.openxmlformats.org/officeDocument/2006/relationships/image" Target="/ppt/media/image.jpeg" Id="R9d18f27065e44527" /><Relationship Type="http://schemas.openxmlformats.org/officeDocument/2006/relationships/image" Target="/ppt/media/image2.png" Id="R11879c518ee647e4" /><Relationship Type="http://schemas.openxmlformats.org/officeDocument/2006/relationships/image" Target="/ppt/media/image2.jpeg" Id="R9575f9be98ff4d5c" /><Relationship Type="http://schemas.openxmlformats.org/officeDocument/2006/relationships/image" Target="/ppt/media/image3.png" Id="Rac867f3a530e4c36" /><Relationship Type="http://schemas.openxmlformats.org/officeDocument/2006/relationships/notesSlide" Target="/ppt/notesSlides/notesSlide6.xml" Id="Re839d45cb3cf46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a8b6ec8e7f2a48a2" /><Relationship Type="http://schemas.openxmlformats.org/officeDocument/2006/relationships/notesSlide" Target="/ppt/notesSlides/notesSlide7.xml" Id="R39ea7466557344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1b2de687317241a9" /><Relationship Type="http://schemas.openxmlformats.org/officeDocument/2006/relationships/image" Target="/ppt/media/image3.jpeg" Id="R7c5c562c82d84036" /><Relationship Type="http://schemas.openxmlformats.org/officeDocument/2006/relationships/notesSlide" Target="/ppt/notesSlides/notesSlide8.xml" Id="Rac8c4e58523d4d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5a07f01353494cfa" /><Relationship Type="http://schemas.openxmlformats.org/officeDocument/2006/relationships/image" Target="/ppt/media/image4.jpeg" Id="R30a37da9fadf4870" /><Relationship Type="http://schemas.openxmlformats.org/officeDocument/2006/relationships/image" Target="/ppt/media/image.svg" Id="R85e8d0a675cc426d" /><Relationship Type="http://schemas.openxmlformats.org/officeDocument/2006/relationships/notesSlide" Target="/ppt/notesSlides/notesSlide9.xml" Id="R12b148d594d747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6362634049574d1b" /><Relationship Type="http://schemas.openxmlformats.org/officeDocument/2006/relationships/notesSlide" Target="/ppt/notesSlides/notesSlide10.xml" Id="Rc5521701db80470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A61ED242-F86D-44E7-8EC5-AE1AB6C0CBCF}"/>
              </a:ext>
            </a:extLst>
          </p:cNvPr>
          <p:cNvSpPr>
            <a:spLocks xmlns:a="http://schemas.openxmlformats.org/drawingml/2006/main" noGrp="1"/>
          </p:cNvSpPr>
          <p:nvPr/>
        </p:nvSpPr>
        <p:spPr>
          <a:xfrm xmlns:a="http://schemas.openxmlformats.org/drawingml/2006/main">
            <a:off x="731520" y="731520"/>
            <a:ext cx="10515600" cy="5303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b="1">
                <a:solidFill>
                  <a:srgbClr val="2563EB"/>
                </a:solidFill>
                <a:latin typeface="Segoe UI"/>
                <a:ea typeface="Segoe UI"/>
                <a:cs typeface="Segoe UI"/>
              </a:rPr>
              <a:t>TRƯỜNG ĐẠI HỌC CÔNG NGHỆ SÀI GÒN (STU)</a:t>
            </a:r>
          </a:p>
          <a:p xmlns:a="http://schemas.openxmlformats.org/drawingml/2006/main">
            <a:r>
              <a:rPr sz="1400" b="1">
                <a:solidFill>
                  <a:srgbClr val="64748B"/>
                </a:solidFill>
                <a:latin typeface="Segoe UI"/>
                <a:ea typeface="Segoe UI"/>
                <a:cs typeface="Segoe UI"/>
              </a:rPr>
              <a:t>KHOA CÔNG NGHỆ THÔNG TIN</a:t>
            </a:r>
          </a:p>
          <a:p xmlns:a="http://schemas.openxmlformats.org/drawingml/2006/main">
            <a:r>
              <a:rPr sz="2000" b="1">
                <a:solidFill>
                  <a:srgbClr val="0F172A"/>
                </a:solidFill>
                <a:latin typeface="Segoe UI"/>
                <a:ea typeface="Segoe UI"/>
                <a:cs typeface="Segoe UI"/>
              </a:rPr>
              <a:t>BÁO CÁO LUẬN VĂN TỐT NGHIỆP</a:t>
            </a:r>
          </a:p>
          <a:p xmlns:a="http://schemas.openxmlformats.org/drawingml/2006/main">
            <a:r>
              <a:rPr sz="2400" b="1">
                <a:solidFill>
                  <a:srgbClr val="2563EB"/>
                </a:solidFill>
                <a:latin typeface="Segoe UI"/>
                <a:ea typeface="Segoe UI"/>
                <a:cs typeface="Segoe UI"/>
              </a:rPr>
              <a:t>XÂY DỰNG WEBSITE QUẢN LÝ VÀ BÁN VÉ SỰ KIỆN TRỰC TUYẾN WUANGEVENTS</a:t>
            </a:r>
          </a:p>
          <a:p xmlns:a="http://schemas.openxmlformats.org/drawingml/2006/main">
            <a:r>
              <a:rPr sz="1500" b="1">
                <a:solidFill>
                  <a:srgbClr val="1F2937"/>
                </a:solidFill>
                <a:latin typeface="Segoe UI"/>
                <a:ea typeface="Segoe UI"/>
                <a:cs typeface="Segoe UI"/>
              </a:rPr>
              <a:t>Sinh viên thực hiện: Nguyễn Vinh Quang</a:t>
            </a:r>
          </a:p>
          <a:p xmlns:a="http://schemas.openxmlformats.org/drawingml/2006/main">
            <a:r>
              <a:rPr sz="1500">
                <a:solidFill>
                  <a:srgbClr val="1F2937"/>
                </a:solidFill>
                <a:latin typeface="Segoe UI"/>
                <a:ea typeface="Segoe UI"/>
                <a:cs typeface="Segoe UI"/>
              </a:rPr>
              <a:t>MSSV: DH52201310    |    Lớp: D22_TH08</a:t>
            </a:r>
          </a:p>
          <a:p xmlns:a="http://schemas.openxmlformats.org/drawingml/2006/main">
            <a:r>
              <a:rPr sz="1500">
                <a:solidFill>
                  <a:srgbClr val="1F2937"/>
                </a:solidFill>
                <a:latin typeface="Segoe UI"/>
                <a:ea typeface="Segoe UI"/>
                <a:cs typeface="Segoe UI"/>
              </a:rPr>
              <a:t>Giảng viên hướng dẫn: ThS. Nguyễn Thanh Tùng</a:t>
            </a:r>
          </a:p>
        </p:txBody>
      </p:sp>
    </p:spTree>
    <p:extLst>
      <p:ext uri="{BB962C8B-B14F-4D97-AF65-F5344CB8AC3E}">
        <p14:creationId xmlns:p14="http://schemas.microsoft.com/office/powerpoint/2010/main" val="58242697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E92BE48F-920A-4E03-B268-A75C6601F6E8}"/>
              </a:ext>
            </a:extLst>
          </p:cNvPr>
          <p:cNvSpPr>
            <a:spLocks xmlns:a="http://schemas.openxmlformats.org/drawingml/2006/main" noGrp="1"/>
          </p:cNvSpPr>
          <p:nvPr/>
        </p:nvSpPr>
        <p:spPr>
          <a:xfrm xmlns:a="http://schemas.openxmlformats.org/drawingml/2006/main">
            <a:off x="731520" y="457200"/>
            <a:ext cx="10515600" cy="1005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600" b="1">
                <a:solidFill>
                  <a:srgbClr val="0F172A"/>
                </a:solidFill>
                <a:latin typeface="Segoe UI"/>
                <a:ea typeface="Segoe UI"/>
                <a:cs typeface="Segoe UI"/>
              </a:rPr>
              <a:t>1. MỤC TIÊU ĐỀ TÀI</a:t>
            </a:r>
          </a:p>
          <a:p xmlns:a="http://schemas.openxmlformats.org/drawingml/2006/main">
            <a:r>
              <a:rPr sz="1400">
                <a:solidFill>
                  <a:srgbClr val="64748B"/>
                </a:solidFill>
                <a:latin typeface="Segoe UI"/>
                <a:ea typeface="Segoe UI"/>
                <a:cs typeface="Segoe UI"/>
              </a:rPr>
              <a:t>Xây dựng một quy trình sự kiện thống nhất cho bốn vai trò người dùng</a:t>
            </a:r>
          </a:p>
        </p:txBody>
      </p:sp>
      <p:sp>
        <p:nvSpPr>
          <p:cNvPr id="6" name="TextBox 5">
            <a:extLst xmlns:a="http://schemas.openxmlformats.org/drawingml/2006/main">
              <a:ext uri="{FF2B5EF4-FFF2-40B4-BE49-F238E27FC236}">
                <a16:creationId xmlns:a16="http://schemas.microsoft.com/office/drawing/2014/main" id="{4B8DD2B2-476C-4CE7-97AA-447F65121A4B}"/>
              </a:ext>
            </a:extLst>
          </p:cNvPr>
          <p:cNvSpPr>
            <a:spLocks xmlns:a="http://schemas.openxmlformats.org/drawingml/2006/main" noGrp="1"/>
          </p:cNvSpPr>
          <p:nvPr/>
        </p:nvSpPr>
        <p:spPr>
          <a:xfrm xmlns:a="http://schemas.openxmlformats.org/drawingml/2006/main">
            <a:off x="731520" y="1645920"/>
            <a:ext cx="10515600" cy="4389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spcAft>
                <a:spcPts val="10"/>
              </a:spcAft>
              <a:buChar char="•"/>
            </a:pPr>
            <a:r>
              <a:rPr sz="1600" b="1">
                <a:solidFill>
                  <a:srgbClr val="0F172A"/>
                </a:solidFill>
                <a:latin typeface="Segoe UI"/>
                <a:ea typeface="Segoe UI"/>
                <a:cs typeface="Segoe UI"/>
              </a:rPr>
              <a:t>Khách hàng: </a:t>
            </a:r>
            <a:r>
              <a:rPr sz="1500">
                <a:solidFill>
                  <a:srgbClr val="1F2937"/>
                </a:solidFill>
                <a:latin typeface="Segoe UI"/>
                <a:ea typeface="Segoe UI"/>
                <a:cs typeface="Segoe UI"/>
              </a:rPr>
              <a:t>tìm sự kiện, chọn vé hoặc ghế, thanh toán và nhận quyền tham dự.</a:t>
            </a:r>
          </a:p>
          <a:p xmlns:a="http://schemas.openxmlformats.org/drawingml/2006/main">
            <a:pPr marL="0" indent="0">
              <a:spcAft>
                <a:spcPts val="10"/>
              </a:spcAft>
              <a:buChar char="•"/>
            </a:pPr>
            <a:r>
              <a:rPr sz="1600" b="1">
                <a:solidFill>
                  <a:srgbClr val="0F172A"/>
                </a:solidFill>
                <a:latin typeface="Segoe UI"/>
                <a:ea typeface="Segoe UI"/>
                <a:cs typeface="Segoe UI"/>
              </a:rPr>
              <a:t>Ban tổ chức: </a:t>
            </a:r>
            <a:r>
              <a:rPr sz="1500">
                <a:solidFill>
                  <a:srgbClr val="1F2937"/>
                </a:solidFill>
                <a:latin typeface="Segoe UI"/>
                <a:ea typeface="Segoe UI"/>
                <a:cs typeface="Segoe UI"/>
              </a:rPr>
              <a:t>quản lý vòng đời sự kiện, vé, sơ đồ ghế, mã giảm giá, đơn hàng và doanh thu.</a:t>
            </a:r>
          </a:p>
          <a:p xmlns:a="http://schemas.openxmlformats.org/drawingml/2006/main">
            <a:pPr marL="0" indent="0">
              <a:spcAft>
                <a:spcPts val="10"/>
              </a:spcAft>
              <a:buChar char="•"/>
            </a:pPr>
            <a:r>
              <a:rPr sz="1600" b="1">
                <a:solidFill>
                  <a:srgbClr val="0F172A"/>
                </a:solidFill>
                <a:latin typeface="Segoe UI"/>
                <a:ea typeface="Segoe UI"/>
                <a:cs typeface="Segoe UI"/>
              </a:rPr>
              <a:t>Nhân viên: </a:t>
            </a:r>
            <a:r>
              <a:rPr sz="1500">
                <a:solidFill>
                  <a:srgbClr val="1F2937"/>
                </a:solidFill>
                <a:latin typeface="Segoe UI"/>
                <a:ea typeface="Segoe UI"/>
                <a:cs typeface="Segoe UI"/>
              </a:rPr>
              <a:t>soát vé QR hoặc mã vé, phát hiện vé sai và ngăn check-in trùng.</a:t>
            </a:r>
          </a:p>
          <a:p xmlns:a="http://schemas.openxmlformats.org/drawingml/2006/main">
            <a:pPr marL="0" indent="0">
              <a:spcAft>
                <a:spcPts val="10"/>
              </a:spcAft>
              <a:buChar char="•"/>
            </a:pPr>
            <a:r>
              <a:rPr sz="1600" b="1">
                <a:solidFill>
                  <a:srgbClr val="0F172A"/>
                </a:solidFill>
                <a:latin typeface="Segoe UI"/>
                <a:ea typeface="Segoe UI"/>
                <a:cs typeface="Segoe UI"/>
              </a:rPr>
              <a:t>Quản trị viên: </a:t>
            </a:r>
            <a:r>
              <a:rPr sz="1500">
                <a:solidFill>
                  <a:srgbClr val="1F2937"/>
                </a:solidFill>
                <a:latin typeface="Segoe UI"/>
                <a:ea typeface="Segoe UI"/>
                <a:cs typeface="Segoe UI"/>
              </a:rPr>
              <a:t>duyệt hồ sơ ban tổ chức, sự kiện và giám sát dữ liệu toàn hệ thống.</a:t>
            </a:r>
          </a:p>
        </p:txBody>
      </p:sp>
    </p:spTree>
    <p:extLst>
      <p:ext uri="{BB962C8B-B14F-4D97-AF65-F5344CB8AC3E}">
        <p14:creationId xmlns:p14="http://schemas.microsoft.com/office/powerpoint/2010/main" val="84527670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FA3D66CA-F38F-447F-81A8-50193ECE75CE}"/>
              </a:ext>
            </a:extLst>
          </p:cNvPr>
          <p:cNvSpPr>
            <a:spLocks xmlns:a="http://schemas.openxmlformats.org/drawingml/2006/main" noGrp="1"/>
          </p:cNvSpPr>
          <p:nvPr/>
        </p:nvSpPr>
        <p:spPr>
          <a:xfrm xmlns:a="http://schemas.openxmlformats.org/drawingml/2006/main">
            <a:off x="731520" y="457200"/>
            <a:ext cx="10515600" cy="1005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600" b="1">
                <a:solidFill>
                  <a:srgbClr val="0F172A"/>
                </a:solidFill>
                <a:latin typeface="Segoe UI"/>
                <a:ea typeface="Segoe UI"/>
                <a:cs typeface="Segoe UI"/>
              </a:rPr>
              <a:t>2. NỘI DUNG THỰC HIỆN</a:t>
            </a:r>
          </a:p>
          <a:p xmlns:a="http://schemas.openxmlformats.org/drawingml/2006/main">
            <a:r>
              <a:rPr sz="1400">
                <a:solidFill>
                  <a:srgbClr val="64748B"/>
                </a:solidFill>
                <a:latin typeface="Segoe UI"/>
                <a:ea typeface="Segoe UI"/>
                <a:cs typeface="Segoe UI"/>
              </a:rPr>
              <a:t>Từ khảo sát nghiệp vụ đến xây dựng, kiểm thử và chuẩn bị dữ liệu demo</a:t>
            </a:r>
          </a:p>
        </p:txBody>
      </p:sp>
      <p:sp>
        <p:nvSpPr>
          <p:cNvPr id="5" name="TextBox 4">
            <a:extLst xmlns:a="http://schemas.openxmlformats.org/drawingml/2006/main">
              <a:ext uri="{FF2B5EF4-FFF2-40B4-BE49-F238E27FC236}">
                <a16:creationId xmlns:a16="http://schemas.microsoft.com/office/drawing/2014/main" id="{F8344ABF-6E05-4801-A56E-0DAC90AE3C72}"/>
              </a:ext>
            </a:extLst>
          </p:cNvPr>
          <p:cNvSpPr>
            <a:spLocks xmlns:a="http://schemas.openxmlformats.org/drawingml/2006/main" noGrp="1"/>
          </p:cNvSpPr>
          <p:nvPr/>
        </p:nvSpPr>
        <p:spPr>
          <a:xfrm xmlns:a="http://schemas.openxmlformats.org/drawingml/2006/main">
            <a:off x="731520" y="1645920"/>
            <a:ext cx="10515600" cy="4389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spcAft>
                <a:spcPts val="10"/>
              </a:spcAft>
              <a:buChar char="•"/>
            </a:pPr>
            <a:r>
              <a:rPr sz="1600" b="1">
                <a:solidFill>
                  <a:srgbClr val="0F172A"/>
                </a:solidFill>
                <a:latin typeface="Segoe UI"/>
                <a:ea typeface="Segoe UI"/>
                <a:cs typeface="Segoe UI"/>
              </a:rPr>
              <a:t>Phân tích nghiệp vụ: </a:t>
            </a:r>
            <a:r>
              <a:rPr sz="1500">
                <a:solidFill>
                  <a:srgbClr val="1F2937"/>
                </a:solidFill>
                <a:latin typeface="Segoe UI"/>
                <a:ea typeface="Segoe UI"/>
                <a:cs typeface="Segoe UI"/>
              </a:rPr>
              <a:t>khảo sát luồng bán vé và đặc tả chức năng cho 4 vai trò.</a:t>
            </a:r>
          </a:p>
          <a:p xmlns:a="http://schemas.openxmlformats.org/drawingml/2006/main">
            <a:pPr marL="0" indent="0">
              <a:spcAft>
                <a:spcPts val="10"/>
              </a:spcAft>
              <a:buChar char="•"/>
            </a:pPr>
            <a:r>
              <a:rPr sz="1600" b="1">
                <a:solidFill>
                  <a:srgbClr val="0F172A"/>
                </a:solidFill>
                <a:latin typeface="Segoe UI"/>
                <a:ea typeface="Segoe UI"/>
                <a:cs typeface="Segoe UI"/>
              </a:rPr>
              <a:t>Thiết kế hệ thống: </a:t>
            </a:r>
            <a:r>
              <a:rPr sz="1500">
                <a:solidFill>
                  <a:srgbClr val="1F2937"/>
                </a:solidFill>
                <a:latin typeface="Segoe UI"/>
                <a:ea typeface="Segoe UI"/>
                <a:cs typeface="Segoe UI"/>
              </a:rPr>
              <a:t>mô hình MVC, Dapper, SQL Server và cơ sở dữ liệu quan hệ.</a:t>
            </a:r>
          </a:p>
          <a:p xmlns:a="http://schemas.openxmlformats.org/drawingml/2006/main">
            <a:pPr marL="0" indent="0">
              <a:spcAft>
                <a:spcPts val="10"/>
              </a:spcAft>
              <a:buChar char="•"/>
            </a:pPr>
            <a:r>
              <a:rPr sz="1600" b="1">
                <a:solidFill>
                  <a:srgbClr val="0F172A"/>
                </a:solidFill>
                <a:latin typeface="Segoe UI"/>
                <a:ea typeface="Segoe UI"/>
                <a:cs typeface="Segoe UI"/>
              </a:rPr>
              <a:t>Xây dựng chức năng: </a:t>
            </a:r>
            <a:r>
              <a:rPr sz="1500">
                <a:solidFill>
                  <a:srgbClr val="1F2937"/>
                </a:solidFill>
                <a:latin typeface="Segoe UI"/>
                <a:ea typeface="Segoe UI"/>
                <a:cs typeface="Segoe UI"/>
              </a:rPr>
              <a:t>đặt vé/ghế, giữ chỗ 10 phút, thanh toán VNPay–MoMo–ZaloPay, QR check-in.</a:t>
            </a:r>
          </a:p>
          <a:p xmlns:a="http://schemas.openxmlformats.org/drawingml/2006/main">
            <a:pPr marL="0" indent="0">
              <a:spcAft>
                <a:spcPts val="10"/>
              </a:spcAft>
              <a:buChar char="•"/>
            </a:pPr>
            <a:r>
              <a:rPr sz="1600" b="1">
                <a:solidFill>
                  <a:srgbClr val="0F172A"/>
                </a:solidFill>
                <a:latin typeface="Segoe UI"/>
                <a:ea typeface="Segoe UI"/>
                <a:cs typeface="Segoe UI"/>
              </a:rPr>
              <a:t>Bảo đảm vận hành: </a:t>
            </a:r>
            <a:r>
              <a:rPr sz="1500">
                <a:solidFill>
                  <a:srgbClr val="1F2937"/>
                </a:solidFill>
                <a:latin typeface="Segoe UI"/>
                <a:ea typeface="Segoe UI"/>
                <a:cs typeface="Segoe UI"/>
              </a:rPr>
              <a:t>phân quyền, bảo mật, xử lý đồng thời, email và dữ liệu demo.</a:t>
            </a:r>
          </a:p>
          <a:p xmlns:a="http://schemas.openxmlformats.org/drawingml/2006/main">
            <a:pPr marL="0" indent="0">
              <a:spcAft>
                <a:spcPts val="10"/>
              </a:spcAft>
              <a:buChar char="•"/>
            </a:pPr>
            <a:r>
              <a:rPr sz="1600" b="1">
                <a:solidFill>
                  <a:srgbClr val="0F172A"/>
                </a:solidFill>
                <a:latin typeface="Segoe UI"/>
                <a:ea typeface="Segoe UI"/>
                <a:cs typeface="Segoe UI"/>
              </a:rPr>
              <a:t>Kiểm thử: </a:t>
            </a:r>
            <a:r>
              <a:rPr sz="1500">
                <a:solidFill>
                  <a:srgbClr val="1F2937"/>
                </a:solidFill>
                <a:latin typeface="Segoe UI"/>
                <a:ea typeface="Segoe UI"/>
                <a:cs typeface="Segoe UI"/>
              </a:rPr>
              <a:t>22 kịch bản nghiệp vụ cùng các trường hợp dữ liệu hợp lệ và không hợp lệ.</a:t>
            </a:r>
          </a:p>
        </p:txBody>
      </p:sp>
    </p:spTree>
    <p:extLst>
      <p:ext uri="{BB962C8B-B14F-4D97-AF65-F5344CB8AC3E}">
        <p14:creationId xmlns:p14="http://schemas.microsoft.com/office/powerpoint/2010/main" val="124769784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64F51140-701A-4EB6-BC25-FFE224011F0D}"/>
              </a:ext>
            </a:extLst>
          </p:cNvPr>
          <p:cNvSpPr>
            <a:spLocks xmlns:a="http://schemas.openxmlformats.org/drawingml/2006/main" noGrp="1"/>
          </p:cNvSpPr>
          <p:nvPr/>
        </p:nvSpPr>
        <p:spPr>
          <a:xfrm xmlns:a="http://schemas.openxmlformats.org/drawingml/2006/main">
            <a:off x="731520" y="457200"/>
            <a:ext cx="10515600" cy="1005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600" b="1">
                <a:solidFill>
                  <a:srgbClr val="0F172A"/>
                </a:solidFill>
                <a:latin typeface="Segoe UI"/>
                <a:ea typeface="Segoe UI"/>
                <a:cs typeface="Segoe UI"/>
              </a:rPr>
              <a:t>3. THÁCH THỨC VÀ GIẢI PHÁP</a:t>
            </a:r>
          </a:p>
          <a:p xmlns:a="http://schemas.openxmlformats.org/drawingml/2006/main">
            <a:r>
              <a:rPr sz="1400">
                <a:solidFill>
                  <a:srgbClr val="64748B"/>
                </a:solidFill>
                <a:latin typeface="Segoe UI"/>
                <a:ea typeface="Segoe UI"/>
                <a:cs typeface="Segoe UI"/>
              </a:rPr>
              <a:t>Các rủi ro quan trọng khi đặt vé, thanh toán và phân quyền</a:t>
            </a:r>
          </a:p>
        </p:txBody>
      </p:sp>
      <p:sp>
        <p:nvSpPr>
          <p:cNvPr id="5" name="TextBox 4">
            <a:extLst xmlns:a="http://schemas.openxmlformats.org/drawingml/2006/main">
              <a:ext uri="{FF2B5EF4-FFF2-40B4-BE49-F238E27FC236}">
                <a16:creationId xmlns:a16="http://schemas.microsoft.com/office/drawing/2014/main" id="{726CF327-38FD-4A5B-A862-D33C66A7D200}"/>
              </a:ext>
            </a:extLst>
          </p:cNvPr>
          <p:cNvSpPr>
            <a:spLocks xmlns:a="http://schemas.openxmlformats.org/drawingml/2006/main" noGrp="1"/>
          </p:cNvSpPr>
          <p:nvPr/>
        </p:nvSpPr>
        <p:spPr>
          <a:xfrm xmlns:a="http://schemas.openxmlformats.org/drawingml/2006/main">
            <a:off x="731520" y="1645920"/>
            <a:ext cx="10515600" cy="4389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spcAft>
                <a:spcPts val="10"/>
              </a:spcAft>
              <a:buChar char="•"/>
            </a:pPr>
            <a:r>
              <a:rPr sz="1600" b="1">
                <a:solidFill>
                  <a:srgbClr val="0F172A"/>
                </a:solidFill>
                <a:latin typeface="Segoe UI"/>
                <a:ea typeface="Segoe UI"/>
                <a:cs typeface="Segoe UI"/>
              </a:rPr>
              <a:t>Trùng ghế hoặc bán vượt số lượng: </a:t>
            </a:r>
            <a:r>
              <a:rPr sz="1500">
                <a:solidFill>
                  <a:srgbClr val="1F2937"/>
                </a:solidFill>
                <a:latin typeface="Segoe UI"/>
                <a:ea typeface="Segoe UI"/>
                <a:cs typeface="Segoe UI"/>
              </a:rPr>
              <a:t>transaction Serializable kết hợp UPDLOCK/HOLDLOCK và cập nhật nguyên tử.</a:t>
            </a:r>
          </a:p>
          <a:p xmlns:a="http://schemas.openxmlformats.org/drawingml/2006/main">
            <a:pPr marL="0" indent="0">
              <a:spcAft>
                <a:spcPts val="10"/>
              </a:spcAft>
              <a:buChar char="•"/>
            </a:pPr>
            <a:r>
              <a:rPr sz="1600" b="1">
                <a:solidFill>
                  <a:srgbClr val="0F172A"/>
                </a:solidFill>
                <a:latin typeface="Segoe UI"/>
                <a:ea typeface="Segoe UI"/>
                <a:cs typeface="Segoe UI"/>
              </a:rPr>
              <a:t>Đơn giữ chỗ quá hạn: </a:t>
            </a:r>
            <a:r>
              <a:rPr sz="1500">
                <a:solidFill>
                  <a:srgbClr val="1F2937"/>
                </a:solidFill>
                <a:latin typeface="Segoe UI"/>
                <a:ea typeface="Segoe UI"/>
                <a:cs typeface="Segoe UI"/>
              </a:rPr>
              <a:t>đơn chờ thanh toán tự hết hạn sau 10 phút và hoàn lại vé/ghế.</a:t>
            </a:r>
          </a:p>
          <a:p xmlns:a="http://schemas.openxmlformats.org/drawingml/2006/main">
            <a:pPr marL="0" indent="0">
              <a:spcAft>
                <a:spcPts val="10"/>
              </a:spcAft>
              <a:buChar char="•"/>
            </a:pPr>
            <a:r>
              <a:rPr sz="1600" b="1">
                <a:solidFill>
                  <a:srgbClr val="0F172A"/>
                </a:solidFill>
                <a:latin typeface="Segoe UI"/>
                <a:ea typeface="Segoe UI"/>
                <a:cs typeface="Segoe UI"/>
              </a:rPr>
              <a:t>Callback thanh toán giả hoặc gửi lặp: </a:t>
            </a:r>
            <a:r>
              <a:rPr sz="1500">
                <a:solidFill>
                  <a:srgbClr val="1F2937"/>
                </a:solidFill>
                <a:latin typeface="Segoe UI"/>
                <a:ea typeface="Segoe UI"/>
                <a:cs typeface="Segoe UI"/>
              </a:rPr>
              <a:t>kiểm tra chữ ký, số tiền, mã đơn và trạng thái trước khi cập nhật.</a:t>
            </a:r>
          </a:p>
          <a:p xmlns:a="http://schemas.openxmlformats.org/drawingml/2006/main">
            <a:pPr marL="0" indent="0">
              <a:spcAft>
                <a:spcPts val="10"/>
              </a:spcAft>
              <a:buChar char="•"/>
            </a:pPr>
            <a:r>
              <a:rPr sz="1600" b="1">
                <a:solidFill>
                  <a:srgbClr val="0F172A"/>
                </a:solidFill>
                <a:latin typeface="Segoe UI"/>
                <a:ea typeface="Segoe UI"/>
                <a:cs typeface="Segoe UI"/>
              </a:rPr>
              <a:t>Sai lệch thời gian: </a:t>
            </a:r>
            <a:r>
              <a:rPr sz="1500">
                <a:solidFill>
                  <a:srgbClr val="1F2937"/>
                </a:solidFill>
                <a:latin typeface="Segoe UI"/>
                <a:ea typeface="Segoe UI"/>
                <a:cs typeface="Segoe UI"/>
              </a:rPr>
              <a:t>lưu thời gian theo UTC và chuyển sang múi giờ Việt Nam khi hiển thị.</a:t>
            </a:r>
          </a:p>
          <a:p xmlns:a="http://schemas.openxmlformats.org/drawingml/2006/main">
            <a:pPr marL="0" indent="0">
              <a:spcAft>
                <a:spcPts val="10"/>
              </a:spcAft>
              <a:buChar char="•"/>
            </a:pPr>
            <a:r>
              <a:rPr sz="1600" b="1">
                <a:solidFill>
                  <a:srgbClr val="0F172A"/>
                </a:solidFill>
                <a:latin typeface="Segoe UI"/>
                <a:ea typeface="Segoe UI"/>
                <a:cs typeface="Segoe UI"/>
              </a:rPr>
              <a:t>Truy cập sai quyền: </a:t>
            </a:r>
            <a:r>
              <a:rPr sz="1500">
                <a:solidFill>
                  <a:srgbClr val="1F2937"/>
                </a:solidFill>
                <a:latin typeface="Segoe UI"/>
                <a:ea typeface="Segoe UI"/>
                <a:cs typeface="Segoe UI"/>
              </a:rPr>
              <a:t>xác thực 4 vai trò và kiểm tra quyền sở hữu dữ liệu ở Controller/SQL.</a:t>
            </a:r>
          </a:p>
        </p:txBody>
      </p:sp>
    </p:spTree>
    <p:extLst>
      <p:ext uri="{BB962C8B-B14F-4D97-AF65-F5344CB8AC3E}">
        <p14:creationId xmlns:p14="http://schemas.microsoft.com/office/powerpoint/2010/main" val="89044930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TextBox 3">
            <a:extLst xmlns:a="http://schemas.openxmlformats.org/drawingml/2006/main">
              <a:ext uri="{FF2B5EF4-FFF2-40B4-BE49-F238E27FC236}">
                <a16:creationId xmlns:a16="http://schemas.microsoft.com/office/drawing/2014/main" id="{08357F35-F3FB-4644-93F6-DC418925126D}"/>
              </a:ext>
            </a:extLst>
          </p:cNvPr>
          <p:cNvSpPr>
            <a:spLocks xmlns:a="http://schemas.openxmlformats.org/drawingml/2006/main" noGrp="1"/>
          </p:cNvSpPr>
          <p:nvPr/>
        </p:nvSpPr>
        <p:spPr>
          <a:xfrm xmlns:a="http://schemas.openxmlformats.org/drawingml/2006/main" rot="0">
            <a:off x="8977993" y="3539882"/>
            <a:ext cx="7758428" cy="222027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400" b="0">
                <a:solidFill>
                  <a:srgbClr val="1F2937"/>
                </a:solidFill>
                <a:latin typeface="Segoe UI"/>
                <a:ea typeface="Segoe UI"/>
                <a:cs typeface="Segoe UI"/>
              </a:rPr>
              <a:t>LUỒNG NGHIỆP VỤ</a:t>
            </a:r>
          </a:p>
          <a:p xmlns:a="http://schemas.openxmlformats.org/drawingml/2006/main">
            <a:r>
              <a:rPr sz="1400" b="0">
                <a:solidFill>
                  <a:srgbClr val="1F2937"/>
                </a:solidFill>
                <a:latin typeface="Segoe UI"/>
                <a:ea typeface="Segoe UI"/>
                <a:cs typeface="Segoe UI"/>
              </a:rPr>
              <a:t>Tạo và duyệt sự kiện → cấu hình vé/ghế → khách đặt và thanh toán → phát hành vé → check-in hoặc tham dự trực tuyến.</a:t>
            </a:r>
          </a:p>
          <a:p xmlns:a="http://schemas.openxmlformats.org/drawingml/2006/main">
            <a:r>
              <a:rPr sz="1400" b="0">
                <a:solidFill>
                  <a:srgbClr val="1F2937"/>
                </a:solidFill>
                <a:latin typeface="Segoe UI"/>
                <a:ea typeface="Segoe UI"/>
                <a:cs typeface="Segoe UI"/>
              </a:rPr>
              <a:t>CSDL QUAN HỆ</a:t>
            </a:r>
          </a:p>
          <a:p xmlns:a="http://schemas.openxmlformats.org/drawingml/2006/main">
            <a:r>
              <a:rPr sz="1400" b="0">
                <a:solidFill>
                  <a:srgbClr val="1F2937"/>
                </a:solidFill>
                <a:latin typeface="Segoe UI"/>
                <a:ea typeface="Segoe UI"/>
                <a:cs typeface="Segoe UI"/>
              </a:rPr>
              <a:t>13 bảng; các quan hệ 1–N và N–N được triển khai bằng khóa ngoại và bảng NhanVienSuKien.</a:t>
            </a:r>
          </a:p>
          <a:p xmlns:a="http://schemas.openxmlformats.org/drawingml/2006/main">
            <a:r>
              <a:rPr sz="1400" b="0">
                <a:solidFill>
                  <a:srgbClr val="1F2937"/>
                </a:solidFill>
                <a:latin typeface="Segoe UI"/>
                <a:ea typeface="Segoe UI"/>
                <a:cs typeface="Segoe UI"/>
              </a:rPr>
              <a:t>TOÀN VẸN DỮ LIỆU</a:t>
            </a:r>
          </a:p>
          <a:p xmlns:a="http://schemas.openxmlformats.org/drawingml/2006/main">
            <a:r>
              <a:rPr sz="1400" b="0">
                <a:solidFill>
                  <a:srgbClr val="1F2937"/>
                </a:solidFill>
                <a:latin typeface="Segoe UI"/>
                <a:ea typeface="Segoe UI"/>
                <a:cs typeface="Segoe UI"/>
              </a:rPr>
              <a:t>Khóa chính/ngoại, UNIQUE, CHECK và transaction bảo vệ tồn vé, mã vé và ghế ngồi.</a:t>
            </a:r>
          </a:p>
        </p:txBody>
      </p:sp>
      <p:sp>
        <p:nvSpPr>
          <p:cNvPr id="4" name="TextBox 4">
            <a:extLst xmlns:a="http://schemas.openxmlformats.org/drawingml/2006/main">
              <a:ext uri="{FF2B5EF4-FFF2-40B4-BE49-F238E27FC236}">
                <a16:creationId xmlns:a16="http://schemas.microsoft.com/office/drawing/2014/main" id="{273F357F-D7A6-4E26-AAC1-958C9AE0DD1E}"/>
              </a:ext>
            </a:extLst>
          </p:cNvPr>
          <p:cNvSpPr>
            <a:spLocks xmlns:a="http://schemas.openxmlformats.org/drawingml/2006/main" noGrp="1"/>
          </p:cNvSpPr>
          <p:nvPr/>
        </p:nvSpPr>
        <p:spPr>
          <a:xfrm xmlns:a="http://schemas.openxmlformats.org/drawingml/2006/main" rot="0">
            <a:off x="8977993" y="6208902"/>
            <a:ext cx="7758428" cy="5198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200" b="0">
                <a:solidFill>
                  <a:srgbClr val="64748B"/>
                </a:solidFill>
                <a:latin typeface="Segoe UI"/>
                <a:ea typeface="Segoe UI"/>
                <a:cs typeface="Segoe UI"/>
              </a:rPr>
              <a:t>ERD ý niệm: R1–R19 mô tả lực lượng quan hệ giữa các thực thể.</a:t>
            </a:r>
          </a:p>
        </p:txBody>
      </p:sp>
      <p:sp>
        <p:nvSpPr>
          <p:cNvPr id="5" name="TextBox 4">
            <a:extLst xmlns:a="http://schemas.openxmlformats.org/drawingml/2006/main">
              <a:ext uri="{FF2B5EF4-FFF2-40B4-BE49-F238E27FC236}">
                <a16:creationId xmlns:a16="http://schemas.microsoft.com/office/drawing/2014/main" id="{30C6F3B6-4D08-4B3C-A74B-EE00FC70EA15}"/>
              </a:ext>
            </a:extLst>
          </p:cNvPr>
          <p:cNvSpPr>
            <a:spLocks xmlns:a="http://schemas.openxmlformats.org/drawingml/2006/main" noGrp="1"/>
          </p:cNvSpPr>
          <p:nvPr/>
        </p:nvSpPr>
        <p:spPr>
          <a:xfrm xmlns:a="http://schemas.openxmlformats.org/drawingml/2006/main">
            <a:off x="731520" y="457200"/>
            <a:ext cx="10515600" cy="1005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600" b="1">
                <a:solidFill>
                  <a:srgbClr val="0F172A"/>
                </a:solidFill>
                <a:latin typeface="Segoe UI"/>
                <a:ea typeface="Segoe UI"/>
                <a:cs typeface="Segoe UI"/>
              </a:rPr>
              <a:t>4. NGHIỆP VỤ VÀ THIẾT KẾ DỮ LIỆU</a:t>
            </a:r>
          </a:p>
          <a:p xmlns:a="http://schemas.openxmlformats.org/drawingml/2006/main">
            <a:r>
              <a:rPr sz="1400">
                <a:solidFill>
                  <a:srgbClr val="64748B"/>
                </a:solidFill>
                <a:latin typeface="Segoe UI"/>
                <a:ea typeface="Segoe UI"/>
                <a:cs typeface="Segoe UI"/>
              </a:rPr>
              <a:t>Luồng bán vé được ánh xạ thành cơ sở dữ liệu SQL Server có ràng buộc</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e750c6324674263"/>
          <a:stretch xmlns:a="http://schemas.openxmlformats.org/drawingml/2006/main"/>
        </p:blipFill>
        <p:spPr>
          <a:xfrm xmlns:a="http://schemas.openxmlformats.org/drawingml/2006/main">
            <a:off x="1564862" y="1557433"/>
            <a:ext cx="5851398" cy="7172135"/>
          </a:xfrm>
          <a:prstGeom xmlns:a="http://schemas.openxmlformats.org/drawingml/2006/main" prst="rect">
            <a:avLst/>
          </a:prstGeom>
        </p:spPr>
      </p:pic>
    </p:spTree>
    <p:extLst>
      <p:ext uri="{BB962C8B-B14F-4D97-AF65-F5344CB8AC3E}">
        <p14:creationId xmlns:p14="http://schemas.microsoft.com/office/powerpoint/2010/main" val="64234027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TextBox 3">
            <a:extLst xmlns:a="http://schemas.openxmlformats.org/drawingml/2006/main">
              <a:ext uri="{FF2B5EF4-FFF2-40B4-BE49-F238E27FC236}">
                <a16:creationId xmlns:a16="http://schemas.microsoft.com/office/drawing/2014/main" id="{44CE3537-E78F-4820-B460-BCBB36CF3A7C}"/>
              </a:ext>
            </a:extLst>
          </p:cNvPr>
          <p:cNvSpPr>
            <a:spLocks xmlns:a="http://schemas.openxmlformats.org/drawingml/2006/main" noGrp="1"/>
          </p:cNvSpPr>
          <p:nvPr/>
        </p:nvSpPr>
        <p:spPr>
          <a:xfrm xmlns:a="http://schemas.openxmlformats.org/drawingml/2006/main" rot="0">
            <a:off x="5790528" y="7634892"/>
            <a:ext cx="2634387" cy="13716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200" b="0">
                <a:solidFill>
                  <a:srgbClr val="64748B"/>
                </a:solidFill>
                <a:latin typeface="Segoe UI"/>
                <a:ea typeface="Segoe UI"/>
                <a:cs typeface="Segoe UI"/>
              </a:rPr>
              <a:t>Chọn ghế và cổng thanh toán.</a:t>
            </a:r>
          </a:p>
        </p:txBody>
      </p:sp>
      <p:sp>
        <p:nvSpPr>
          <p:cNvPr id="4" name="TextBox 4">
            <a:extLst xmlns:a="http://schemas.openxmlformats.org/drawingml/2006/main">
              <a:ext uri="{FF2B5EF4-FFF2-40B4-BE49-F238E27FC236}">
                <a16:creationId xmlns:a16="http://schemas.microsoft.com/office/drawing/2014/main" id="{363B6219-7F88-49D5-B525-3E5638E009D8}"/>
              </a:ext>
            </a:extLst>
          </p:cNvPr>
          <p:cNvSpPr>
            <a:spLocks xmlns:a="http://schemas.openxmlformats.org/drawingml/2006/main" noGrp="1"/>
          </p:cNvSpPr>
          <p:nvPr/>
        </p:nvSpPr>
        <p:spPr>
          <a:xfrm xmlns:a="http://schemas.openxmlformats.org/drawingml/2006/main" rot="0">
            <a:off x="5790528" y="6483881"/>
            <a:ext cx="2634387" cy="9059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400" b="1">
                <a:solidFill>
                  <a:srgbClr val="0F172A"/>
                </a:solidFill>
                <a:latin typeface="Segoe UI"/>
                <a:ea typeface="Segoe UI"/>
                <a:cs typeface="Segoe UI"/>
              </a:rPr>
              <a:t>ĐẶT VÉ</a:t>
            </a:r>
          </a:p>
        </p:txBody>
      </p:sp>
      <p:sp>
        <p:nvSpPr>
          <p:cNvPr id="6" name="TextBox 6">
            <a:extLst xmlns:a="http://schemas.openxmlformats.org/drawingml/2006/main">
              <a:ext uri="{FF2B5EF4-FFF2-40B4-BE49-F238E27FC236}">
                <a16:creationId xmlns:a16="http://schemas.microsoft.com/office/drawing/2014/main" id="{AD451184-C48F-4FC3-9224-C48906B70F80}"/>
              </a:ext>
            </a:extLst>
          </p:cNvPr>
          <p:cNvSpPr>
            <a:spLocks xmlns:a="http://schemas.openxmlformats.org/drawingml/2006/main" noGrp="1"/>
          </p:cNvSpPr>
          <p:nvPr/>
        </p:nvSpPr>
        <p:spPr>
          <a:xfrm xmlns:a="http://schemas.openxmlformats.org/drawingml/2006/main" rot="0">
            <a:off x="9863085" y="7634892"/>
            <a:ext cx="2634387" cy="13716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200" b="0">
                <a:solidFill>
                  <a:srgbClr val="64748B"/>
                </a:solidFill>
                <a:latin typeface="Segoe UI"/>
                <a:ea typeface="Segoe UI"/>
                <a:cs typeface="Segoe UI"/>
              </a:rPr>
              <a:t>Theo dõi sự kiện, đơn và doanh thu.</a:t>
            </a:r>
          </a:p>
        </p:txBody>
      </p:sp>
      <p:sp>
        <p:nvSpPr>
          <p:cNvPr id="7" name="TextBox 7">
            <a:extLst xmlns:a="http://schemas.openxmlformats.org/drawingml/2006/main">
              <a:ext uri="{FF2B5EF4-FFF2-40B4-BE49-F238E27FC236}">
                <a16:creationId xmlns:a16="http://schemas.microsoft.com/office/drawing/2014/main" id="{3A50E3CF-E5E0-4B74-9F4B-F45B8EE06C94}"/>
              </a:ext>
            </a:extLst>
          </p:cNvPr>
          <p:cNvSpPr>
            <a:spLocks xmlns:a="http://schemas.openxmlformats.org/drawingml/2006/main" noGrp="1"/>
          </p:cNvSpPr>
          <p:nvPr/>
        </p:nvSpPr>
        <p:spPr>
          <a:xfrm xmlns:a="http://schemas.openxmlformats.org/drawingml/2006/main" rot="0">
            <a:off x="9863085" y="6483881"/>
            <a:ext cx="2634387" cy="9059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400" b="1">
                <a:solidFill>
                  <a:srgbClr val="0F172A"/>
                </a:solidFill>
                <a:latin typeface="Segoe UI"/>
                <a:ea typeface="Segoe UI"/>
                <a:cs typeface="Segoe UI"/>
              </a:rPr>
              <a:t>BAN TỔ CHỨC</a:t>
            </a:r>
          </a:p>
        </p:txBody>
      </p:sp>
      <p:sp>
        <p:nvSpPr>
          <p:cNvPr id="9" name="TextBox 9">
            <a:extLst xmlns:a="http://schemas.openxmlformats.org/drawingml/2006/main">
              <a:ext uri="{FF2B5EF4-FFF2-40B4-BE49-F238E27FC236}">
                <a16:creationId xmlns:a16="http://schemas.microsoft.com/office/drawing/2014/main" id="{B68A36CA-FC46-44FA-BED7-5C20655510E8}"/>
              </a:ext>
            </a:extLst>
          </p:cNvPr>
          <p:cNvSpPr>
            <a:spLocks xmlns:a="http://schemas.openxmlformats.org/drawingml/2006/main" noGrp="1"/>
          </p:cNvSpPr>
          <p:nvPr/>
        </p:nvSpPr>
        <p:spPr>
          <a:xfrm xmlns:a="http://schemas.openxmlformats.org/drawingml/2006/main" rot="0">
            <a:off x="13935642" y="7634892"/>
            <a:ext cx="2634387" cy="13716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200" b="0">
                <a:solidFill>
                  <a:srgbClr val="64748B"/>
                </a:solidFill>
                <a:latin typeface="Segoe UI"/>
                <a:ea typeface="Segoe UI"/>
                <a:cs typeface="Segoe UI"/>
              </a:rPr>
              <a:t>Quét QR, tra cứu và soát vé.</a:t>
            </a:r>
          </a:p>
        </p:txBody>
      </p:sp>
      <p:sp>
        <p:nvSpPr>
          <p:cNvPr id="10" name="TextBox 10">
            <a:extLst xmlns:a="http://schemas.openxmlformats.org/drawingml/2006/main">
              <a:ext uri="{FF2B5EF4-FFF2-40B4-BE49-F238E27FC236}">
                <a16:creationId xmlns:a16="http://schemas.microsoft.com/office/drawing/2014/main" id="{3D381268-C157-42EB-8F00-0863882C85A6}"/>
              </a:ext>
            </a:extLst>
          </p:cNvPr>
          <p:cNvSpPr>
            <a:spLocks xmlns:a="http://schemas.openxmlformats.org/drawingml/2006/main" noGrp="1"/>
          </p:cNvSpPr>
          <p:nvPr/>
        </p:nvSpPr>
        <p:spPr>
          <a:xfrm xmlns:a="http://schemas.openxmlformats.org/drawingml/2006/main" rot="0">
            <a:off x="13935642" y="6483881"/>
            <a:ext cx="2634387" cy="9059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400" b="1">
                <a:solidFill>
                  <a:srgbClr val="0F172A"/>
                </a:solidFill>
                <a:latin typeface="Segoe UI"/>
                <a:ea typeface="Segoe UI"/>
                <a:cs typeface="Segoe UI"/>
              </a:rPr>
              <a:t>NHÂN VIÊN</a:t>
            </a:r>
          </a:p>
        </p:txBody>
      </p:sp>
      <p:sp>
        <p:nvSpPr>
          <p:cNvPr id="12" name="TextBox 12">
            <a:extLst xmlns:a="http://schemas.openxmlformats.org/drawingml/2006/main">
              <a:ext uri="{FF2B5EF4-FFF2-40B4-BE49-F238E27FC236}">
                <a16:creationId xmlns:a16="http://schemas.microsoft.com/office/drawing/2014/main" id="{E882CAC8-3646-4B6D-B064-68AFE4B98F25}"/>
              </a:ext>
            </a:extLst>
          </p:cNvPr>
          <p:cNvSpPr>
            <a:spLocks xmlns:a="http://schemas.openxmlformats.org/drawingml/2006/main" noGrp="1"/>
          </p:cNvSpPr>
          <p:nvPr/>
        </p:nvSpPr>
        <p:spPr>
          <a:xfrm xmlns:a="http://schemas.openxmlformats.org/drawingml/2006/main" rot="0">
            <a:off x="1717971" y="7634892"/>
            <a:ext cx="2634387" cy="13716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200" b="0">
                <a:solidFill>
                  <a:srgbClr val="64748B"/>
                </a:solidFill>
                <a:latin typeface="Segoe UI"/>
                <a:ea typeface="Segoe UI"/>
                <a:cs typeface="Segoe UI"/>
              </a:rPr>
              <a:t>Khám phá sự kiện và tìm vé.</a:t>
            </a:r>
          </a:p>
        </p:txBody>
      </p:sp>
      <p:sp>
        <p:nvSpPr>
          <p:cNvPr id="13" name="TextBox 13">
            <a:extLst xmlns:a="http://schemas.openxmlformats.org/drawingml/2006/main">
              <a:ext uri="{FF2B5EF4-FFF2-40B4-BE49-F238E27FC236}">
                <a16:creationId xmlns:a16="http://schemas.microsoft.com/office/drawing/2014/main" id="{FEAC4751-D642-40E8-9DFB-1E26F5491D7B}"/>
              </a:ext>
            </a:extLst>
          </p:cNvPr>
          <p:cNvSpPr>
            <a:spLocks xmlns:a="http://schemas.openxmlformats.org/drawingml/2006/main" noGrp="1"/>
          </p:cNvSpPr>
          <p:nvPr/>
        </p:nvSpPr>
        <p:spPr>
          <a:xfrm xmlns:a="http://schemas.openxmlformats.org/drawingml/2006/main" rot="0">
            <a:off x="1717971" y="6483881"/>
            <a:ext cx="2634387" cy="9059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400" b="1">
                <a:solidFill>
                  <a:srgbClr val="0F172A"/>
                </a:solidFill>
                <a:latin typeface="Segoe UI"/>
                <a:ea typeface="Segoe UI"/>
                <a:cs typeface="Segoe UI"/>
              </a:rPr>
              <a:t>KHÁCH HÀNG</a:t>
            </a:r>
          </a:p>
        </p:txBody>
      </p:sp>
      <p:sp>
        <p:nvSpPr>
          <p:cNvPr id="15" name="TextBox 14">
            <a:extLst xmlns:a="http://schemas.openxmlformats.org/drawingml/2006/main">
              <a:ext uri="{FF2B5EF4-FFF2-40B4-BE49-F238E27FC236}">
                <a16:creationId xmlns:a16="http://schemas.microsoft.com/office/drawing/2014/main" id="{801201EF-6C3C-4CE4-9562-F77A4913DBDF}"/>
              </a:ext>
            </a:extLst>
          </p:cNvPr>
          <p:cNvSpPr>
            <a:spLocks xmlns:a="http://schemas.openxmlformats.org/drawingml/2006/main" noGrp="1"/>
          </p:cNvSpPr>
          <p:nvPr/>
        </p:nvSpPr>
        <p:spPr>
          <a:xfrm xmlns:a="http://schemas.openxmlformats.org/drawingml/2006/main">
            <a:off x="731520" y="457200"/>
            <a:ext cx="10515600" cy="1005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600" b="1">
                <a:solidFill>
                  <a:srgbClr val="0F172A"/>
                </a:solidFill>
                <a:latin typeface="Segoe UI"/>
                <a:ea typeface="Segoe UI"/>
                <a:cs typeface="Segoe UI"/>
              </a:rPr>
              <a:t>5. GIAO DIỆN HỆ THỐNG</a:t>
            </a:r>
          </a:p>
          <a:p xmlns:a="http://schemas.openxmlformats.org/drawingml/2006/main">
            <a:r>
              <a:rPr sz="1400">
                <a:solidFill>
                  <a:srgbClr val="64748B"/>
                </a:solidFill>
                <a:latin typeface="Segoe UI"/>
                <a:ea typeface="Segoe UI"/>
                <a:cs typeface="Segoe UI"/>
              </a:rPr>
              <a:t>Bốn màn hình tiêu biểu trong hành trình vận hành sự kiện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d18f27065e44527"/>
          <a:stretch xmlns:a="http://schemas.openxmlformats.org/drawingml/2006/main"/>
        </p:blipFill>
        <p:spPr>
          <a:xfrm xmlns:a="http://schemas.openxmlformats.org/drawingml/2006/main">
            <a:off x="1717929" y="3438906"/>
            <a:ext cx="2634425" cy="2538889"/>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1879c518ee647e4"/>
          <a:stretch xmlns:a="http://schemas.openxmlformats.org/drawingml/2006/main"/>
        </p:blipFill>
        <p:spPr>
          <a:xfrm xmlns:a="http://schemas.openxmlformats.org/drawingml/2006/main">
            <a:off x="5790533" y="3438906"/>
            <a:ext cx="2634425" cy="2538889"/>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575f9be98ff4d5c"/>
          <a:stretch xmlns:a="http://schemas.openxmlformats.org/drawingml/2006/main"/>
        </p:blipFill>
        <p:spPr>
          <a:xfrm xmlns:a="http://schemas.openxmlformats.org/drawingml/2006/main">
            <a:off x="9863042" y="3438906"/>
            <a:ext cx="2634425" cy="2538889"/>
          </a:xfrm>
          <a:prstGeom xmlns:a="http://schemas.openxmlformats.org/drawingml/2006/main" prst="rect">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c867f3a530e4c36"/>
          <a:stretch xmlns:a="http://schemas.openxmlformats.org/drawingml/2006/main"/>
        </p:blipFill>
        <p:spPr>
          <a:xfrm xmlns:a="http://schemas.openxmlformats.org/drawingml/2006/main">
            <a:off x="13935647" y="3438906"/>
            <a:ext cx="2634425" cy="2538889"/>
          </a:xfrm>
          <a:prstGeom xmlns:a="http://schemas.openxmlformats.org/drawingml/2006/main" prst="rect">
            <a:avLst/>
          </a:prstGeom>
        </p:spPr>
      </p:pic>
    </p:spTree>
    <p:extLst>
      <p:ext uri="{BB962C8B-B14F-4D97-AF65-F5344CB8AC3E}">
        <p14:creationId xmlns:p14="http://schemas.microsoft.com/office/powerpoint/2010/main" val="15872210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FA3D66CA-F38F-447F-81A8-50193ECE75CE}"/>
              </a:ext>
            </a:extLst>
          </p:cNvPr>
          <p:cNvSpPr>
            <a:spLocks xmlns:a="http://schemas.openxmlformats.org/drawingml/2006/main" noGrp="1"/>
          </p:cNvSpPr>
          <p:nvPr/>
        </p:nvSpPr>
        <p:spPr>
          <a:xfrm xmlns:a="http://schemas.openxmlformats.org/drawingml/2006/main">
            <a:off x="731520" y="457200"/>
            <a:ext cx="10515600" cy="1005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600" b="1">
                <a:solidFill>
                  <a:srgbClr val="0F172A"/>
                </a:solidFill>
                <a:latin typeface="Segoe UI"/>
                <a:ea typeface="Segoe UI"/>
                <a:cs typeface="Segoe UI"/>
              </a:rPr>
              <a:t>6. CÁC CHỨC NĂNG ĐÃ XÂY DỰNG</a:t>
            </a:r>
          </a:p>
          <a:p xmlns:a="http://schemas.openxmlformats.org/drawingml/2006/main">
            <a:r>
              <a:rPr sz="1400">
                <a:solidFill>
                  <a:srgbClr val="64748B"/>
                </a:solidFill>
                <a:latin typeface="Segoe UI"/>
                <a:ea typeface="Segoe UI"/>
                <a:cs typeface="Segoe UI"/>
              </a:rPr>
              <a:t>Nhóm chức năng theo vai trò sử dụng</a:t>
            </a:r>
          </a:p>
        </p:txBody>
      </p:sp>
      <p:sp>
        <p:nvSpPr>
          <p:cNvPr id="5" name="TextBox 4">
            <a:extLst xmlns:a="http://schemas.openxmlformats.org/drawingml/2006/main">
              <a:ext uri="{FF2B5EF4-FFF2-40B4-BE49-F238E27FC236}">
                <a16:creationId xmlns:a16="http://schemas.microsoft.com/office/drawing/2014/main" id="{F8344ABF-6E05-4801-A56E-0DAC90AE3C72}"/>
              </a:ext>
            </a:extLst>
          </p:cNvPr>
          <p:cNvSpPr>
            <a:spLocks xmlns:a="http://schemas.openxmlformats.org/drawingml/2006/main" noGrp="1"/>
          </p:cNvSpPr>
          <p:nvPr/>
        </p:nvSpPr>
        <p:spPr>
          <a:xfrm xmlns:a="http://schemas.openxmlformats.org/drawingml/2006/main">
            <a:off x="731520" y="1645920"/>
            <a:ext cx="10515600" cy="4389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spcAft>
                <a:spcPts val="10"/>
              </a:spcAft>
              <a:buChar char="•"/>
            </a:pPr>
            <a:r>
              <a:rPr sz="1600" b="1">
                <a:solidFill>
                  <a:srgbClr val="0F172A"/>
                </a:solidFill>
                <a:latin typeface="Segoe UI"/>
                <a:ea typeface="Segoe UI"/>
                <a:cs typeface="Segoe UI"/>
              </a:rPr>
              <a:t>Khách hàng: </a:t>
            </a:r>
            <a:r>
              <a:rPr sz="1400">
                <a:solidFill>
                  <a:srgbClr val="1F2937"/>
                </a:solidFill>
                <a:latin typeface="Segoe UI"/>
                <a:ea typeface="Segoe UI"/>
                <a:cs typeface="Segoe UI"/>
              </a:rPr>
              <a:t>đăng ký/đăng nhập, tìm kiếm–lọc, chọn vé/ghế, voucher, thanh toán, vé điện tử hoặc link trực tuyến.</a:t>
            </a:r>
          </a:p>
          <a:p xmlns:a="http://schemas.openxmlformats.org/drawingml/2006/main">
            <a:pPr marL="0" indent="0">
              <a:spcAft>
                <a:spcPts val="10"/>
              </a:spcAft>
              <a:buChar char="•"/>
            </a:pPr>
            <a:r>
              <a:rPr sz="1600" b="1">
                <a:solidFill>
                  <a:srgbClr val="0F172A"/>
                </a:solidFill>
                <a:latin typeface="Segoe UI"/>
                <a:ea typeface="Segoe UI"/>
                <a:cs typeface="Segoe UI"/>
              </a:rPr>
              <a:t>Ban tổ chức: </a:t>
            </a:r>
            <a:r>
              <a:rPr sz="1400">
                <a:solidFill>
                  <a:srgbClr val="1F2937"/>
                </a:solidFill>
                <a:latin typeface="Segoe UI"/>
                <a:ea typeface="Segoe UI"/>
                <a:cs typeface="Segoe UI"/>
              </a:rPr>
              <a:t>hồ sơ, sự kiện, loại vé, sơ đồ ghế, mã giảm giá, nhân viên, đơn hàng, khách tham dự và báo cáo.</a:t>
            </a:r>
          </a:p>
          <a:p xmlns:a="http://schemas.openxmlformats.org/drawingml/2006/main">
            <a:pPr marL="0" indent="0">
              <a:spcAft>
                <a:spcPts val="10"/>
              </a:spcAft>
              <a:buChar char="•"/>
            </a:pPr>
            <a:r>
              <a:rPr sz="1600" b="1">
                <a:solidFill>
                  <a:srgbClr val="0F172A"/>
                </a:solidFill>
                <a:latin typeface="Segoe UI"/>
                <a:ea typeface="Segoe UI"/>
                <a:cs typeface="Segoe UI"/>
              </a:rPr>
              <a:t>Nhân viên: </a:t>
            </a:r>
            <a:r>
              <a:rPr sz="1400">
                <a:solidFill>
                  <a:srgbClr val="1F2937"/>
                </a:solidFill>
                <a:latin typeface="Segoe UI"/>
                <a:ea typeface="Segoe UI"/>
                <a:cs typeface="Segoe UI"/>
              </a:rPr>
              <a:t>xem lịch phân công, quét QR, nhập mã thủ công và chống check-in trùng.</a:t>
            </a:r>
          </a:p>
          <a:p xmlns:a="http://schemas.openxmlformats.org/drawingml/2006/main">
            <a:pPr marL="0" indent="0">
              <a:spcAft>
                <a:spcPts val="10"/>
              </a:spcAft>
              <a:buChar char="•"/>
            </a:pPr>
            <a:r>
              <a:rPr sz="1600" b="1">
                <a:solidFill>
                  <a:srgbClr val="0F172A"/>
                </a:solidFill>
                <a:latin typeface="Segoe UI"/>
                <a:ea typeface="Segoe UI"/>
                <a:cs typeface="Segoe UI"/>
              </a:rPr>
              <a:t>Quản trị viên: </a:t>
            </a:r>
            <a:r>
              <a:rPr sz="1400">
                <a:solidFill>
                  <a:srgbClr val="1F2937"/>
                </a:solidFill>
                <a:latin typeface="Segoe UI"/>
                <a:ea typeface="Segoe UI"/>
                <a:cs typeface="Segoe UI"/>
              </a:rPr>
              <a:t>danh mục, người dùng, duyệt ban tổ chức/sự kiện và giám sát đơn hàng.</a:t>
            </a:r>
          </a:p>
          <a:p xmlns:a="http://schemas.openxmlformats.org/drawingml/2006/main">
            <a:pPr marL="0" indent="0">
              <a:spcAft>
                <a:spcPts val="10"/>
              </a:spcAft>
              <a:buChar char="•"/>
            </a:pPr>
            <a:r>
              <a:rPr sz="1600" b="1">
                <a:solidFill>
                  <a:srgbClr val="0F172A"/>
                </a:solidFill>
                <a:latin typeface="Segoe UI"/>
                <a:ea typeface="Segoe UI"/>
                <a:cs typeface="Segoe UI"/>
              </a:rPr>
              <a:t>Hệ thống: </a:t>
            </a:r>
            <a:r>
              <a:rPr sz="1400">
                <a:solidFill>
                  <a:srgbClr val="1F2937"/>
                </a:solidFill>
                <a:latin typeface="Segoe UI"/>
                <a:ea typeface="Segoe UI"/>
                <a:cs typeface="Segoe UI"/>
              </a:rPr>
              <a:t>email xác minh, Google Calendar, hết hạn giữ chỗ, xử lý đồng thời và bảo mật dữ liệu.</a:t>
            </a:r>
          </a:p>
        </p:txBody>
      </p:sp>
    </p:spTree>
    <p:extLst>
      <p:ext uri="{BB962C8B-B14F-4D97-AF65-F5344CB8AC3E}">
        <p14:creationId xmlns:p14="http://schemas.microsoft.com/office/powerpoint/2010/main" val="124769784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31D74934-2625-431E-A342-50FDCCA06B57}"/>
              </a:ext>
            </a:extLst>
          </p:cNvPr>
          <p:cNvSpPr>
            <a:spLocks xmlns:a="http://schemas.openxmlformats.org/drawingml/2006/main" noGrp="1"/>
          </p:cNvSpPr>
          <p:nvPr/>
        </p:nvSpPr>
        <p:spPr>
          <a:xfrm xmlns:a="http://schemas.openxmlformats.org/drawingml/2006/main">
            <a:off x="731520" y="457200"/>
            <a:ext cx="10515600" cy="1005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600" b="1">
                <a:solidFill>
                  <a:srgbClr val="0F172A"/>
                </a:solidFill>
                <a:latin typeface="Segoe UI"/>
                <a:ea typeface="Segoe UI"/>
                <a:cs typeface="Segoe UI"/>
              </a:rPr>
              <a:t>7. KẾT QUẢ THỰC HIỆN</a:t>
            </a:r>
          </a:p>
          <a:p xmlns:a="http://schemas.openxmlformats.org/drawingml/2006/main">
            <a:r>
              <a:rPr sz="1400">
                <a:solidFill>
                  <a:srgbClr val="64748B"/>
                </a:solidFill>
                <a:latin typeface="Segoe UI"/>
                <a:ea typeface="Segoe UI"/>
                <a:cs typeface="Segoe UI"/>
              </a:rPr>
              <a:t>Hệ thống hoàn chỉnh theo phạm vi luận văn và sẵn sàng trình diễn</a:t>
            </a:r>
          </a:p>
        </p:txBody>
      </p:sp>
      <p:sp>
        <p:nvSpPr>
          <p:cNvPr id="6" name="TextBox 5">
            <a:extLst xmlns:a="http://schemas.openxmlformats.org/drawingml/2006/main">
              <a:ext uri="{FF2B5EF4-FFF2-40B4-BE49-F238E27FC236}">
                <a16:creationId xmlns:a16="http://schemas.microsoft.com/office/drawing/2014/main" id="{FD7DC7E0-3306-4494-B42E-BCFB780F0A66}"/>
              </a:ext>
            </a:extLst>
          </p:cNvPr>
          <p:cNvSpPr>
            <a:spLocks xmlns:a="http://schemas.openxmlformats.org/drawingml/2006/main" noGrp="1"/>
          </p:cNvSpPr>
          <p:nvPr/>
        </p:nvSpPr>
        <p:spPr>
          <a:xfrm xmlns:a="http://schemas.openxmlformats.org/drawingml/2006/main">
            <a:off x="731520" y="1645920"/>
            <a:ext cx="10515600" cy="4389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spcAft>
                <a:spcPts val="10"/>
              </a:spcAft>
              <a:buChar char="•"/>
            </a:pPr>
            <a:r>
              <a:rPr sz="1600" b="1">
                <a:solidFill>
                  <a:srgbClr val="0F172A"/>
                </a:solidFill>
                <a:latin typeface="Segoe UI"/>
                <a:ea typeface="Segoe UI"/>
                <a:cs typeface="Segoe UI"/>
              </a:rPr>
              <a:t>4 phân hệ người dùng: </a:t>
            </a:r>
            <a:r>
              <a:rPr sz="1400">
                <a:solidFill>
                  <a:srgbClr val="1F2937"/>
                </a:solidFill>
                <a:latin typeface="Segoe UI"/>
                <a:ea typeface="Segoe UI"/>
                <a:cs typeface="Segoe UI"/>
              </a:rPr>
              <a:t>khách hàng, ban tổ chức, nhân viên và quản trị viên.</a:t>
            </a:r>
          </a:p>
          <a:p xmlns:a="http://schemas.openxmlformats.org/drawingml/2006/main">
            <a:pPr marL="0" indent="0">
              <a:spcAft>
                <a:spcPts val="10"/>
              </a:spcAft>
              <a:buChar char="•"/>
            </a:pPr>
            <a:r>
              <a:rPr sz="1600" b="1">
                <a:solidFill>
                  <a:srgbClr val="0F172A"/>
                </a:solidFill>
                <a:latin typeface="Segoe UI"/>
                <a:ea typeface="Segoe UI"/>
                <a:cs typeface="Segoe UI"/>
              </a:rPr>
              <a:t>3 cổng thanh toán thử nghiệm: </a:t>
            </a:r>
            <a:r>
              <a:rPr sz="1400">
                <a:solidFill>
                  <a:srgbClr val="1F2937"/>
                </a:solidFill>
                <a:latin typeface="Segoe UI"/>
                <a:ea typeface="Segoe UI"/>
                <a:cs typeface="Segoe UI"/>
              </a:rPr>
              <a:t>VNPay, MoMo và ZaloPay với xác minh callback.</a:t>
            </a:r>
          </a:p>
          <a:p xmlns:a="http://schemas.openxmlformats.org/drawingml/2006/main">
            <a:pPr marL="0" indent="0">
              <a:spcAft>
                <a:spcPts val="10"/>
              </a:spcAft>
              <a:buChar char="•"/>
            </a:pPr>
            <a:r>
              <a:rPr sz="1600" b="1">
                <a:solidFill>
                  <a:srgbClr val="0F172A"/>
                </a:solidFill>
                <a:latin typeface="Segoe UI"/>
                <a:ea typeface="Segoe UI"/>
                <a:cs typeface="Segoe UI"/>
              </a:rPr>
              <a:t>22 kịch bản thử nghiệm: </a:t>
            </a:r>
            <a:r>
              <a:rPr sz="1400">
                <a:solidFill>
                  <a:srgbClr val="1F2937"/>
                </a:solidFill>
                <a:latin typeface="Segoe UI"/>
                <a:ea typeface="Segoe UI"/>
                <a:cs typeface="Segoe UI"/>
              </a:rPr>
              <a:t>bao phủ nghiệp vụ chính và các trường hợp ngoại lệ.</a:t>
            </a:r>
          </a:p>
          <a:p xmlns:a="http://schemas.openxmlformats.org/drawingml/2006/main">
            <a:pPr marL="0" indent="0">
              <a:spcAft>
                <a:spcPts val="10"/>
              </a:spcAft>
              <a:buChar char="•"/>
            </a:pPr>
            <a:r>
              <a:rPr sz="1600" b="1">
                <a:solidFill>
                  <a:srgbClr val="0F172A"/>
                </a:solidFill>
                <a:latin typeface="Segoe UI"/>
                <a:ea typeface="Segoe UI"/>
                <a:cs typeface="Segoe UI"/>
              </a:rPr>
              <a:t>13 bảng dữ liệu quan hệ: </a:t>
            </a:r>
            <a:r>
              <a:rPr sz="1400">
                <a:solidFill>
                  <a:srgbClr val="1F2937"/>
                </a:solidFill>
                <a:latin typeface="Segoe UI"/>
                <a:ea typeface="Segoe UI"/>
                <a:cs typeface="Segoe UI"/>
              </a:rPr>
              <a:t>đủ cho sự kiện, vé, ghế, đơn hàng, voucher và phân công.</a:t>
            </a:r>
          </a:p>
          <a:p xmlns:a="http://schemas.openxmlformats.org/drawingml/2006/main">
            <a:pPr marL="0" indent="0">
              <a:spcAft>
                <a:spcPts val="10"/>
              </a:spcAft>
              <a:buChar char="•"/>
            </a:pPr>
            <a:r>
              <a:rPr sz="1600" b="1">
                <a:solidFill>
                  <a:srgbClr val="0F172A"/>
                </a:solidFill>
                <a:latin typeface="Segoe UI"/>
                <a:ea typeface="Segoe UI"/>
                <a:cs typeface="Segoe UI"/>
              </a:rPr>
              <a:t>Luồng nghiệp vụ xuyên suốt: </a:t>
            </a:r>
            <a:r>
              <a:rPr sz="1400">
                <a:solidFill>
                  <a:srgbClr val="1F2937"/>
                </a:solidFill>
                <a:latin typeface="Segoe UI"/>
                <a:ea typeface="Segoe UI"/>
                <a:cs typeface="Segoe UI"/>
              </a:rPr>
              <a:t>tìm sự kiện → đặt vé → thanh toán → nhận vé → check-in/tham dự.</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c5c562c82d84036"/>
          <a:stretch xmlns:a="http://schemas.openxmlformats.org/drawingml/2006/main"/>
        </p:blipFill>
        <p:spPr>
          <a:xfrm xmlns:a="http://schemas.openxmlformats.org/drawingml/2006/main">
            <a:off x="11042237" y="0"/>
            <a:ext cx="7245763" cy="10287000"/>
          </a:xfrm>
          <a:prstGeom xmlns:a="http://schemas.openxmlformats.org/drawingml/2006/main" prst="rect">
            <a:avLst/>
          </a:prstGeom>
        </p:spPr>
      </p:pic>
    </p:spTree>
    <p:extLst>
      <p:ext uri="{BB962C8B-B14F-4D97-AF65-F5344CB8AC3E}">
        <p14:creationId xmlns:p14="http://schemas.microsoft.com/office/powerpoint/2010/main" val="85492330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TextBox 3">
            <a:extLst xmlns:a="http://schemas.openxmlformats.org/drawingml/2006/main">
              <a:ext uri="{FF2B5EF4-FFF2-40B4-BE49-F238E27FC236}">
                <a16:creationId xmlns:a16="http://schemas.microsoft.com/office/drawing/2014/main" id="{0EC747DA-DC2E-43CA-8C8A-8F76E8952265}"/>
              </a:ext>
            </a:extLst>
          </p:cNvPr>
          <p:cNvSpPr>
            <a:spLocks xmlns:a="http://schemas.openxmlformats.org/drawingml/2006/main" noGrp="1"/>
          </p:cNvSpPr>
          <p:nvPr/>
        </p:nvSpPr>
        <p:spPr>
          <a:xfrm xmlns:a="http://schemas.openxmlformats.org/drawingml/2006/main" rot="0">
            <a:off x="3831365" y="4831593"/>
            <a:ext cx="4011474" cy="9313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200" b="0">
                <a:solidFill>
                  <a:srgbClr val="1F2937"/>
                </a:solidFill>
                <a:latin typeface="Segoe UI"/>
                <a:ea typeface="Segoe UI"/>
                <a:cs typeface="Segoe UI"/>
              </a:rPr>
              <a:t>Tìm và mua vé → Đạt</a:t>
            </a:r>
          </a:p>
          <a:p xmlns:a="http://schemas.openxmlformats.org/drawingml/2006/main">
            <a:r>
              <a:rPr sz="1200" b="0">
                <a:solidFill>
                  <a:srgbClr val="1F2937"/>
                </a:solidFill>
                <a:latin typeface="Segoe UI"/>
                <a:ea typeface="Segoe UI"/>
                <a:cs typeface="Segoe UI"/>
              </a:rPr>
              <a:t>Quản lý sự kiện → Đạt</a:t>
            </a:r>
          </a:p>
          <a:p xmlns:a="http://schemas.openxmlformats.org/drawingml/2006/main">
            <a:r>
              <a:rPr sz="1200" b="0">
                <a:solidFill>
                  <a:srgbClr val="1F2937"/>
                </a:solidFill>
                <a:latin typeface="Segoe UI"/>
                <a:ea typeface="Segoe UI"/>
                <a:cs typeface="Segoe UI"/>
              </a:rPr>
              <a:t>QR check-in → Đạt</a:t>
            </a:r>
          </a:p>
          <a:p xmlns:a="http://schemas.openxmlformats.org/drawingml/2006/main">
            <a:r>
              <a:rPr sz="1200" b="0">
                <a:solidFill>
                  <a:srgbClr val="1F2937"/>
                </a:solidFill>
                <a:latin typeface="Segoe UI"/>
                <a:ea typeface="Segoe UI"/>
                <a:cs typeface="Segoe UI"/>
              </a:rPr>
              <a:t>Quản trị hệ thống → Đạt</a:t>
            </a:r>
          </a:p>
        </p:txBody>
      </p:sp>
      <p:sp>
        <p:nvSpPr>
          <p:cNvPr id="4" name="TextBox 4">
            <a:extLst xmlns:a="http://schemas.openxmlformats.org/drawingml/2006/main">
              <a:ext uri="{FF2B5EF4-FFF2-40B4-BE49-F238E27FC236}">
                <a16:creationId xmlns:a16="http://schemas.microsoft.com/office/drawing/2014/main" id="{58661066-A3C3-4CDD-BA0C-81F53A7D2EB9}"/>
              </a:ext>
            </a:extLst>
          </p:cNvPr>
          <p:cNvSpPr>
            <a:spLocks xmlns:a="http://schemas.openxmlformats.org/drawingml/2006/main" noGrp="1"/>
          </p:cNvSpPr>
          <p:nvPr/>
        </p:nvSpPr>
        <p:spPr>
          <a:xfrm xmlns:a="http://schemas.openxmlformats.org/drawingml/2006/main" rot="0">
            <a:off x="3831365" y="4185407"/>
            <a:ext cx="4011474" cy="40428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400" b="1">
                <a:solidFill>
                  <a:srgbClr val="0F172A"/>
                </a:solidFill>
                <a:latin typeface="Segoe UI"/>
                <a:ea typeface="Segoe UI"/>
                <a:cs typeface="Segoe UI"/>
              </a:rPr>
              <a:t>MỤC TIÊU ↔ KẾT QUẢ</a:t>
            </a:r>
          </a:p>
        </p:txBody>
      </p:sp>
      <p:sp>
        <p:nvSpPr>
          <p:cNvPr id="5" name="Freeform 5">
            <a:extLst xmlns:a="http://schemas.openxmlformats.org/drawingml/2006/main">
              <a:ext uri="{FF2B5EF4-FFF2-40B4-BE49-F238E27FC236}">
                <a16:creationId xmlns:a16="http://schemas.microsoft.com/office/drawing/2014/main" id="{CCF76E60-B87D-4868-A4C9-8D1C8FE8E281}"/>
              </a:ext>
            </a:extLst>
          </p:cNvPr>
          <p:cNvSpPr>
            <a:spLocks xmlns:a="http://schemas.openxmlformats.org/drawingml/2006/main" noGrp="1"/>
          </p:cNvSpPr>
          <p:nvPr/>
        </p:nvSpPr>
        <p:spPr>
          <a:xfrm xmlns:a="http://schemas.openxmlformats.org/drawingml/2006/main" rot="0" flipH="0" flipV="0">
            <a:off x="2933293" y="4287947"/>
            <a:ext cx="405313" cy="394996"/>
          </a:xfrm>
          <a:custGeom xmlns:a="http://schemas.openxmlformats.org/drawingml/2006/main">
            <a:rect l="l" t="t" r="r" b="b"/>
            <a:pathLst>
              <a:path w="405313" h="394996">
                <a:moveTo>
                  <a:pt x="0" y="0"/>
                </a:moveTo>
                <a:lnTo>
                  <a:pt x="405314" y="0"/>
                </a:lnTo>
                <a:lnTo>
                  <a:pt x="405314" y="394996"/>
                </a:lnTo>
                <a:lnTo>
                  <a:pt x="0" y="394996"/>
                </a:lnTo>
                <a:lnTo>
                  <a:pt x="0" y="0"/>
                </a:lnTo>
                <a:close/>
              </a:path>
            </a:pathLst>
          </a:custGeom>
          <a:blipFill xmlns:a="http://schemas.openxmlformats.org/drawingml/2006/main">
            <a:blip xmlns:r="http://schemas.openxmlformats.org/officeDocument/2006/relationships" r:embed="R30a37da9fadf4870">
              <a:extLst>
                <a:ext uri="{96DAC541-7B7A-43D3-8B79-37D633B846F1}">
                  <asvg:svgBlip xmlns:asvg="http://schemas.microsoft.com/office/drawing/2016/SVG/main" r:embed="R85e8d0a675cc426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6" name="TextBox 6">
            <a:extLst xmlns:a="http://schemas.openxmlformats.org/drawingml/2006/main">
              <a:ext uri="{FF2B5EF4-FFF2-40B4-BE49-F238E27FC236}">
                <a16:creationId xmlns:a16="http://schemas.microsoft.com/office/drawing/2014/main" id="{A1BE41AA-72DC-4459-9716-4C2CB5E78AA3}"/>
              </a:ext>
            </a:extLst>
          </p:cNvPr>
          <p:cNvSpPr>
            <a:spLocks xmlns:a="http://schemas.openxmlformats.org/drawingml/2006/main" noGrp="1"/>
          </p:cNvSpPr>
          <p:nvPr/>
        </p:nvSpPr>
        <p:spPr>
          <a:xfrm xmlns:a="http://schemas.openxmlformats.org/drawingml/2006/main" rot="0">
            <a:off x="3831365" y="7769225"/>
            <a:ext cx="4011474" cy="9313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200" b="0">
                <a:solidFill>
                  <a:srgbClr val="1F2937"/>
                </a:solidFill>
                <a:latin typeface="Segoe UI"/>
                <a:ea typeface="Segoe UI"/>
                <a:cs typeface="Segoe UI"/>
              </a:rPr>
              <a:t>Chưa đo tải bằng môi trường production.</a:t>
            </a:r>
          </a:p>
          <a:p xmlns:a="http://schemas.openxmlformats.org/drawingml/2006/main">
            <a:r>
              <a:rPr sz="1200" b="0">
                <a:solidFill>
                  <a:srgbClr val="1F2937"/>
                </a:solidFill>
                <a:latin typeface="Segoe UI"/>
                <a:ea typeface="Segoe UI"/>
                <a:cs typeface="Segoe UI"/>
              </a:rPr>
              <a:t>Thanh toán đang ở sandbox.</a:t>
            </a:r>
          </a:p>
          <a:p xmlns:a="http://schemas.openxmlformats.org/drawingml/2006/main">
            <a:r>
              <a:rPr sz="1200" b="0">
                <a:solidFill>
                  <a:srgbClr val="1F2937"/>
                </a:solidFill>
                <a:latin typeface="Segoe UI"/>
                <a:ea typeface="Segoe UI"/>
                <a:cs typeface="Segoe UI"/>
              </a:rPr>
              <a:t>Chưa có ứng dụng mobile native.</a:t>
            </a:r>
          </a:p>
        </p:txBody>
      </p:sp>
      <p:sp>
        <p:nvSpPr>
          <p:cNvPr id="7" name="TextBox 7">
            <a:extLst xmlns:a="http://schemas.openxmlformats.org/drawingml/2006/main">
              <a:ext uri="{FF2B5EF4-FFF2-40B4-BE49-F238E27FC236}">
                <a16:creationId xmlns:a16="http://schemas.microsoft.com/office/drawing/2014/main" id="{6AB3374D-1E6B-4F54-AA67-BED2026F1097}"/>
              </a:ext>
            </a:extLst>
          </p:cNvPr>
          <p:cNvSpPr>
            <a:spLocks xmlns:a="http://schemas.openxmlformats.org/drawingml/2006/main" noGrp="1"/>
          </p:cNvSpPr>
          <p:nvPr/>
        </p:nvSpPr>
        <p:spPr>
          <a:xfrm xmlns:a="http://schemas.openxmlformats.org/drawingml/2006/main" rot="0">
            <a:off x="3831365" y="7123039"/>
            <a:ext cx="4011474" cy="40428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400" b="1">
                <a:solidFill>
                  <a:srgbClr val="0F172A"/>
                </a:solidFill>
                <a:latin typeface="Segoe UI"/>
                <a:ea typeface="Segoe UI"/>
                <a:cs typeface="Segoe UI"/>
              </a:rPr>
              <a:t>HẠN CHẾ</a:t>
            </a:r>
          </a:p>
        </p:txBody>
      </p:sp>
      <p:sp>
        <p:nvSpPr>
          <p:cNvPr id="8" name="Freeform 8">
            <a:extLst xmlns:a="http://schemas.openxmlformats.org/drawingml/2006/main">
              <a:ext uri="{FF2B5EF4-FFF2-40B4-BE49-F238E27FC236}">
                <a16:creationId xmlns:a16="http://schemas.microsoft.com/office/drawing/2014/main" id="{CAFCE727-0E50-4B70-8CA0-3145053D355B}"/>
              </a:ext>
            </a:extLst>
          </p:cNvPr>
          <p:cNvSpPr>
            <a:spLocks xmlns:a="http://schemas.openxmlformats.org/drawingml/2006/main" noGrp="1"/>
          </p:cNvSpPr>
          <p:nvPr/>
        </p:nvSpPr>
        <p:spPr>
          <a:xfrm xmlns:a="http://schemas.openxmlformats.org/drawingml/2006/main" rot="0" flipH="0" flipV="0">
            <a:off x="2933293" y="7225579"/>
            <a:ext cx="405313" cy="394996"/>
          </a:xfrm>
          <a:custGeom xmlns:a="http://schemas.openxmlformats.org/drawingml/2006/main">
            <a:rect l="l" t="t" r="r" b="b"/>
            <a:pathLst>
              <a:path w="405313" h="394996">
                <a:moveTo>
                  <a:pt x="0" y="0"/>
                </a:moveTo>
                <a:lnTo>
                  <a:pt x="405314" y="0"/>
                </a:lnTo>
                <a:lnTo>
                  <a:pt x="405314" y="394996"/>
                </a:lnTo>
                <a:lnTo>
                  <a:pt x="0" y="394996"/>
                </a:lnTo>
                <a:lnTo>
                  <a:pt x="0" y="0"/>
                </a:lnTo>
                <a:close/>
              </a:path>
            </a:pathLst>
          </a:custGeom>
          <a:blipFill xmlns:a="http://schemas.openxmlformats.org/drawingml/2006/main">
            <a:blip xmlns:r="http://schemas.openxmlformats.org/officeDocument/2006/relationships" r:embed="R30a37da9fadf4870">
              <a:extLst>
                <a:ext uri="{96DAC541-7B7A-43D3-8B79-37D633B846F1}">
                  <asvg:svgBlip xmlns:asvg="http://schemas.microsoft.com/office/drawing/2016/SVG/main" r:embed="R85e8d0a675cc426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9" name="TextBox 9">
            <a:extLst xmlns:a="http://schemas.openxmlformats.org/drawingml/2006/main">
              <a:ext uri="{FF2B5EF4-FFF2-40B4-BE49-F238E27FC236}">
                <a16:creationId xmlns:a16="http://schemas.microsoft.com/office/drawing/2014/main" id="{351C6705-45A0-4193-A160-7CCC14B515AC}"/>
              </a:ext>
            </a:extLst>
          </p:cNvPr>
          <p:cNvSpPr>
            <a:spLocks xmlns:a="http://schemas.openxmlformats.org/drawingml/2006/main" noGrp="1"/>
          </p:cNvSpPr>
          <p:nvPr/>
        </p:nvSpPr>
        <p:spPr>
          <a:xfrm xmlns:a="http://schemas.openxmlformats.org/drawingml/2006/main" rot="0">
            <a:off x="11343232" y="4831593"/>
            <a:ext cx="4011474" cy="9313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200" b="0">
                <a:solidFill>
                  <a:srgbClr val="1F2937"/>
                </a:solidFill>
                <a:latin typeface="Segoe UI"/>
                <a:ea typeface="Segoe UI"/>
                <a:cs typeface="Segoe UI"/>
              </a:rPr>
              <a:t>Redis/queue cho tải lớn.</a:t>
            </a:r>
          </a:p>
          <a:p xmlns:a="http://schemas.openxmlformats.org/drawingml/2006/main">
            <a:r>
              <a:rPr sz="1200" b="0">
                <a:solidFill>
                  <a:srgbClr val="1F2937"/>
                </a:solidFill>
                <a:latin typeface="Segoe UI"/>
                <a:ea typeface="Segoe UI"/>
                <a:cs typeface="Segoe UI"/>
              </a:rPr>
              <a:t>Ứng dụng mobile và quét QR offline.</a:t>
            </a:r>
          </a:p>
          <a:p xmlns:a="http://schemas.openxmlformats.org/drawingml/2006/main">
            <a:r>
              <a:rPr sz="1200" b="0">
                <a:solidFill>
                  <a:srgbClr val="1F2937"/>
                </a:solidFill>
                <a:latin typeface="Segoe UI"/>
                <a:ea typeface="Segoe UI"/>
                <a:cs typeface="Segoe UI"/>
              </a:rPr>
              <a:t>Gợi ý sự kiện và giám sát nâng cao.</a:t>
            </a:r>
          </a:p>
        </p:txBody>
      </p:sp>
      <p:sp>
        <p:nvSpPr>
          <p:cNvPr id="10" name="TextBox 10">
            <a:extLst xmlns:a="http://schemas.openxmlformats.org/drawingml/2006/main">
              <a:ext uri="{FF2B5EF4-FFF2-40B4-BE49-F238E27FC236}">
                <a16:creationId xmlns:a16="http://schemas.microsoft.com/office/drawing/2014/main" id="{78B92BB4-7075-492B-B92E-14ACCAA5016C}"/>
              </a:ext>
            </a:extLst>
          </p:cNvPr>
          <p:cNvSpPr>
            <a:spLocks xmlns:a="http://schemas.openxmlformats.org/drawingml/2006/main" noGrp="1"/>
          </p:cNvSpPr>
          <p:nvPr/>
        </p:nvSpPr>
        <p:spPr>
          <a:xfrm xmlns:a="http://schemas.openxmlformats.org/drawingml/2006/main" rot="0">
            <a:off x="11343232" y="4185407"/>
            <a:ext cx="4011474" cy="40428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400" b="1">
                <a:solidFill>
                  <a:srgbClr val="0F172A"/>
                </a:solidFill>
                <a:latin typeface="Segoe UI"/>
                <a:ea typeface="Segoe UI"/>
                <a:cs typeface="Segoe UI"/>
              </a:rPr>
              <a:t>HƯỚNG PHÁT TRIỂN</a:t>
            </a:r>
          </a:p>
        </p:txBody>
      </p:sp>
      <p:sp>
        <p:nvSpPr>
          <p:cNvPr id="11" name="Freeform 11">
            <a:extLst xmlns:a="http://schemas.openxmlformats.org/drawingml/2006/main">
              <a:ext uri="{FF2B5EF4-FFF2-40B4-BE49-F238E27FC236}">
                <a16:creationId xmlns:a16="http://schemas.microsoft.com/office/drawing/2014/main" id="{64D86857-BD73-47FD-A724-6342EA5C18FD}"/>
              </a:ext>
            </a:extLst>
          </p:cNvPr>
          <p:cNvSpPr>
            <a:spLocks xmlns:a="http://schemas.openxmlformats.org/drawingml/2006/main" noGrp="1"/>
          </p:cNvSpPr>
          <p:nvPr/>
        </p:nvSpPr>
        <p:spPr>
          <a:xfrm xmlns:a="http://schemas.openxmlformats.org/drawingml/2006/main" rot="0" flipH="0" flipV="0">
            <a:off x="10445161" y="4287947"/>
            <a:ext cx="405313" cy="394996"/>
          </a:xfrm>
          <a:custGeom xmlns:a="http://schemas.openxmlformats.org/drawingml/2006/main">
            <a:rect l="l" t="t" r="r" b="b"/>
            <a:pathLst>
              <a:path w="405313" h="394996">
                <a:moveTo>
                  <a:pt x="0" y="0"/>
                </a:moveTo>
                <a:lnTo>
                  <a:pt x="405313" y="0"/>
                </a:lnTo>
                <a:lnTo>
                  <a:pt x="405313" y="394996"/>
                </a:lnTo>
                <a:lnTo>
                  <a:pt x="0" y="394996"/>
                </a:lnTo>
                <a:lnTo>
                  <a:pt x="0" y="0"/>
                </a:lnTo>
                <a:close/>
              </a:path>
            </a:pathLst>
          </a:custGeom>
          <a:blipFill xmlns:a="http://schemas.openxmlformats.org/drawingml/2006/main">
            <a:blip xmlns:r="http://schemas.openxmlformats.org/officeDocument/2006/relationships" r:embed="R30a37da9fadf4870">
              <a:extLst>
                <a:ext uri="{96DAC541-7B7A-43D3-8B79-37D633B846F1}">
                  <asvg:svgBlip xmlns:asvg="http://schemas.microsoft.com/office/drawing/2016/SVG/main" r:embed="R85e8d0a675cc426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5533B2D5-5D43-493F-AC0A-AC0EF6A1F58A}"/>
              </a:ext>
            </a:extLst>
          </p:cNvPr>
          <p:cNvSpPr>
            <a:spLocks xmlns:a="http://schemas.openxmlformats.org/drawingml/2006/main" noGrp="1"/>
          </p:cNvSpPr>
          <p:nvPr/>
        </p:nvSpPr>
        <p:spPr>
          <a:xfrm xmlns:a="http://schemas.openxmlformats.org/drawingml/2006/main" rot="0">
            <a:off x="11343232" y="7769225"/>
            <a:ext cx="4011474" cy="9313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200" b="0">
                <a:solidFill>
                  <a:srgbClr val="1F2937"/>
                </a:solidFill>
                <a:latin typeface="Segoe UI"/>
                <a:ea typeface="Segoe UI"/>
                <a:cs typeface="Segoe UI"/>
              </a:rPr>
              <a:t>WuangEvents đáp ứng quy trình cốt lõi, bảo vệ dữ liệu giao dịch và có thể tiếp tục mở rộng.</a:t>
            </a:r>
          </a:p>
        </p:txBody>
      </p:sp>
      <p:sp>
        <p:nvSpPr>
          <p:cNvPr id="13" name="TextBox 13">
            <a:extLst xmlns:a="http://schemas.openxmlformats.org/drawingml/2006/main">
              <a:ext uri="{FF2B5EF4-FFF2-40B4-BE49-F238E27FC236}">
                <a16:creationId xmlns:a16="http://schemas.microsoft.com/office/drawing/2014/main" id="{172EFAE2-BCDA-4060-B1EF-B01D2CC40DB9}"/>
              </a:ext>
            </a:extLst>
          </p:cNvPr>
          <p:cNvSpPr>
            <a:spLocks xmlns:a="http://schemas.openxmlformats.org/drawingml/2006/main" noGrp="1"/>
          </p:cNvSpPr>
          <p:nvPr/>
        </p:nvSpPr>
        <p:spPr>
          <a:xfrm xmlns:a="http://schemas.openxmlformats.org/drawingml/2006/main" rot="0">
            <a:off x="11343232" y="7123039"/>
            <a:ext cx="4011474" cy="40428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r>
              <a:rPr sz="1400" b="1">
                <a:solidFill>
                  <a:srgbClr val="0F172A"/>
                </a:solidFill>
                <a:latin typeface="Segoe UI"/>
                <a:ea typeface="Segoe UI"/>
                <a:cs typeface="Segoe UI"/>
              </a:rPr>
              <a:t>KẾT LUẬN</a:t>
            </a:r>
          </a:p>
        </p:txBody>
      </p:sp>
      <p:sp>
        <p:nvSpPr>
          <p:cNvPr id="14" name="Freeform 14">
            <a:extLst xmlns:a="http://schemas.openxmlformats.org/drawingml/2006/main">
              <a:ext uri="{FF2B5EF4-FFF2-40B4-BE49-F238E27FC236}">
                <a16:creationId xmlns:a16="http://schemas.microsoft.com/office/drawing/2014/main" id="{6DD50A12-7E46-4A30-A377-4767D3F1E0EC}"/>
              </a:ext>
            </a:extLst>
          </p:cNvPr>
          <p:cNvSpPr>
            <a:spLocks xmlns:a="http://schemas.openxmlformats.org/drawingml/2006/main" noGrp="1"/>
          </p:cNvSpPr>
          <p:nvPr/>
        </p:nvSpPr>
        <p:spPr>
          <a:xfrm xmlns:a="http://schemas.openxmlformats.org/drawingml/2006/main" rot="0" flipH="0" flipV="0">
            <a:off x="10445161" y="7225579"/>
            <a:ext cx="405313" cy="394996"/>
          </a:xfrm>
          <a:custGeom xmlns:a="http://schemas.openxmlformats.org/drawingml/2006/main">
            <a:rect l="l" t="t" r="r" b="b"/>
            <a:pathLst>
              <a:path w="405313" h="394996">
                <a:moveTo>
                  <a:pt x="0" y="0"/>
                </a:moveTo>
                <a:lnTo>
                  <a:pt x="405313" y="0"/>
                </a:lnTo>
                <a:lnTo>
                  <a:pt x="405313" y="394996"/>
                </a:lnTo>
                <a:lnTo>
                  <a:pt x="0" y="394996"/>
                </a:lnTo>
                <a:lnTo>
                  <a:pt x="0" y="0"/>
                </a:lnTo>
                <a:close/>
              </a:path>
            </a:pathLst>
          </a:custGeom>
          <a:blipFill xmlns:a="http://schemas.openxmlformats.org/drawingml/2006/main">
            <a:blip xmlns:r="http://schemas.openxmlformats.org/officeDocument/2006/relationships" r:embed="R30a37da9fadf4870">
              <a:extLst>
                <a:ext uri="{96DAC541-7B7A-43D3-8B79-37D633B846F1}">
                  <asvg:svgBlip xmlns:asvg="http://schemas.microsoft.com/office/drawing/2016/SVG/main" r:embed="R85e8d0a675cc426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5" name="TextBox 14">
            <a:extLst xmlns:a="http://schemas.openxmlformats.org/drawingml/2006/main">
              <a:ext uri="{FF2B5EF4-FFF2-40B4-BE49-F238E27FC236}">
                <a16:creationId xmlns:a16="http://schemas.microsoft.com/office/drawing/2014/main" id="{63239320-AD48-4D23-926C-9957D0383810}"/>
              </a:ext>
            </a:extLst>
          </p:cNvPr>
          <p:cNvSpPr>
            <a:spLocks xmlns:a="http://schemas.openxmlformats.org/drawingml/2006/main" noGrp="1"/>
          </p:cNvSpPr>
          <p:nvPr/>
        </p:nvSpPr>
        <p:spPr>
          <a:xfrm xmlns:a="http://schemas.openxmlformats.org/drawingml/2006/main">
            <a:off x="731520" y="457200"/>
            <a:ext cx="10515600" cy="1005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600" b="1">
                <a:solidFill>
                  <a:srgbClr val="0F172A"/>
                </a:solidFill>
                <a:latin typeface="Segoe UI"/>
                <a:ea typeface="Segoe UI"/>
                <a:cs typeface="Segoe UI"/>
              </a:rPr>
              <a:t>8. KẾT LUẬN</a:t>
            </a:r>
          </a:p>
          <a:p xmlns:a="http://schemas.openxmlformats.org/drawingml/2006/main">
            <a:r>
              <a:rPr sz="1400">
                <a:solidFill>
                  <a:srgbClr val="64748B"/>
                </a:solidFill>
                <a:latin typeface="Segoe UI"/>
                <a:ea typeface="Segoe UI"/>
                <a:cs typeface="Segoe UI"/>
              </a:rPr>
              <a:t>Đối sánh mục tiêu, hạn chế và định hướng phát triển</a:t>
            </a:r>
          </a:p>
        </p:txBody>
      </p:sp>
    </p:spTree>
    <p:extLst>
      <p:ext uri="{BB962C8B-B14F-4D97-AF65-F5344CB8AC3E}">
        <p14:creationId xmlns:p14="http://schemas.microsoft.com/office/powerpoint/2010/main" val="82828706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043E4897-7BA2-4382-B08C-689549BBD121}"/>
              </a:ext>
            </a:extLst>
          </p:cNvPr>
          <p:cNvSpPr>
            <a:spLocks xmlns:a="http://schemas.openxmlformats.org/drawingml/2006/main" noGrp="1"/>
          </p:cNvSpPr>
          <p:nvPr/>
        </p:nvSpPr>
        <p:spPr>
          <a:xfrm xmlns:a="http://schemas.openxmlformats.org/drawingml/2006/main">
            <a:off x="731520" y="2011680"/>
            <a:ext cx="10515600" cy="3200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r>
              <a:rPr sz="2400" b="1">
                <a:solidFill>
                  <a:srgbClr val="0F172A"/>
                </a:solidFill>
                <a:latin typeface="Segoe UI"/>
                <a:ea typeface="Segoe UI"/>
                <a:cs typeface="Segoe UI"/>
              </a:rPr>
              <a:t>XIN CHÂN THÀNH CẢM ƠN QUÝ THẦY CÔ TRONG HỘI ĐỒNG ĐÃ LẮNG NGHE!</a:t>
            </a:r>
          </a:p>
          <a:p xmlns:a="http://schemas.openxmlformats.org/drawingml/2006/main">
            <a:pPr algn="ctr"/>
            <a:r>
              <a:rPr sz="2000" b="1">
                <a:solidFill>
                  <a:srgbClr val="2563EB"/>
                </a:solidFill>
                <a:latin typeface="Segoe UI"/>
                <a:ea typeface="Segoe UI"/>
                <a:cs typeface="Segoe UI"/>
              </a:rPr>
              <a:t>EM XIN SẴN SÀNG TRÌNH BÀY PHẦN DEMO VÀ TRẢ LỜI CÂU HỎI</a:t>
            </a:r>
          </a:p>
        </p:txBody>
      </p:sp>
    </p:spTree>
    <p:extLst>
      <p:ext uri="{BB962C8B-B14F-4D97-AF65-F5344CB8AC3E}">
        <p14:creationId xmlns:p14="http://schemas.microsoft.com/office/powerpoint/2010/main" val="104545164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2026-08-10T08:16:28.5980000Z</dcterms:created>
  <dcterms:modified xsi:type="dcterms:W3CDTF">2026-08-10T08:16:28.5980000Z</dcterms:modified>
</coreProperties>
</file>