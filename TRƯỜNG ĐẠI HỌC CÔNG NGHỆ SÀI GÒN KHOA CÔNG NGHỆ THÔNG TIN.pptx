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Be Vietnam Ultra-Bold" charset="1" panose="00000900000000000000"/>
      <p:regular r:id="rId21"/>
    </p:embeddedFont>
    <p:embeddedFont>
      <p:font typeface="Montserrat Bold" charset="1" panose="00000800000000000000"/>
      <p:regular r:id="rId22"/>
    </p:embeddedFont>
    <p:embeddedFont>
      <p:font typeface="Be Vietnam" charset="1" panose="0000050000000000000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font" Target="fonts/font21.fntdata"/><Relationship Id="rId22" Type="http://schemas.openxmlformats.org/officeDocument/2006/relationships/font" Target="fonts/font22.fntdata"/><Relationship Id="rId23" Type="http://schemas.openxmlformats.org/officeDocument/2006/relationships/font" Target="fonts/font23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3850" cy="10287000"/>
            <a:chOff x="0" y="0"/>
            <a:chExt cx="4318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18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431800">
                  <a:moveTo>
                    <a:pt x="0" y="0"/>
                  </a:moveTo>
                  <a:lnTo>
                    <a:pt x="431800" y="0"/>
                  </a:lnTo>
                  <a:lnTo>
                    <a:pt x="4318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AA198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318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620750" y="1238250"/>
            <a:ext cx="3143250" cy="3143250"/>
            <a:chOff x="0" y="0"/>
            <a:chExt cx="4191000" cy="4191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191000" cy="4191000"/>
            </a:xfrm>
            <a:custGeom>
              <a:avLst/>
              <a:gdLst/>
              <a:ahLst/>
              <a:cxnLst/>
              <a:rect r="r" b="b" t="t" l="l"/>
              <a:pathLst>
                <a:path h="4191000" w="4191000">
                  <a:moveTo>
                    <a:pt x="0" y="0"/>
                  </a:moveTo>
                  <a:lnTo>
                    <a:pt x="4191000" y="0"/>
                  </a:lnTo>
                  <a:lnTo>
                    <a:pt x="4191000" y="4191000"/>
                  </a:lnTo>
                  <a:lnTo>
                    <a:pt x="0" y="4191000"/>
                  </a:lnTo>
                  <a:close/>
                </a:path>
              </a:pathLst>
            </a:custGeom>
            <a:solidFill>
              <a:srgbClr val="EEF5F6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191000" cy="422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143000" y="819150"/>
            <a:ext cx="8572500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144" b="true">
                <a:solidFill>
                  <a:srgbClr val="176B87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TRƯỜNG ĐẠI HỌC CÔNG NGHỆ SÀI GÒN</a:t>
            </a:r>
          </a:p>
          <a:p>
            <a:pPr algn="l">
              <a:lnSpc>
                <a:spcPts val="2520"/>
              </a:lnSpc>
            </a:pPr>
            <a:r>
              <a:rPr lang="en-US" sz="1800" spc="144" b="true">
                <a:solidFill>
                  <a:srgbClr val="176B87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KHOA CÔNG NGHỆ THÔNG TIN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43000" y="2438400"/>
            <a:ext cx="8572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32" b="true">
                <a:solidFill>
                  <a:srgbClr val="176B87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LUẬN VĂN TỐT NGHIỆP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43000" y="3095625"/>
            <a:ext cx="11811000" cy="1491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5250" b="true">
                <a:solidFill>
                  <a:srgbClr val="13233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XÂY DỰNG ỨNG DỤNG</a:t>
            </a:r>
          </a:p>
          <a:p>
            <a:pPr algn="l">
              <a:lnSpc>
                <a:spcPts val="5880"/>
              </a:lnSpc>
            </a:pPr>
            <a:r>
              <a:rPr lang="en-US" sz="5250" b="true">
                <a:solidFill>
                  <a:srgbClr val="13233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QUẢN LÝ SỰ KIỆN TRỰC TUYẾN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43000" y="6400800"/>
            <a:ext cx="9334500" cy="1018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202B35"/>
                </a:solidFill>
                <a:latin typeface="Be Vietnam"/>
                <a:ea typeface="Be Vietnam"/>
                <a:cs typeface="Be Vietnam"/>
                <a:sym typeface="Be Vietnam"/>
              </a:rPr>
              <a:t>Sinh viên: Nguyễn Vinh Quang</a:t>
            </a:r>
          </a:p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202B35"/>
                </a:solidFill>
                <a:latin typeface="Be Vietnam"/>
                <a:ea typeface="Be Vietnam"/>
                <a:cs typeface="Be Vietnam"/>
                <a:sym typeface="Be Vietnam"/>
              </a:rPr>
              <a:t>MSSV: DH52201310   •   Lớp: D22-TH05</a:t>
            </a:r>
          </a:p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202B35"/>
                </a:solidFill>
                <a:latin typeface="Be Vietnam"/>
                <a:ea typeface="Be Vietnam"/>
                <a:cs typeface="Be Vietnam"/>
                <a:sym typeface="Be Vietnam"/>
              </a:rPr>
              <a:t>Giảng viên hướng dẫn: ThS.Nguyễn Thanh Tùng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192250" y="1885950"/>
            <a:ext cx="2000250" cy="1226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0"/>
              </a:lnSpc>
            </a:pPr>
            <a:r>
              <a:rPr lang="en-US" sz="7200" b="true">
                <a:solidFill>
                  <a:srgbClr val="13233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001750" y="3152775"/>
            <a:ext cx="238125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b="true" sz="1500" spc="120">
                <a:solidFill>
                  <a:srgbClr val="176B87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LỊCH SỰ KIỆN</a:t>
            </a:r>
          </a:p>
        </p:txBody>
      </p:sp>
      <p:sp>
        <p:nvSpPr>
          <p:cNvPr name="AutoShape 14" id="14"/>
          <p:cNvSpPr/>
          <p:nvPr/>
        </p:nvSpPr>
        <p:spPr>
          <a:xfrm>
            <a:off x="914400" y="9620250"/>
            <a:ext cx="16459200" cy="0"/>
          </a:xfrm>
          <a:prstGeom prst="line">
            <a:avLst/>
          </a:prstGeom>
          <a:ln cap="flat" w="9525">
            <a:solidFill>
              <a:srgbClr val="CBD7D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5" id="15"/>
          <p:cNvSpPr txBox="true"/>
          <p:nvPr/>
        </p:nvSpPr>
        <p:spPr>
          <a:xfrm rot="0">
            <a:off x="914400" y="9801225"/>
            <a:ext cx="13811250" cy="202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7"/>
              </a:lnSpc>
            </a:pPr>
            <a:r>
              <a:rPr lang="en-US" sz="1275">
                <a:solidFill>
                  <a:srgbClr val="5D6B75"/>
                </a:solidFill>
                <a:latin typeface="Be Vietnam"/>
                <a:ea typeface="Be Vietnam"/>
                <a:cs typeface="Be Vietnam"/>
                <a:sym typeface="Be Vietnam"/>
              </a:rPr>
              <a:t>Xây dựng ứng dụng quản lý sự kiện trực tuyến – Nguyễn Vinh Quang – DH52201310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716375" y="9801225"/>
            <a:ext cx="666750" cy="202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57"/>
              </a:lnSpc>
            </a:pPr>
            <a:r>
              <a:rPr lang="en-US" sz="1275">
                <a:solidFill>
                  <a:srgbClr val="5D6B75"/>
                </a:solidFill>
                <a:latin typeface="Be Vietnam"/>
                <a:ea typeface="Be Vietnam"/>
                <a:cs typeface="Be Vietnam"/>
                <a:sym typeface="Be Vietnam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76250"/>
            <a:ext cx="85725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20" b="true">
                <a:solidFill>
                  <a:srgbClr val="176B87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WUANGEVENTS  •  02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933450"/>
            <a:ext cx="14287500" cy="574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6"/>
              </a:lnSpc>
            </a:pPr>
            <a:r>
              <a:rPr lang="en-US" sz="4050" b="true">
                <a:solidFill>
                  <a:srgbClr val="13233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MỤC TIÊU ĐỀ TÀI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14400" y="1638300"/>
            <a:ext cx="781050" cy="57150"/>
            <a:chOff x="0" y="0"/>
            <a:chExt cx="1041400" cy="76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41400" cy="76200"/>
            </a:xfrm>
            <a:custGeom>
              <a:avLst/>
              <a:gdLst/>
              <a:ahLst/>
              <a:cxnLst/>
              <a:rect r="r" b="b" t="t" l="l"/>
              <a:pathLst>
                <a:path h="76200" w="1041400">
                  <a:moveTo>
                    <a:pt x="0" y="0"/>
                  </a:moveTo>
                  <a:lnTo>
                    <a:pt x="1041400" y="0"/>
                  </a:lnTo>
                  <a:lnTo>
                    <a:pt x="10414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2AA198"/>
            </a:solidFill>
            <a:ln cap="sq">
              <a:noFill/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041400" cy="114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2190750"/>
            <a:ext cx="7772400" cy="1952625"/>
            <a:chOff x="0" y="0"/>
            <a:chExt cx="10363200" cy="2603500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10363200" cy="2603500"/>
              <a:chOff x="0" y="0"/>
              <a:chExt cx="10363200" cy="26035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0363200" cy="2603500"/>
              </a:xfrm>
              <a:custGeom>
                <a:avLst/>
                <a:gdLst/>
                <a:ahLst/>
                <a:cxnLst/>
                <a:rect r="r" b="b" t="t" l="l"/>
                <a:pathLst>
                  <a:path h="2603500" w="10363200">
                    <a:moveTo>
                      <a:pt x="0" y="0"/>
                    </a:moveTo>
                    <a:lnTo>
                      <a:pt x="10363200" y="0"/>
                    </a:lnTo>
                    <a:lnTo>
                      <a:pt x="10363200" y="2603500"/>
                    </a:lnTo>
                    <a:lnTo>
                      <a:pt x="0" y="2603500"/>
                    </a:lnTo>
                    <a:close/>
                  </a:path>
                </a:pathLst>
              </a:custGeom>
              <a:solidFill>
                <a:srgbClr val="F6F8F9"/>
              </a:solidFill>
              <a:ln w="9525" cap="sq">
                <a:solidFill>
                  <a:srgbClr val="CBD7DC"/>
                </a:solidFill>
                <a:prstDash val="solid"/>
                <a:miter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10363200" cy="2641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0">
              <a:off x="0" y="0"/>
              <a:ext cx="101600" cy="2603500"/>
              <a:chOff x="0" y="0"/>
              <a:chExt cx="101600" cy="26035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01600" cy="2603500"/>
              </a:xfrm>
              <a:custGeom>
                <a:avLst/>
                <a:gdLst/>
                <a:ahLst/>
                <a:cxnLst/>
                <a:rect r="r" b="b" t="t" l="l"/>
                <a:pathLst>
                  <a:path h="2603500" w="101600">
                    <a:moveTo>
                      <a:pt x="0" y="0"/>
                    </a:moveTo>
                    <a:lnTo>
                      <a:pt x="101600" y="0"/>
                    </a:lnTo>
                    <a:lnTo>
                      <a:pt x="101600" y="2603500"/>
                    </a:lnTo>
                    <a:lnTo>
                      <a:pt x="0" y="2603500"/>
                    </a:lnTo>
                    <a:close/>
                  </a:path>
                </a:pathLst>
              </a:custGeom>
              <a:solidFill>
                <a:srgbClr val="2AA19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101600" cy="2641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431800" y="365125"/>
              <a:ext cx="9499600" cy="414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15"/>
                </a:lnSpc>
              </a:pPr>
              <a:r>
                <a:rPr lang="en-US" sz="2100" b="true">
                  <a:solidFill>
                    <a:srgbClr val="13233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KHÁCH HÀNG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431800" y="1012825"/>
              <a:ext cx="9499600" cy="3784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>
                <a:defRPr sz="1300"/>
              </a:pPr>
              <a:r>
                <a:t>Số hóa trải nghiệm mua vé: Tìm kiếm, chọn vé thường/sơ đồ ghế, áp mã giảm giá, thanh toán 3 cổng &amp; nhận vé QR.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144000" y="2190750"/>
            <a:ext cx="7772400" cy="1952625"/>
            <a:chOff x="0" y="0"/>
            <a:chExt cx="10363200" cy="2603500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10363200" cy="2603500"/>
              <a:chOff x="0" y="0"/>
              <a:chExt cx="10363200" cy="26035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0363200" cy="2603500"/>
              </a:xfrm>
              <a:custGeom>
                <a:avLst/>
                <a:gdLst/>
                <a:ahLst/>
                <a:cxnLst/>
                <a:rect r="r" b="b" t="t" l="l"/>
                <a:pathLst>
                  <a:path h="2603500" w="10363200">
                    <a:moveTo>
                      <a:pt x="0" y="0"/>
                    </a:moveTo>
                    <a:lnTo>
                      <a:pt x="10363200" y="0"/>
                    </a:lnTo>
                    <a:lnTo>
                      <a:pt x="10363200" y="2603500"/>
                    </a:lnTo>
                    <a:lnTo>
                      <a:pt x="0" y="2603500"/>
                    </a:lnTo>
                    <a:close/>
                  </a:path>
                </a:pathLst>
              </a:custGeom>
              <a:solidFill>
                <a:srgbClr val="F6F8F9"/>
              </a:solidFill>
              <a:ln w="9525" cap="sq">
                <a:solidFill>
                  <a:srgbClr val="CBD7DC"/>
                </a:solidFill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10363200" cy="2641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0">
              <a:off x="0" y="0"/>
              <a:ext cx="101600" cy="2603500"/>
              <a:chOff x="0" y="0"/>
              <a:chExt cx="101600" cy="26035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101600" cy="2603500"/>
              </a:xfrm>
              <a:custGeom>
                <a:avLst/>
                <a:gdLst/>
                <a:ahLst/>
                <a:cxnLst/>
                <a:rect r="r" b="b" t="t" l="l"/>
                <a:pathLst>
                  <a:path h="2603500" w="101600">
                    <a:moveTo>
                      <a:pt x="0" y="0"/>
                    </a:moveTo>
                    <a:lnTo>
                      <a:pt x="101600" y="0"/>
                    </a:lnTo>
                    <a:lnTo>
                      <a:pt x="101600" y="2603500"/>
                    </a:lnTo>
                    <a:lnTo>
                      <a:pt x="0" y="2603500"/>
                    </a:lnTo>
                    <a:close/>
                  </a:path>
                </a:pathLst>
              </a:custGeom>
              <a:solidFill>
                <a:srgbClr val="2AA19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38100"/>
                <a:ext cx="101600" cy="2641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431800" y="365125"/>
              <a:ext cx="9499600" cy="414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15"/>
                </a:lnSpc>
              </a:pPr>
              <a:r>
                <a:rPr lang="en-US" sz="2100" b="true">
                  <a:solidFill>
                    <a:srgbClr val="13233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BAN TỔ CHỨC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431800" y="1012825"/>
              <a:ext cx="9499600" cy="3784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>
                <a:defRPr sz="1300"/>
              </a:pPr>
              <a:r>
                <a:t>Tự động hóa quản lý vòng đời sự kiện: Tạo vé/ghế, quản lý ưu đãi, phân công staff, xem ví doanh thu &amp; xuất CSV khách.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14400" y="4524375"/>
            <a:ext cx="7772400" cy="1952625"/>
            <a:chOff x="0" y="0"/>
            <a:chExt cx="10363200" cy="2603500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0"/>
              <a:ext cx="10363200" cy="2603500"/>
              <a:chOff x="0" y="0"/>
              <a:chExt cx="10363200" cy="26035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10363200" cy="2603500"/>
              </a:xfrm>
              <a:custGeom>
                <a:avLst/>
                <a:gdLst/>
                <a:ahLst/>
                <a:cxnLst/>
                <a:rect r="r" b="b" t="t" l="l"/>
                <a:pathLst>
                  <a:path h="2603500" w="10363200">
                    <a:moveTo>
                      <a:pt x="0" y="0"/>
                    </a:moveTo>
                    <a:lnTo>
                      <a:pt x="10363200" y="0"/>
                    </a:lnTo>
                    <a:lnTo>
                      <a:pt x="10363200" y="2603500"/>
                    </a:lnTo>
                    <a:lnTo>
                      <a:pt x="0" y="2603500"/>
                    </a:lnTo>
                    <a:close/>
                  </a:path>
                </a:pathLst>
              </a:custGeom>
              <a:solidFill>
                <a:srgbClr val="F6F8F9"/>
              </a:solidFill>
              <a:ln w="9525" cap="sq">
                <a:solidFill>
                  <a:srgbClr val="CBD7DC"/>
                </a:solidFill>
                <a:prstDash val="solid"/>
                <a:miter/>
              </a:ln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38100"/>
                <a:ext cx="10363200" cy="2641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9" id="29"/>
            <p:cNvGrpSpPr/>
            <p:nvPr/>
          </p:nvGrpSpPr>
          <p:grpSpPr>
            <a:xfrm rot="0">
              <a:off x="0" y="0"/>
              <a:ext cx="101600" cy="2603500"/>
              <a:chOff x="0" y="0"/>
              <a:chExt cx="101600" cy="26035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101600" cy="2603500"/>
              </a:xfrm>
              <a:custGeom>
                <a:avLst/>
                <a:gdLst/>
                <a:ahLst/>
                <a:cxnLst/>
                <a:rect r="r" b="b" t="t" l="l"/>
                <a:pathLst>
                  <a:path h="2603500" w="101600">
                    <a:moveTo>
                      <a:pt x="0" y="0"/>
                    </a:moveTo>
                    <a:lnTo>
                      <a:pt x="101600" y="0"/>
                    </a:lnTo>
                    <a:lnTo>
                      <a:pt x="101600" y="2603500"/>
                    </a:lnTo>
                    <a:lnTo>
                      <a:pt x="0" y="2603500"/>
                    </a:lnTo>
                    <a:close/>
                  </a:path>
                </a:pathLst>
              </a:custGeom>
              <a:solidFill>
                <a:srgbClr val="2AA19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38100"/>
                <a:ext cx="101600" cy="2641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2" id="32"/>
            <p:cNvSpPr txBox="true"/>
            <p:nvPr/>
          </p:nvSpPr>
          <p:spPr>
            <a:xfrm rot="0">
              <a:off x="431800" y="365125"/>
              <a:ext cx="9499600" cy="414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15"/>
                </a:lnSpc>
              </a:pPr>
              <a:r>
                <a:rPr lang="en-US" sz="2100" b="true">
                  <a:solidFill>
                    <a:srgbClr val="13233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NHÂN VIÊN SOÁT VÉ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431800" y="1012825"/>
              <a:ext cx="9499600" cy="3784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>
                <a:defRPr sz="1300"/>
              </a:pPr>
              <a:r>
                <a:t>Tối ưu hóa kiểm soát cửa vào: Quét mã QR bằng Web Camera hoặc nhập mã thủ công real-time, ngăn ngừa gian lận check-in.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144000" y="4524375"/>
            <a:ext cx="7772400" cy="1952625"/>
            <a:chOff x="0" y="0"/>
            <a:chExt cx="10363200" cy="2603500"/>
          </a:xfrm>
        </p:grpSpPr>
        <p:grpSp>
          <p:nvGrpSpPr>
            <p:cNvPr name="Group 35" id="35"/>
            <p:cNvGrpSpPr/>
            <p:nvPr/>
          </p:nvGrpSpPr>
          <p:grpSpPr>
            <a:xfrm rot="0">
              <a:off x="0" y="0"/>
              <a:ext cx="10363200" cy="2603500"/>
              <a:chOff x="0" y="0"/>
              <a:chExt cx="10363200" cy="260350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10363200" cy="2603500"/>
              </a:xfrm>
              <a:custGeom>
                <a:avLst/>
                <a:gdLst/>
                <a:ahLst/>
                <a:cxnLst/>
                <a:rect r="r" b="b" t="t" l="l"/>
                <a:pathLst>
                  <a:path h="2603500" w="10363200">
                    <a:moveTo>
                      <a:pt x="0" y="0"/>
                    </a:moveTo>
                    <a:lnTo>
                      <a:pt x="10363200" y="0"/>
                    </a:lnTo>
                    <a:lnTo>
                      <a:pt x="10363200" y="2603500"/>
                    </a:lnTo>
                    <a:lnTo>
                      <a:pt x="0" y="2603500"/>
                    </a:lnTo>
                    <a:close/>
                  </a:path>
                </a:pathLst>
              </a:custGeom>
              <a:solidFill>
                <a:srgbClr val="F6F8F9"/>
              </a:solidFill>
              <a:ln w="9525" cap="sq">
                <a:solidFill>
                  <a:srgbClr val="CBD7DC"/>
                </a:solidFill>
                <a:prstDash val="solid"/>
                <a:miter/>
              </a:ln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-38100"/>
                <a:ext cx="10363200" cy="2641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38" id="38"/>
            <p:cNvGrpSpPr/>
            <p:nvPr/>
          </p:nvGrpSpPr>
          <p:grpSpPr>
            <a:xfrm rot="0">
              <a:off x="0" y="0"/>
              <a:ext cx="101600" cy="2603500"/>
              <a:chOff x="0" y="0"/>
              <a:chExt cx="101600" cy="2603500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101600" cy="2603500"/>
              </a:xfrm>
              <a:custGeom>
                <a:avLst/>
                <a:gdLst/>
                <a:ahLst/>
                <a:cxnLst/>
                <a:rect r="r" b="b" t="t" l="l"/>
                <a:pathLst>
                  <a:path h="2603500" w="101600">
                    <a:moveTo>
                      <a:pt x="0" y="0"/>
                    </a:moveTo>
                    <a:lnTo>
                      <a:pt x="101600" y="0"/>
                    </a:lnTo>
                    <a:lnTo>
                      <a:pt x="101600" y="2603500"/>
                    </a:lnTo>
                    <a:lnTo>
                      <a:pt x="0" y="2603500"/>
                    </a:lnTo>
                    <a:close/>
                  </a:path>
                </a:pathLst>
              </a:custGeom>
              <a:solidFill>
                <a:srgbClr val="2AA19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0" y="-38100"/>
                <a:ext cx="101600" cy="2641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41" id="41"/>
            <p:cNvSpPr txBox="true"/>
            <p:nvPr/>
          </p:nvSpPr>
          <p:spPr>
            <a:xfrm rot="0">
              <a:off x="431800" y="365125"/>
              <a:ext cx="9499600" cy="414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15"/>
                </a:lnSpc>
              </a:pPr>
              <a:r>
                <a:rPr lang="en-US" sz="2100" b="true">
                  <a:solidFill>
                    <a:srgbClr val="13233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QUẢN TRỊ VIÊN</a:t>
              </a:r>
            </a:p>
          </p:txBody>
        </p:sp>
        <p:sp>
          <p:nvSpPr>
            <p:cNvPr name="TextBox 42" id="42"/>
            <p:cNvSpPr txBox="true"/>
            <p:nvPr/>
          </p:nvSpPr>
          <p:spPr>
            <a:xfrm rot="0">
              <a:off x="431800" y="1012825"/>
              <a:ext cx="9499600" cy="3784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>
                <a:defRPr sz="1300"/>
              </a:pPr>
              <a:r>
                <a:t>Kiểm soát an toàn toàn hệ thống: Duyệt hồ sơ Organizer &amp; sự kiện mở bán, quản lý người dùng, giám sát đơn &amp; hoàn tiền.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914400" y="7048500"/>
            <a:ext cx="16002000" cy="1809750"/>
            <a:chOff x="0" y="0"/>
            <a:chExt cx="21336000" cy="2413000"/>
          </a:xfrm>
        </p:grpSpPr>
        <p:grpSp>
          <p:nvGrpSpPr>
            <p:cNvPr name="Group 44" id="44"/>
            <p:cNvGrpSpPr/>
            <p:nvPr/>
          </p:nvGrpSpPr>
          <p:grpSpPr>
            <a:xfrm rot="0">
              <a:off x="0" y="0"/>
              <a:ext cx="21336000" cy="2413000"/>
              <a:chOff x="0" y="0"/>
              <a:chExt cx="21336000" cy="2413000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21336000" cy="2413000"/>
              </a:xfrm>
              <a:custGeom>
                <a:avLst/>
                <a:gdLst/>
                <a:ahLst/>
                <a:cxnLst/>
                <a:rect r="r" b="b" t="t" l="l"/>
                <a:pathLst>
                  <a:path h="2413000" w="21336000">
                    <a:moveTo>
                      <a:pt x="0" y="0"/>
                    </a:moveTo>
                    <a:lnTo>
                      <a:pt x="21336000" y="0"/>
                    </a:lnTo>
                    <a:lnTo>
                      <a:pt x="21336000" y="2413000"/>
                    </a:lnTo>
                    <a:lnTo>
                      <a:pt x="0" y="2413000"/>
                    </a:lnTo>
                    <a:close/>
                  </a:path>
                </a:pathLst>
              </a:custGeom>
              <a:solidFill>
                <a:srgbClr val="F6F8F9"/>
              </a:solidFill>
              <a:ln w="9525" cap="sq">
                <a:solidFill>
                  <a:srgbClr val="CBD7DC"/>
                </a:solidFill>
                <a:prstDash val="solid"/>
                <a:miter/>
              </a:ln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0" y="-38100"/>
                <a:ext cx="21336000" cy="245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47" id="47"/>
            <p:cNvGrpSpPr/>
            <p:nvPr/>
          </p:nvGrpSpPr>
          <p:grpSpPr>
            <a:xfrm rot="0">
              <a:off x="0" y="0"/>
              <a:ext cx="101600" cy="2413000"/>
              <a:chOff x="0" y="0"/>
              <a:chExt cx="101600" cy="2413000"/>
            </a:xfrm>
          </p:grpSpPr>
          <p:sp>
            <p:nvSpPr>
              <p:cNvPr name="Freeform 48" id="48"/>
              <p:cNvSpPr/>
              <p:nvPr/>
            </p:nvSpPr>
            <p:spPr>
              <a:xfrm flipH="false" flipV="false" rot="0">
                <a:off x="0" y="0"/>
                <a:ext cx="101600" cy="2413000"/>
              </a:xfrm>
              <a:custGeom>
                <a:avLst/>
                <a:gdLst/>
                <a:ahLst/>
                <a:cxnLst/>
                <a:rect r="r" b="b" t="t" l="l"/>
                <a:pathLst>
                  <a:path h="2413000" w="101600">
                    <a:moveTo>
                      <a:pt x="0" y="0"/>
                    </a:moveTo>
                    <a:lnTo>
                      <a:pt x="101600" y="0"/>
                    </a:lnTo>
                    <a:lnTo>
                      <a:pt x="101600" y="2413000"/>
                    </a:lnTo>
                    <a:lnTo>
                      <a:pt x="0" y="2413000"/>
                    </a:lnTo>
                    <a:close/>
                  </a:path>
                </a:pathLst>
              </a:custGeom>
              <a:solidFill>
                <a:srgbClr val="176B8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9" id="49"/>
              <p:cNvSpPr txBox="true"/>
              <p:nvPr/>
            </p:nvSpPr>
            <p:spPr>
              <a:xfrm>
                <a:off x="0" y="-38100"/>
                <a:ext cx="101600" cy="245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50" id="50"/>
            <p:cNvSpPr txBox="true"/>
            <p:nvPr/>
          </p:nvSpPr>
          <p:spPr>
            <a:xfrm rot="0">
              <a:off x="431800" y="365125"/>
              <a:ext cx="20472400" cy="414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15"/>
                </a:lnSpc>
              </a:pPr>
              <a:r>
                <a:rPr lang="en-US" sz="2100" b="true">
                  <a:solidFill>
                    <a:srgbClr val="13233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MỤC TIÊU KỸ THUẬT</a:t>
              </a:r>
            </a:p>
          </p:txBody>
        </p:sp>
        <p:sp>
          <p:nvSpPr>
            <p:cNvPr name="TextBox 51" id="51"/>
            <p:cNvSpPr txBox="true"/>
            <p:nvPr/>
          </p:nvSpPr>
          <p:spPr>
            <a:xfrm rot="0">
              <a:off x="431800" y="1012825"/>
              <a:ext cx="20472400" cy="3784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>
                <a:defRPr sz="1300"/>
              </a:pPr>
              <a:r>
                <a:t>Bảo đảm an toàn giao dịch đồng thời (0% Overselling &amp; 0% Double Booking với Khóa bi quan UPDLOCK) • Bảo mật HMAC-SHA256 • Responsive UI.</a:t>
              </a:r>
            </a:p>
          </p:txBody>
        </p:sp>
      </p:grpSp>
      <p:sp>
        <p:nvSpPr>
          <p:cNvPr name="AutoShape 52" id="52"/>
          <p:cNvSpPr/>
          <p:nvPr/>
        </p:nvSpPr>
        <p:spPr>
          <a:xfrm>
            <a:off x="914400" y="9620250"/>
            <a:ext cx="16459200" cy="0"/>
          </a:xfrm>
          <a:prstGeom prst="line">
            <a:avLst/>
          </a:prstGeom>
          <a:ln cap="flat" w="9525">
            <a:solidFill>
              <a:srgbClr val="CBD7D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3" id="53"/>
          <p:cNvSpPr txBox="true"/>
          <p:nvPr/>
        </p:nvSpPr>
        <p:spPr>
          <a:xfrm rot="0">
            <a:off x="914400" y="9801225"/>
            <a:ext cx="13811250" cy="202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7"/>
              </a:lnSpc>
            </a:pPr>
            <a:r>
              <a:rPr lang="en-US" sz="1275">
                <a:solidFill>
                  <a:srgbClr val="5D6B75"/>
                </a:solidFill>
                <a:latin typeface="Be Vietnam"/>
                <a:ea typeface="Be Vietnam"/>
                <a:cs typeface="Be Vietnam"/>
                <a:sym typeface="Be Vietnam"/>
              </a:rPr>
              <a:t>Xây dựng ứng dụng quản lý sự kiện trực tuyến – Nguyễn Vinh Quang – DH52201310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6716375" y="9801225"/>
            <a:ext cx="666750" cy="202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57"/>
              </a:lnSpc>
            </a:pPr>
            <a:r>
              <a:rPr lang="en-US" sz="1275">
                <a:solidFill>
                  <a:srgbClr val="5D6B75"/>
                </a:solidFill>
                <a:latin typeface="Be Vietnam"/>
                <a:ea typeface="Be Vietnam"/>
                <a:cs typeface="Be Vietnam"/>
                <a:sym typeface="Be Vietnam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76250"/>
            <a:ext cx="85725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20" b="true">
                <a:solidFill>
                  <a:srgbClr val="176B87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WUANGEVENTS  •  03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933450"/>
            <a:ext cx="14287500" cy="574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6"/>
              </a:lnSpc>
            </a:pPr>
            <a:r>
              <a:rPr lang="en-US" sz="4050" b="true">
                <a:solidFill>
                  <a:srgbClr val="13233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NỘI DUNG VÀ PHẠM VI THỰC HIỆN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14400" y="1638300"/>
            <a:ext cx="781050" cy="57150"/>
            <a:chOff x="0" y="0"/>
            <a:chExt cx="1041400" cy="76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41400" cy="76200"/>
            </a:xfrm>
            <a:custGeom>
              <a:avLst/>
              <a:gdLst/>
              <a:ahLst/>
              <a:cxnLst/>
              <a:rect r="r" b="b" t="t" l="l"/>
              <a:pathLst>
                <a:path h="76200" w="1041400">
                  <a:moveTo>
                    <a:pt x="0" y="0"/>
                  </a:moveTo>
                  <a:lnTo>
                    <a:pt x="1041400" y="0"/>
                  </a:lnTo>
                  <a:lnTo>
                    <a:pt x="10414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2AA198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041400" cy="114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2190750"/>
            <a:ext cx="7715250" cy="6572250"/>
            <a:chOff x="0" y="0"/>
            <a:chExt cx="10287000" cy="8763000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10287000" cy="8763000"/>
              <a:chOff x="0" y="0"/>
              <a:chExt cx="10287000" cy="87630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0287000" cy="8763000"/>
              </a:xfrm>
              <a:custGeom>
                <a:avLst/>
                <a:gdLst/>
                <a:ahLst/>
                <a:cxnLst/>
                <a:rect r="r" b="b" t="t" l="l"/>
                <a:pathLst>
                  <a:path h="8763000" w="10287000">
                    <a:moveTo>
                      <a:pt x="0" y="0"/>
                    </a:moveTo>
                    <a:lnTo>
                      <a:pt x="10287000" y="0"/>
                    </a:lnTo>
                    <a:lnTo>
                      <a:pt x="10287000" y="8763000"/>
                    </a:lnTo>
                    <a:lnTo>
                      <a:pt x="0" y="8763000"/>
                    </a:lnTo>
                    <a:close/>
                  </a:path>
                </a:pathLst>
              </a:custGeom>
              <a:solidFill>
                <a:srgbClr val="F6F8F9"/>
              </a:solidFill>
              <a:ln w="9525" cap="sq">
                <a:solidFill>
                  <a:srgbClr val="CBD7DC"/>
                </a:solidFill>
                <a:prstDash val="solid"/>
                <a:miter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10287000" cy="880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0">
              <a:off x="0" y="0"/>
              <a:ext cx="101600" cy="8763000"/>
              <a:chOff x="0" y="0"/>
              <a:chExt cx="101600" cy="87630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01600" cy="8763000"/>
              </a:xfrm>
              <a:custGeom>
                <a:avLst/>
                <a:gdLst/>
                <a:ahLst/>
                <a:cxnLst/>
                <a:rect r="r" b="b" t="t" l="l"/>
                <a:pathLst>
                  <a:path h="8763000" w="101600">
                    <a:moveTo>
                      <a:pt x="0" y="0"/>
                    </a:moveTo>
                    <a:lnTo>
                      <a:pt x="101600" y="0"/>
                    </a:lnTo>
                    <a:lnTo>
                      <a:pt x="101600" y="8763000"/>
                    </a:lnTo>
                    <a:lnTo>
                      <a:pt x="0" y="8763000"/>
                    </a:lnTo>
                    <a:close/>
                  </a:path>
                </a:pathLst>
              </a:custGeom>
              <a:solidFill>
                <a:srgbClr val="2AA19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101600" cy="880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431800" y="365125"/>
              <a:ext cx="9423400" cy="414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15"/>
                </a:lnSpc>
              </a:pPr>
              <a:r>
                <a:rPr lang="en-US" sz="2100" b="true">
                  <a:solidFill>
                    <a:srgbClr val="13233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NỘI DUNG THỰC HIỆN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431800" y="1012825"/>
              <a:ext cx="9423400" cy="23469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202B35"/>
                  </a:solidFill>
                  <a:latin typeface="Be Vietnam"/>
                  <a:ea typeface="Be Vietnam"/>
                  <a:cs typeface="Be Vietnam"/>
                  <a:sym typeface="Be Vietnam"/>
                </a:rPr>
                <a:t>• Khảo sát và phân tích yêu cầu</a:t>
              </a:r>
            </a:p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202B35"/>
                  </a:solidFill>
                  <a:latin typeface="Be Vietnam"/>
                  <a:ea typeface="Be Vietnam"/>
                  <a:cs typeface="Be Vietnam"/>
                  <a:sym typeface="Be Vietnam"/>
                </a:rPr>
                <a:t>• Mô hình hóa nghiệp vụ, dữ liệu</a:t>
              </a:r>
            </a:p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202B35"/>
                  </a:solidFill>
                  <a:latin typeface="Be Vietnam"/>
                  <a:ea typeface="Be Vietnam"/>
                  <a:cs typeface="Be Vietnam"/>
                  <a:sym typeface="Be Vietnam"/>
                </a:rPr>
                <a:t>• Thiết kế backend và frontend</a:t>
              </a:r>
            </a:p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202B35"/>
                  </a:solidFill>
                  <a:latin typeface="Be Vietnam"/>
                  <a:ea typeface="Be Vietnam"/>
                  <a:cs typeface="Be Vietnam"/>
                  <a:sym typeface="Be Vietnam"/>
                </a:rPr>
                <a:t>• Xây dựng các quy trình nghiệp vụ</a:t>
              </a:r>
            </a:p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202B35"/>
                  </a:solidFill>
                  <a:latin typeface="Be Vietnam"/>
                  <a:ea typeface="Be Vietnam"/>
                  <a:cs typeface="Be Vietnam"/>
                  <a:sym typeface="Be Vietnam"/>
                </a:rPr>
                <a:t>• Tích hợp thanh toán, email, OAuth, Calendar</a:t>
              </a:r>
            </a:p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202B35"/>
                  </a:solidFill>
                  <a:latin typeface="Be Vietnam"/>
                  <a:ea typeface="Be Vietnam"/>
                  <a:cs typeface="Be Vietnam"/>
                  <a:sym typeface="Be Vietnam"/>
                </a:rPr>
                <a:t>• Thử nghiệm các kịch bản chính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658350" y="2190750"/>
            <a:ext cx="7715250" cy="6572250"/>
            <a:chOff x="0" y="0"/>
            <a:chExt cx="10287000" cy="8763000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10287000" cy="8763000"/>
              <a:chOff x="0" y="0"/>
              <a:chExt cx="10287000" cy="87630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0287000" cy="8763000"/>
              </a:xfrm>
              <a:custGeom>
                <a:avLst/>
                <a:gdLst/>
                <a:ahLst/>
                <a:cxnLst/>
                <a:rect r="r" b="b" t="t" l="l"/>
                <a:pathLst>
                  <a:path h="8763000" w="10287000">
                    <a:moveTo>
                      <a:pt x="0" y="0"/>
                    </a:moveTo>
                    <a:lnTo>
                      <a:pt x="10287000" y="0"/>
                    </a:lnTo>
                    <a:lnTo>
                      <a:pt x="10287000" y="8763000"/>
                    </a:lnTo>
                    <a:lnTo>
                      <a:pt x="0" y="8763000"/>
                    </a:lnTo>
                    <a:close/>
                  </a:path>
                </a:pathLst>
              </a:custGeom>
              <a:solidFill>
                <a:srgbClr val="F6F8F9"/>
              </a:solidFill>
              <a:ln w="9525" cap="sq">
                <a:solidFill>
                  <a:srgbClr val="CBD7DC"/>
                </a:solidFill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10287000" cy="880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0">
              <a:off x="0" y="0"/>
              <a:ext cx="101600" cy="8763000"/>
              <a:chOff x="0" y="0"/>
              <a:chExt cx="101600" cy="87630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101600" cy="8763000"/>
              </a:xfrm>
              <a:custGeom>
                <a:avLst/>
                <a:gdLst/>
                <a:ahLst/>
                <a:cxnLst/>
                <a:rect r="r" b="b" t="t" l="l"/>
                <a:pathLst>
                  <a:path h="8763000" w="101600">
                    <a:moveTo>
                      <a:pt x="0" y="0"/>
                    </a:moveTo>
                    <a:lnTo>
                      <a:pt x="101600" y="0"/>
                    </a:lnTo>
                    <a:lnTo>
                      <a:pt x="101600" y="8763000"/>
                    </a:lnTo>
                    <a:lnTo>
                      <a:pt x="0" y="8763000"/>
                    </a:lnTo>
                    <a:close/>
                  </a:path>
                </a:pathLst>
              </a:custGeom>
              <a:solidFill>
                <a:srgbClr val="176B8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38100"/>
                <a:ext cx="101600" cy="880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431800" y="365125"/>
              <a:ext cx="9423400" cy="414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15"/>
                </a:lnSpc>
              </a:pPr>
              <a:r>
                <a:rPr lang="en-US" sz="2100" b="true">
                  <a:solidFill>
                    <a:srgbClr val="13233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PHẠM VI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431800" y="1012825"/>
              <a:ext cx="9423400" cy="35280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202B35"/>
                  </a:solidFill>
                  <a:latin typeface="Be Vietnam"/>
                  <a:ea typeface="Be Vietnam"/>
                  <a:cs typeface="Be Vietnam"/>
                  <a:sym typeface="Be Vietnam"/>
                </a:rPr>
                <a:t>ĐÃ THỰC HIỆN</a:t>
              </a:r>
            </a:p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202B35"/>
                  </a:solidFill>
                  <a:latin typeface="Be Vietnam"/>
                  <a:ea typeface="Be Vietnam"/>
                  <a:cs typeface="Be Vietnam"/>
                  <a:sym typeface="Be Vietnam"/>
                </a:rPr>
                <a:t>• Website responsive, 4 phân hệ</a:t>
              </a:r>
            </a:p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202B35"/>
                  </a:solidFill>
                  <a:latin typeface="Be Vietnam"/>
                  <a:ea typeface="Be Vietnam"/>
                  <a:cs typeface="Be Vietnam"/>
                  <a:sym typeface="Be Vietnam"/>
                </a:rPr>
                <a:t>• Vé miễn phí / có phí</a:t>
              </a:r>
            </a:p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202B35"/>
                  </a:solidFill>
                  <a:latin typeface="Be Vietnam"/>
                  <a:ea typeface="Be Vietnam"/>
                  <a:cs typeface="Be Vietnam"/>
                  <a:sym typeface="Be Vietnam"/>
                </a:rPr>
                <a:t>• Thanh toán Sandbox</a:t>
              </a:r>
            </a:p>
            <a:p>
              <a:pPr algn="l">
                <a:lnSpc>
                  <a:spcPts val="2328"/>
                </a:lnSpc>
              </a:pPr>
            </a:p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202B35"/>
                  </a:solidFill>
                  <a:latin typeface="Be Vietnam"/>
                  <a:ea typeface="Be Vietnam"/>
                  <a:cs typeface="Be Vietnam"/>
                  <a:sym typeface="Be Vietnam"/>
                </a:rPr>
                <a:t>CHƯA THỰC HIỆN</a:t>
              </a:r>
            </a:p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202B35"/>
                  </a:solidFill>
                  <a:latin typeface="Be Vietnam"/>
                  <a:ea typeface="Be Vietnam"/>
                  <a:cs typeface="Be Vietnam"/>
                  <a:sym typeface="Be Vietnam"/>
                </a:rPr>
                <a:t>• Ứng dụng mobile</a:t>
              </a:r>
            </a:p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202B35"/>
                  </a:solidFill>
                  <a:latin typeface="Be Vietnam"/>
                  <a:ea typeface="Be Vietnam"/>
                  <a:cs typeface="Be Vietnam"/>
                  <a:sym typeface="Be Vietnam"/>
                </a:rPr>
                <a:t>• Thanh toán thực tế</a:t>
              </a:r>
            </a:p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202B35"/>
                  </a:solidFill>
                  <a:latin typeface="Be Vietnam"/>
                  <a:ea typeface="Be Vietnam"/>
                  <a:cs typeface="Be Vietnam"/>
                  <a:sym typeface="Be Vietnam"/>
                </a:rPr>
                <a:t>• SMS và một số tích hợp nâng cao</a:t>
              </a:r>
            </a:p>
          </p:txBody>
        </p:sp>
      </p:grpSp>
      <p:sp>
        <p:nvSpPr>
          <p:cNvPr name="AutoShape 25" id="25"/>
          <p:cNvSpPr/>
          <p:nvPr/>
        </p:nvSpPr>
        <p:spPr>
          <a:xfrm>
            <a:off x="914400" y="9620250"/>
            <a:ext cx="16459200" cy="0"/>
          </a:xfrm>
          <a:prstGeom prst="line">
            <a:avLst/>
          </a:prstGeom>
          <a:ln cap="flat" w="9525">
            <a:solidFill>
              <a:srgbClr val="CBD7D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6" id="26"/>
          <p:cNvSpPr txBox="true"/>
          <p:nvPr/>
        </p:nvSpPr>
        <p:spPr>
          <a:xfrm rot="0">
            <a:off x="914400" y="9801225"/>
            <a:ext cx="13811250" cy="202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7"/>
              </a:lnSpc>
            </a:pPr>
            <a:r>
              <a:rPr lang="en-US" sz="1275">
                <a:solidFill>
                  <a:srgbClr val="5D6B75"/>
                </a:solidFill>
                <a:latin typeface="Be Vietnam"/>
                <a:ea typeface="Be Vietnam"/>
                <a:cs typeface="Be Vietnam"/>
                <a:sym typeface="Be Vietnam"/>
              </a:rPr>
              <a:t>Xây dựng ứng dụng quản lý sự kiện trực tuyến – Nguyễn Vinh Quang – DH52201310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6716375" y="9801225"/>
            <a:ext cx="666750" cy="202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57"/>
              </a:lnSpc>
            </a:pPr>
            <a:r>
              <a:rPr lang="en-US" sz="1275">
                <a:solidFill>
                  <a:srgbClr val="5D6B75"/>
                </a:solidFill>
                <a:latin typeface="Be Vietnam"/>
                <a:ea typeface="Be Vietnam"/>
                <a:cs typeface="Be Vietnam"/>
                <a:sym typeface="Be Vietnam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76250"/>
            <a:ext cx="85725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20" b="true">
                <a:solidFill>
                  <a:srgbClr val="176B87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WUANGEVENTS  •  04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933450"/>
            <a:ext cx="14287500" cy="574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6"/>
              </a:lnSpc>
            </a:pPr>
            <a:r>
              <a:rPr lang="en-US" sz="4050" b="true">
                <a:solidFill>
                  <a:srgbClr val="13233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CÔNG NGHỆ, API VÀ CÔNG CỤ SỬ DỤNG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14400" y="1638300"/>
            <a:ext cx="781050" cy="57150"/>
            <a:chOff x="0" y="0"/>
            <a:chExt cx="1041400" cy="76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41400" cy="76200"/>
            </a:xfrm>
            <a:custGeom>
              <a:avLst/>
              <a:gdLst/>
              <a:ahLst/>
              <a:cxnLst/>
              <a:rect r="r" b="b" t="t" l="l"/>
              <a:pathLst>
                <a:path h="76200" w="1041400">
                  <a:moveTo>
                    <a:pt x="0" y="0"/>
                  </a:moveTo>
                  <a:lnTo>
                    <a:pt x="1041400" y="0"/>
                  </a:lnTo>
                  <a:lnTo>
                    <a:pt x="10414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2AA198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041400" cy="114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381250" y="2667000"/>
            <a:ext cx="4476750" cy="876300"/>
            <a:chOff x="0" y="0"/>
            <a:chExt cx="5969000" cy="1168400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5969000" cy="1168400"/>
              <a:chOff x="0" y="0"/>
              <a:chExt cx="5969000" cy="11684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5969000" cy="1168400"/>
              </a:xfrm>
              <a:custGeom>
                <a:avLst/>
                <a:gdLst/>
                <a:ahLst/>
                <a:cxnLst/>
                <a:rect r="r" b="b" t="t" l="l"/>
                <a:pathLst>
                  <a:path h="1168400" w="5969000">
                    <a:moveTo>
                      <a:pt x="0" y="0"/>
                    </a:moveTo>
                    <a:lnTo>
                      <a:pt x="5969000" y="0"/>
                    </a:lnTo>
                    <a:lnTo>
                      <a:pt x="5969000" y="1168400"/>
                    </a:lnTo>
                    <a:lnTo>
                      <a:pt x="0" y="1168400"/>
                    </a:lnTo>
                    <a:close/>
                  </a:path>
                </a:pathLst>
              </a:custGeom>
              <a:solidFill>
                <a:srgbClr val="EEF5F6"/>
              </a:solidFill>
              <a:ln w="9525" cap="sq">
                <a:solidFill>
                  <a:srgbClr val="CBD7DC"/>
                </a:solidFill>
                <a:prstDash val="solid"/>
                <a:miter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5969000" cy="1206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317500" y="352425"/>
              <a:ext cx="5334000" cy="361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56"/>
                </a:lnSpc>
              </a:pPr>
              <a:r>
                <a:rPr lang="en-US" sz="1875" b="true">
                  <a:solidFill>
                    <a:srgbClr val="13233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TRÌNH DUYỆT</a:t>
              </a:r>
            </a:p>
          </p:txBody>
        </p:sp>
      </p:grpSp>
      <p:sp>
        <p:nvSpPr>
          <p:cNvPr name="AutoShape 12" id="12"/>
          <p:cNvSpPr/>
          <p:nvPr/>
        </p:nvSpPr>
        <p:spPr>
          <a:xfrm>
            <a:off x="4619625" y="3543300"/>
            <a:ext cx="0" cy="552450"/>
          </a:xfrm>
          <a:prstGeom prst="line">
            <a:avLst/>
          </a:prstGeom>
          <a:ln cap="rnd" w="28575">
            <a:solidFill>
              <a:srgbClr val="2AA19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0">
            <a:off x="2381250" y="4095750"/>
            <a:ext cx="4476750" cy="876300"/>
            <a:chOff x="0" y="0"/>
            <a:chExt cx="5969000" cy="1168400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5969000" cy="1168400"/>
              <a:chOff x="0" y="0"/>
              <a:chExt cx="5969000" cy="11684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5969000" cy="1168400"/>
              </a:xfrm>
              <a:custGeom>
                <a:avLst/>
                <a:gdLst/>
                <a:ahLst/>
                <a:cxnLst/>
                <a:rect r="r" b="b" t="t" l="l"/>
                <a:pathLst>
                  <a:path h="1168400" w="5969000">
                    <a:moveTo>
                      <a:pt x="0" y="0"/>
                    </a:moveTo>
                    <a:lnTo>
                      <a:pt x="5969000" y="0"/>
                    </a:lnTo>
                    <a:lnTo>
                      <a:pt x="5969000" y="1168400"/>
                    </a:lnTo>
                    <a:lnTo>
                      <a:pt x="0" y="1168400"/>
                    </a:lnTo>
                    <a:close/>
                  </a:path>
                </a:pathLst>
              </a:custGeom>
              <a:solidFill>
                <a:srgbClr val="EEF5F6"/>
              </a:solidFill>
              <a:ln w="9525" cap="sq">
                <a:solidFill>
                  <a:srgbClr val="CBD7DC"/>
                </a:solidFill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38100"/>
                <a:ext cx="5969000" cy="1206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317500" y="352425"/>
              <a:ext cx="5334000" cy="361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56"/>
                </a:lnSpc>
              </a:pPr>
              <a:r>
                <a:rPr lang="en-US" sz="1875" b="true">
                  <a:solidFill>
                    <a:srgbClr val="13233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CONTROLLER</a:t>
              </a:r>
            </a:p>
          </p:txBody>
        </p:sp>
      </p:grpSp>
      <p:sp>
        <p:nvSpPr>
          <p:cNvPr name="AutoShape 18" id="18"/>
          <p:cNvSpPr/>
          <p:nvPr/>
        </p:nvSpPr>
        <p:spPr>
          <a:xfrm>
            <a:off x="4619625" y="4972050"/>
            <a:ext cx="0" cy="552450"/>
          </a:xfrm>
          <a:prstGeom prst="line">
            <a:avLst/>
          </a:prstGeom>
          <a:ln cap="rnd" w="28575">
            <a:solidFill>
              <a:srgbClr val="2AA19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9" id="19"/>
          <p:cNvGrpSpPr/>
          <p:nvPr/>
        </p:nvGrpSpPr>
        <p:grpSpPr>
          <a:xfrm rot="0">
            <a:off x="2381250" y="5524500"/>
            <a:ext cx="4476750" cy="876300"/>
            <a:chOff x="0" y="0"/>
            <a:chExt cx="5969000" cy="1168400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5969000" cy="1168400"/>
              <a:chOff x="0" y="0"/>
              <a:chExt cx="5969000" cy="11684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5969000" cy="1168400"/>
              </a:xfrm>
              <a:custGeom>
                <a:avLst/>
                <a:gdLst/>
                <a:ahLst/>
                <a:cxnLst/>
                <a:rect r="r" b="b" t="t" l="l"/>
                <a:pathLst>
                  <a:path h="1168400" w="5969000">
                    <a:moveTo>
                      <a:pt x="0" y="0"/>
                    </a:moveTo>
                    <a:lnTo>
                      <a:pt x="5969000" y="0"/>
                    </a:lnTo>
                    <a:lnTo>
                      <a:pt x="5969000" y="1168400"/>
                    </a:lnTo>
                    <a:lnTo>
                      <a:pt x="0" y="1168400"/>
                    </a:lnTo>
                    <a:close/>
                  </a:path>
                </a:pathLst>
              </a:custGeom>
              <a:solidFill>
                <a:srgbClr val="EEF5F6"/>
              </a:solidFill>
              <a:ln w="9525" cap="sq">
                <a:solidFill>
                  <a:srgbClr val="CBD7DC"/>
                </a:solidFill>
                <a:prstDash val="solid"/>
                <a:miter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38100"/>
                <a:ext cx="5969000" cy="1206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317500" y="352425"/>
              <a:ext cx="5334000" cy="361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56"/>
                </a:lnSpc>
              </a:pPr>
              <a:r>
                <a:rPr lang="en-US" sz="1875" b="true">
                  <a:solidFill>
                    <a:srgbClr val="13233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DAPPER</a:t>
              </a:r>
            </a:p>
          </p:txBody>
        </p:sp>
      </p:grpSp>
      <p:sp>
        <p:nvSpPr>
          <p:cNvPr name="AutoShape 24" id="24"/>
          <p:cNvSpPr/>
          <p:nvPr/>
        </p:nvSpPr>
        <p:spPr>
          <a:xfrm>
            <a:off x="4619625" y="6400800"/>
            <a:ext cx="0" cy="552450"/>
          </a:xfrm>
          <a:prstGeom prst="line">
            <a:avLst/>
          </a:prstGeom>
          <a:ln cap="rnd" w="28575">
            <a:solidFill>
              <a:srgbClr val="2AA19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5" id="25"/>
          <p:cNvGrpSpPr/>
          <p:nvPr/>
        </p:nvGrpSpPr>
        <p:grpSpPr>
          <a:xfrm rot="0">
            <a:off x="2381250" y="6953250"/>
            <a:ext cx="4476750" cy="876300"/>
            <a:chOff x="0" y="0"/>
            <a:chExt cx="5969000" cy="1168400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0"/>
              <a:ext cx="5969000" cy="1168400"/>
              <a:chOff x="0" y="0"/>
              <a:chExt cx="5969000" cy="11684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5969000" cy="1168400"/>
              </a:xfrm>
              <a:custGeom>
                <a:avLst/>
                <a:gdLst/>
                <a:ahLst/>
                <a:cxnLst/>
                <a:rect r="r" b="b" t="t" l="l"/>
                <a:pathLst>
                  <a:path h="1168400" w="5969000">
                    <a:moveTo>
                      <a:pt x="0" y="0"/>
                    </a:moveTo>
                    <a:lnTo>
                      <a:pt x="5969000" y="0"/>
                    </a:lnTo>
                    <a:lnTo>
                      <a:pt x="5969000" y="1168400"/>
                    </a:lnTo>
                    <a:lnTo>
                      <a:pt x="0" y="1168400"/>
                    </a:lnTo>
                    <a:close/>
                  </a:path>
                </a:pathLst>
              </a:custGeom>
              <a:solidFill>
                <a:srgbClr val="13233F"/>
              </a:solidFill>
              <a:ln w="9525" cap="sq">
                <a:solidFill>
                  <a:srgbClr val="CBD7DC"/>
                </a:solidFill>
                <a:prstDash val="solid"/>
                <a:miter/>
              </a:ln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38100"/>
                <a:ext cx="5969000" cy="1206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9" id="29"/>
            <p:cNvSpPr txBox="true"/>
            <p:nvPr/>
          </p:nvSpPr>
          <p:spPr>
            <a:xfrm rot="0">
              <a:off x="317500" y="352425"/>
              <a:ext cx="5334000" cy="361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56"/>
                </a:lnSpc>
              </a:pPr>
              <a:r>
                <a:rPr lang="en-US" sz="1875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SQL SERVER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7239000" y="3971925"/>
            <a:ext cx="3524250" cy="908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176B87"/>
                </a:solidFill>
                <a:latin typeface="Be Vietnam"/>
                <a:ea typeface="Be Vietnam"/>
                <a:cs typeface="Be Vietnam"/>
                <a:sym typeface="Be Vietnam"/>
              </a:rPr>
              <a:t>↔  Cổng thanh toán</a:t>
            </a:r>
          </a:p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176B87"/>
                </a:solidFill>
                <a:latin typeface="Be Vietnam"/>
                <a:ea typeface="Be Vietnam"/>
                <a:cs typeface="Be Vietnam"/>
                <a:sym typeface="Be Vietnam"/>
              </a:rPr>
              <a:t>↔  Email</a:t>
            </a:r>
          </a:p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176B87"/>
                </a:solidFill>
                <a:latin typeface="Be Vietnam"/>
                <a:ea typeface="Be Vietnam"/>
                <a:cs typeface="Be Vietnam"/>
                <a:sym typeface="Be Vietnam"/>
              </a:rPr>
              <a:t>↔  Google OAuth / Calendar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0763250" y="2190750"/>
            <a:ext cx="6610350" cy="6191250"/>
            <a:chOff x="0" y="0"/>
            <a:chExt cx="8813800" cy="8255000"/>
          </a:xfrm>
        </p:grpSpPr>
        <p:grpSp>
          <p:nvGrpSpPr>
            <p:cNvPr name="Group 32" id="32"/>
            <p:cNvGrpSpPr/>
            <p:nvPr/>
          </p:nvGrpSpPr>
          <p:grpSpPr>
            <a:xfrm rot="0">
              <a:off x="0" y="0"/>
              <a:ext cx="8813800" cy="8255000"/>
              <a:chOff x="0" y="0"/>
              <a:chExt cx="8813800" cy="825500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8813800" cy="8255000"/>
              </a:xfrm>
              <a:custGeom>
                <a:avLst/>
                <a:gdLst/>
                <a:ahLst/>
                <a:cxnLst/>
                <a:rect r="r" b="b" t="t" l="l"/>
                <a:pathLst>
                  <a:path h="8255000" w="8813800">
                    <a:moveTo>
                      <a:pt x="0" y="0"/>
                    </a:moveTo>
                    <a:lnTo>
                      <a:pt x="8813800" y="0"/>
                    </a:lnTo>
                    <a:lnTo>
                      <a:pt x="8813800" y="8255000"/>
                    </a:lnTo>
                    <a:lnTo>
                      <a:pt x="0" y="8255000"/>
                    </a:lnTo>
                    <a:close/>
                  </a:path>
                </a:pathLst>
              </a:custGeom>
              <a:solidFill>
                <a:srgbClr val="F6F8F9"/>
              </a:solidFill>
              <a:ln w="9525" cap="sq">
                <a:solidFill>
                  <a:srgbClr val="CBD7DC"/>
                </a:solidFill>
                <a:prstDash val="solid"/>
                <a:miter/>
              </a:ln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38100"/>
                <a:ext cx="8813800" cy="829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35" id="35"/>
            <p:cNvGrpSpPr/>
            <p:nvPr/>
          </p:nvGrpSpPr>
          <p:grpSpPr>
            <a:xfrm rot="0">
              <a:off x="0" y="0"/>
              <a:ext cx="101600" cy="8255000"/>
              <a:chOff x="0" y="0"/>
              <a:chExt cx="101600" cy="825500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101600" cy="8255000"/>
              </a:xfrm>
              <a:custGeom>
                <a:avLst/>
                <a:gdLst/>
                <a:ahLst/>
                <a:cxnLst/>
                <a:rect r="r" b="b" t="t" l="l"/>
                <a:pathLst>
                  <a:path h="8255000" w="101600">
                    <a:moveTo>
                      <a:pt x="0" y="0"/>
                    </a:moveTo>
                    <a:lnTo>
                      <a:pt x="101600" y="0"/>
                    </a:lnTo>
                    <a:lnTo>
                      <a:pt x="101600" y="8255000"/>
                    </a:lnTo>
                    <a:lnTo>
                      <a:pt x="0" y="8255000"/>
                    </a:lnTo>
                    <a:close/>
                  </a:path>
                </a:pathLst>
              </a:custGeom>
              <a:solidFill>
                <a:srgbClr val="176B8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-38100"/>
                <a:ext cx="101600" cy="829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8" id="38"/>
            <p:cNvSpPr txBox="true"/>
            <p:nvPr/>
          </p:nvSpPr>
          <p:spPr>
            <a:xfrm rot="0">
              <a:off x="431800" y="365125"/>
              <a:ext cx="7950200" cy="414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15"/>
                </a:lnSpc>
              </a:pPr>
              <a:r>
                <a:rPr lang="en-US" sz="2100" b="true">
                  <a:solidFill>
                    <a:srgbClr val="13233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NHÓM CÔNG NGHỆ</a:t>
              </a:r>
            </a:p>
          </p:txBody>
        </p:sp>
        <p:sp>
          <p:nvSpPr>
            <p:cNvPr name="TextBox 39" id="39"/>
            <p:cNvSpPr txBox="true"/>
            <p:nvPr/>
          </p:nvSpPr>
          <p:spPr>
            <a:xfrm rot="0">
              <a:off x="431800" y="1012825"/>
              <a:ext cx="7950200" cy="54965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202B35"/>
                  </a:solidFill>
                  <a:latin typeface="Be Vietnam"/>
                  <a:ea typeface="Be Vietnam"/>
                  <a:cs typeface="Be Vietnam"/>
                  <a:sym typeface="Be Vietnam"/>
                </a:rPr>
                <a:t>BACKEND</a:t>
              </a:r>
            </a:p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202B35"/>
                  </a:solidFill>
                  <a:latin typeface="Be Vietnam"/>
                  <a:ea typeface="Be Vietnam"/>
                  <a:cs typeface="Be Vietnam"/>
                  <a:sym typeface="Be Vietnam"/>
                </a:rPr>
                <a:t>• ASP.NET Core MVC, C#</a:t>
              </a:r>
            </a:p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202B35"/>
                  </a:solidFill>
                  <a:latin typeface="Be Vietnam"/>
                  <a:ea typeface="Be Vietnam"/>
                  <a:cs typeface="Be Vietnam"/>
                  <a:sym typeface="Be Vietnam"/>
                </a:rPr>
                <a:t>• Dapper, SQL Server</a:t>
              </a:r>
            </a:p>
            <a:p>
              <a:pPr algn="l">
                <a:lnSpc>
                  <a:spcPts val="2328"/>
                </a:lnSpc>
              </a:pPr>
            </a:p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202B35"/>
                  </a:solidFill>
                  <a:latin typeface="Be Vietnam"/>
                  <a:ea typeface="Be Vietnam"/>
                  <a:cs typeface="Be Vietnam"/>
                  <a:sym typeface="Be Vietnam"/>
                </a:rPr>
                <a:t>FRONTEND</a:t>
              </a:r>
            </a:p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202B35"/>
                  </a:solidFill>
                  <a:latin typeface="Be Vietnam"/>
                  <a:ea typeface="Be Vietnam"/>
                  <a:cs typeface="Be Vietnam"/>
                  <a:sym typeface="Be Vietnam"/>
                </a:rPr>
                <a:t>• HTML, CSS, JavaScript</a:t>
              </a:r>
            </a:p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202B35"/>
                  </a:solidFill>
                  <a:latin typeface="Be Vietnam"/>
                  <a:ea typeface="Be Vietnam"/>
                  <a:cs typeface="Be Vietnam"/>
                  <a:sym typeface="Be Vietnam"/>
                </a:rPr>
                <a:t>• Bootstrap, responsive UI</a:t>
              </a:r>
            </a:p>
            <a:p>
              <a:pPr algn="l">
                <a:lnSpc>
                  <a:spcPts val="2328"/>
                </a:lnSpc>
              </a:pPr>
            </a:p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202B35"/>
                  </a:solidFill>
                  <a:latin typeface="Be Vietnam"/>
                  <a:ea typeface="Be Vietnam"/>
                  <a:cs typeface="Be Vietnam"/>
                  <a:sym typeface="Be Vietnam"/>
                </a:rPr>
                <a:t>BẢO MẬT</a:t>
              </a:r>
            </a:p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202B35"/>
                  </a:solidFill>
                  <a:latin typeface="Be Vietnam"/>
                  <a:ea typeface="Be Vietnam"/>
                  <a:cs typeface="Be Vietnam"/>
                  <a:sym typeface="Be Vietnam"/>
                </a:rPr>
                <a:t>• BCrypt, truy vấn tham số, phân quyền</a:t>
              </a:r>
            </a:p>
            <a:p>
              <a:pPr algn="l">
                <a:lnSpc>
                  <a:spcPts val="2328"/>
                </a:lnSpc>
              </a:pPr>
            </a:p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202B35"/>
                  </a:solidFill>
                  <a:latin typeface="Be Vietnam"/>
                  <a:ea typeface="Be Vietnam"/>
                  <a:cs typeface="Be Vietnam"/>
                  <a:sym typeface="Be Vietnam"/>
                </a:rPr>
                <a:t>DỊCH VỤ</a:t>
              </a:r>
            </a:p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202B35"/>
                  </a:solidFill>
                  <a:latin typeface="Be Vietnam"/>
                  <a:ea typeface="Be Vietnam"/>
                  <a:cs typeface="Be Vietnam"/>
                  <a:sym typeface="Be Vietnam"/>
                </a:rPr>
                <a:t>• VNPay, MoMo, ZaloPay Sandbox</a:t>
              </a:r>
            </a:p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202B35"/>
                  </a:solidFill>
                  <a:latin typeface="Be Vietnam"/>
                  <a:ea typeface="Be Vietnam"/>
                  <a:cs typeface="Be Vietnam"/>
                  <a:sym typeface="Be Vietnam"/>
                </a:rPr>
                <a:t>• Email, Google OAuth &amp; Calendar</a:t>
              </a:r>
            </a:p>
          </p:txBody>
        </p:sp>
      </p:grpSp>
      <p:sp>
        <p:nvSpPr>
          <p:cNvPr name="AutoShape 40" id="40"/>
          <p:cNvSpPr/>
          <p:nvPr/>
        </p:nvSpPr>
        <p:spPr>
          <a:xfrm>
            <a:off x="914400" y="9620250"/>
            <a:ext cx="16459200" cy="0"/>
          </a:xfrm>
          <a:prstGeom prst="line">
            <a:avLst/>
          </a:prstGeom>
          <a:ln cap="flat" w="9525">
            <a:solidFill>
              <a:srgbClr val="CBD7D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1" id="41"/>
          <p:cNvSpPr txBox="true"/>
          <p:nvPr/>
        </p:nvSpPr>
        <p:spPr>
          <a:xfrm rot="0">
            <a:off x="914400" y="9801225"/>
            <a:ext cx="13811250" cy="202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7"/>
              </a:lnSpc>
            </a:pPr>
            <a:r>
              <a:rPr lang="en-US" sz="1275">
                <a:solidFill>
                  <a:srgbClr val="5D6B75"/>
                </a:solidFill>
                <a:latin typeface="Be Vietnam"/>
                <a:ea typeface="Be Vietnam"/>
                <a:cs typeface="Be Vietnam"/>
                <a:sym typeface="Be Vietnam"/>
              </a:rPr>
              <a:t>Xây dựng ứng dụng quản lý sự kiện trực tuyến – Nguyễn Vinh Quang – DH52201310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6716375" y="9801225"/>
            <a:ext cx="666750" cy="202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57"/>
              </a:lnSpc>
            </a:pPr>
            <a:r>
              <a:rPr lang="en-US" sz="1275">
                <a:solidFill>
                  <a:srgbClr val="5D6B75"/>
                </a:solidFill>
                <a:latin typeface="Be Vietnam"/>
                <a:ea typeface="Be Vietnam"/>
                <a:cs typeface="Be Vietnam"/>
                <a:sym typeface="Be Vietnam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76250"/>
            <a:ext cx="85725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20" b="true">
                <a:solidFill>
                  <a:srgbClr val="176B87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WUANGEVENTS  •  05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933450"/>
            <a:ext cx="14287500" cy="574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6"/>
              </a:lnSpc>
            </a:pPr>
            <a:r>
              <a:rPr lang="en-US" sz="4050" b="true">
                <a:solidFill>
                  <a:srgbClr val="13233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THÁCH THỨC VÀ GIẢI PHÁP KỸ THUẬT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14400" y="1638300"/>
            <a:ext cx="781050" cy="57150"/>
            <a:chOff x="0" y="0"/>
            <a:chExt cx="1041400" cy="76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41400" cy="76200"/>
            </a:xfrm>
            <a:custGeom>
              <a:avLst/>
              <a:gdLst/>
              <a:ahLst/>
              <a:cxnLst/>
              <a:rect r="r" b="b" t="t" l="l"/>
              <a:pathLst>
                <a:path h="76200" w="1041400">
                  <a:moveTo>
                    <a:pt x="0" y="0"/>
                  </a:moveTo>
                  <a:lnTo>
                    <a:pt x="1041400" y="0"/>
                  </a:lnTo>
                  <a:lnTo>
                    <a:pt x="10414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2AA198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041400" cy="114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2524125"/>
            <a:ext cx="16002000" cy="876300"/>
            <a:chOff x="0" y="0"/>
            <a:chExt cx="21336000" cy="1168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336000" cy="1168400"/>
            </a:xfrm>
            <a:custGeom>
              <a:avLst/>
              <a:gdLst/>
              <a:ahLst/>
              <a:cxnLst/>
              <a:rect r="r" b="b" t="t" l="l"/>
              <a:pathLst>
                <a:path h="1168400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1168400"/>
                  </a:lnTo>
                  <a:lnTo>
                    <a:pt x="0" y="1168400"/>
                  </a:lnTo>
                  <a:close/>
                </a:path>
              </a:pathLst>
            </a:custGeom>
            <a:solidFill>
              <a:srgbClr val="F6F8F9"/>
            </a:solidFill>
            <a:ln w="9525" cap="sq">
              <a:solidFill>
                <a:srgbClr val="CBD7DC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1336000" cy="1206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14400" y="3590925"/>
            <a:ext cx="16002000" cy="876300"/>
            <a:chOff x="0" y="0"/>
            <a:chExt cx="21336000" cy="1168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336000" cy="1168400"/>
            </a:xfrm>
            <a:custGeom>
              <a:avLst/>
              <a:gdLst/>
              <a:ahLst/>
              <a:cxnLst/>
              <a:rect r="r" b="b" t="t" l="l"/>
              <a:pathLst>
                <a:path h="1168400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1168400"/>
                  </a:lnTo>
                  <a:lnTo>
                    <a:pt x="0" y="11684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CBD7DC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1336000" cy="1206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14400" y="4657725"/>
            <a:ext cx="16002000" cy="876300"/>
            <a:chOff x="0" y="0"/>
            <a:chExt cx="21336000" cy="1168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336000" cy="1168400"/>
            </a:xfrm>
            <a:custGeom>
              <a:avLst/>
              <a:gdLst/>
              <a:ahLst/>
              <a:cxnLst/>
              <a:rect r="r" b="b" t="t" l="l"/>
              <a:pathLst>
                <a:path h="1168400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1168400"/>
                  </a:lnTo>
                  <a:lnTo>
                    <a:pt x="0" y="1168400"/>
                  </a:lnTo>
                  <a:close/>
                </a:path>
              </a:pathLst>
            </a:custGeom>
            <a:solidFill>
              <a:srgbClr val="F6F8F9"/>
            </a:solidFill>
            <a:ln w="9525" cap="sq">
              <a:solidFill>
                <a:srgbClr val="CBD7DC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1336000" cy="1206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14400" y="5724525"/>
            <a:ext cx="16002000" cy="876300"/>
            <a:chOff x="0" y="0"/>
            <a:chExt cx="21336000" cy="1168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336000" cy="1168400"/>
            </a:xfrm>
            <a:custGeom>
              <a:avLst/>
              <a:gdLst/>
              <a:ahLst/>
              <a:cxnLst/>
              <a:rect r="r" b="b" t="t" l="l"/>
              <a:pathLst>
                <a:path h="1168400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1168400"/>
                  </a:lnTo>
                  <a:lnTo>
                    <a:pt x="0" y="11684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CBD7DC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1336000" cy="1206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14400" y="6791325"/>
            <a:ext cx="16002000" cy="876300"/>
            <a:chOff x="0" y="0"/>
            <a:chExt cx="21336000" cy="11684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336000" cy="1168400"/>
            </a:xfrm>
            <a:custGeom>
              <a:avLst/>
              <a:gdLst/>
              <a:ahLst/>
              <a:cxnLst/>
              <a:rect r="r" b="b" t="t" l="l"/>
              <a:pathLst>
                <a:path h="1168400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1168400"/>
                  </a:lnTo>
                  <a:lnTo>
                    <a:pt x="0" y="1168400"/>
                  </a:lnTo>
                  <a:close/>
                </a:path>
              </a:pathLst>
            </a:custGeom>
            <a:solidFill>
              <a:srgbClr val="F6F8F9"/>
            </a:solidFill>
            <a:ln w="9525" cap="sq">
              <a:solidFill>
                <a:srgbClr val="CBD7DC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21336000" cy="1206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14400" y="7858125"/>
            <a:ext cx="16002000" cy="876300"/>
            <a:chOff x="0" y="0"/>
            <a:chExt cx="21336000" cy="1168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336000" cy="1168400"/>
            </a:xfrm>
            <a:custGeom>
              <a:avLst/>
              <a:gdLst/>
              <a:ahLst/>
              <a:cxnLst/>
              <a:rect r="r" b="b" t="t" l="l"/>
              <a:pathLst>
                <a:path h="1168400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1168400"/>
                  </a:lnTo>
                  <a:lnTo>
                    <a:pt x="0" y="11684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CBD7DC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21336000" cy="1206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190625" y="2000250"/>
            <a:ext cx="45720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20" b="true">
                <a:solidFill>
                  <a:srgbClr val="176B87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THÁCH THỨC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191250" y="2000250"/>
            <a:ext cx="76200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20" b="true">
                <a:solidFill>
                  <a:srgbClr val="176B87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GIẢI PHÁP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90625" y="2733675"/>
            <a:ext cx="4572000" cy="307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1875" b="true">
                <a:solidFill>
                  <a:srgbClr val="202B35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Bán trùng vé / ghế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191250" y="2733675"/>
            <a:ext cx="10572750" cy="290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8"/>
              </a:lnSpc>
            </a:pPr>
            <a:r>
              <a:rPr lang="en-US" sz="1725">
                <a:solidFill>
                  <a:srgbClr val="202B35"/>
                </a:solidFill>
                <a:latin typeface="Be Vietnam"/>
                <a:ea typeface="Be Vietnam"/>
                <a:cs typeface="Be Vietnam"/>
                <a:sym typeface="Be Vietnam"/>
              </a:rPr>
              <a:t>Transaction • Serializable • UPDLOCK / HOLDLOCK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90625" y="3800475"/>
            <a:ext cx="4572000" cy="307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1875" b="true">
                <a:solidFill>
                  <a:srgbClr val="202B35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Giữ vé khi thanh toán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191250" y="3800475"/>
            <a:ext cx="10572750" cy="290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8"/>
              </a:lnSpc>
            </a:pPr>
            <a:r>
              <a:rPr lang="en-US" sz="1725">
                <a:solidFill>
                  <a:srgbClr val="202B35"/>
                </a:solidFill>
                <a:latin typeface="Be Vietnam"/>
                <a:ea typeface="Be Vietnam"/>
                <a:cs typeface="Be Vietnam"/>
                <a:sym typeface="Be Vietnam"/>
              </a:rPr>
              <a:t>Giữ 10 phút • đơn chờ • hết hạn tự giải phóng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90625" y="4867275"/>
            <a:ext cx="4572000" cy="307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1875" b="true">
                <a:solidFill>
                  <a:srgbClr val="202B35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Callback thanh toán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191250" y="4867275"/>
            <a:ext cx="10572750" cy="290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8"/>
              </a:lnSpc>
            </a:pPr>
            <a:r>
              <a:rPr lang="en-US" sz="1725">
                <a:solidFill>
                  <a:srgbClr val="202B35"/>
                </a:solidFill>
                <a:latin typeface="Be Vietnam"/>
                <a:ea typeface="Be Vietnam"/>
                <a:cs typeface="Be Vietnam"/>
                <a:sym typeface="Be Vietnam"/>
              </a:rPr>
              <a:t>Kiểm tra chữ ký, trạng thái • không xử lý lại đơn hoàn thành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190625" y="5934075"/>
            <a:ext cx="4572000" cy="307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1875" b="true">
                <a:solidFill>
                  <a:srgbClr val="202B35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Bảo mật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6191250" y="5934075"/>
            <a:ext cx="10572750" cy="290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8"/>
              </a:lnSpc>
            </a:pPr>
            <a:r>
              <a:rPr lang="en-US" sz="1725">
                <a:solidFill>
                  <a:srgbClr val="202B35"/>
                </a:solidFill>
                <a:latin typeface="Be Vietnam"/>
                <a:ea typeface="Be Vietnam"/>
                <a:cs typeface="Be Vietnam"/>
                <a:sym typeface="Be Vietnam"/>
              </a:rPr>
              <a:t>BCrypt • truy vấn tham số • kiểm tra phân quyền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190625" y="7000875"/>
            <a:ext cx="4572000" cy="307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1875" b="true">
                <a:solidFill>
                  <a:srgbClr val="202B35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Thời gian &amp; loại sự kiện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6191250" y="7000875"/>
            <a:ext cx="10572750" cy="290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8"/>
              </a:lnSpc>
            </a:pPr>
            <a:r>
              <a:rPr lang="en-US" sz="1725">
                <a:solidFill>
                  <a:srgbClr val="202B35"/>
                </a:solidFill>
                <a:latin typeface="Be Vietnam"/>
                <a:ea typeface="Be Vietnam"/>
                <a:cs typeface="Be Vietnam"/>
                <a:sym typeface="Be Vietnam"/>
              </a:rPr>
              <a:t>Múi giờ VN • QR offline • link tham dự online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190625" y="8067675"/>
            <a:ext cx="4572000" cy="307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1875" b="true">
                <a:solidFill>
                  <a:srgbClr val="202B35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Sơ đồ ghế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6191250" y="8067675"/>
            <a:ext cx="10572750" cy="290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8"/>
              </a:lnSpc>
            </a:pPr>
            <a:r>
              <a:rPr lang="en-US" sz="1725">
                <a:solidFill>
                  <a:srgbClr val="202B35"/>
                </a:solidFill>
                <a:latin typeface="Be Vietnam"/>
                <a:ea typeface="Be Vietnam"/>
                <a:cs typeface="Be Vietnam"/>
                <a:sym typeface="Be Vietnam"/>
              </a:rPr>
              <a:t>Trạng thái rõ ràng • responsive • nhiều loại vé</a:t>
            </a:r>
          </a:p>
        </p:txBody>
      </p:sp>
      <p:sp>
        <p:nvSpPr>
          <p:cNvPr name="AutoShape 39" id="39"/>
          <p:cNvSpPr/>
          <p:nvPr/>
        </p:nvSpPr>
        <p:spPr>
          <a:xfrm>
            <a:off x="914400" y="9620250"/>
            <a:ext cx="16459200" cy="0"/>
          </a:xfrm>
          <a:prstGeom prst="line">
            <a:avLst/>
          </a:prstGeom>
          <a:ln cap="flat" w="9525">
            <a:solidFill>
              <a:srgbClr val="CBD7D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0" id="40"/>
          <p:cNvSpPr txBox="true"/>
          <p:nvPr/>
        </p:nvSpPr>
        <p:spPr>
          <a:xfrm rot="0">
            <a:off x="914400" y="9801225"/>
            <a:ext cx="13811250" cy="202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7"/>
              </a:lnSpc>
            </a:pPr>
            <a:r>
              <a:rPr lang="en-US" sz="1275">
                <a:solidFill>
                  <a:srgbClr val="5D6B75"/>
                </a:solidFill>
                <a:latin typeface="Be Vietnam"/>
                <a:ea typeface="Be Vietnam"/>
                <a:cs typeface="Be Vietnam"/>
                <a:sym typeface="Be Vietnam"/>
              </a:rPr>
              <a:t>Xây dựng ứng dụng quản lý sự kiện trực tuyến – Nguyễn Vinh Quang – DH52201310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6716375" y="9801225"/>
            <a:ext cx="666750" cy="202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57"/>
              </a:lnSpc>
            </a:pPr>
            <a:r>
              <a:rPr lang="en-US" sz="1275">
                <a:solidFill>
                  <a:srgbClr val="5D6B75"/>
                </a:solidFill>
                <a:latin typeface="Be Vietnam"/>
                <a:ea typeface="Be Vietnam"/>
                <a:cs typeface="Be Vietnam"/>
                <a:sym typeface="Be Vietnam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76250"/>
            <a:ext cx="85725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20" b="true">
                <a:solidFill>
                  <a:srgbClr val="176B87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WUANGEVENTS  •  06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933450"/>
            <a:ext cx="14287500" cy="574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6"/>
              </a:lnSpc>
            </a:pPr>
            <a:r>
              <a:rPr lang="en-US" sz="4050" b="true">
                <a:solidFill>
                  <a:srgbClr val="13233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QUY TRÌNH NGHIỆP VỤ TỔNG QUÁT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14400" y="1638300"/>
            <a:ext cx="781050" cy="57150"/>
            <a:chOff x="0" y="0"/>
            <a:chExt cx="1041400" cy="76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41400" cy="76200"/>
            </a:xfrm>
            <a:custGeom>
              <a:avLst/>
              <a:gdLst/>
              <a:ahLst/>
              <a:cxnLst/>
              <a:rect r="r" b="b" t="t" l="l"/>
              <a:pathLst>
                <a:path h="76200" w="1041400">
                  <a:moveTo>
                    <a:pt x="0" y="0"/>
                  </a:moveTo>
                  <a:lnTo>
                    <a:pt x="1041400" y="0"/>
                  </a:lnTo>
                  <a:lnTo>
                    <a:pt x="10414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2AA198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041400" cy="114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62000" y="3143250"/>
            <a:ext cx="1619250" cy="1000125"/>
            <a:chOff x="0" y="0"/>
            <a:chExt cx="2159000" cy="13335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59000" cy="1333500"/>
            </a:xfrm>
            <a:custGeom>
              <a:avLst/>
              <a:gdLst/>
              <a:ahLst/>
              <a:cxnLst/>
              <a:rect r="r" b="b" t="t" l="l"/>
              <a:pathLst>
                <a:path h="1333500" w="2159000">
                  <a:moveTo>
                    <a:pt x="0" y="0"/>
                  </a:moveTo>
                  <a:lnTo>
                    <a:pt x="2159000" y="0"/>
                  </a:lnTo>
                  <a:lnTo>
                    <a:pt x="2159000" y="1333500"/>
                  </a:lnTo>
                  <a:lnTo>
                    <a:pt x="0" y="1333500"/>
                  </a:lnTo>
                  <a:close/>
                </a:path>
              </a:pathLst>
            </a:custGeom>
            <a:solidFill>
              <a:srgbClr val="EEF5F6"/>
            </a:solidFill>
            <a:ln w="9525" cap="sq">
              <a:solidFill>
                <a:srgbClr val="CBD7DC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159000" cy="1371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10" id="10"/>
          <p:cNvSpPr/>
          <p:nvPr/>
        </p:nvSpPr>
        <p:spPr>
          <a:xfrm>
            <a:off x="2381250" y="3638550"/>
            <a:ext cx="304800" cy="0"/>
          </a:xfrm>
          <a:prstGeom prst="line">
            <a:avLst/>
          </a:prstGeom>
          <a:ln cap="rnd" w="19050">
            <a:solidFill>
              <a:srgbClr val="2AA19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0">
            <a:off x="2686050" y="3143250"/>
            <a:ext cx="1619250" cy="1000125"/>
            <a:chOff x="0" y="0"/>
            <a:chExt cx="2159000" cy="13335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59000" cy="1333500"/>
            </a:xfrm>
            <a:custGeom>
              <a:avLst/>
              <a:gdLst/>
              <a:ahLst/>
              <a:cxnLst/>
              <a:rect r="r" b="b" t="t" l="l"/>
              <a:pathLst>
                <a:path h="1333500" w="2159000">
                  <a:moveTo>
                    <a:pt x="0" y="0"/>
                  </a:moveTo>
                  <a:lnTo>
                    <a:pt x="2159000" y="0"/>
                  </a:lnTo>
                  <a:lnTo>
                    <a:pt x="2159000" y="1333500"/>
                  </a:lnTo>
                  <a:lnTo>
                    <a:pt x="0" y="1333500"/>
                  </a:lnTo>
                  <a:close/>
                </a:path>
              </a:pathLst>
            </a:custGeom>
            <a:solidFill>
              <a:srgbClr val="EEF5F6"/>
            </a:solidFill>
            <a:ln w="9525" cap="sq">
              <a:solidFill>
                <a:srgbClr val="CBD7DC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159000" cy="1371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14" id="14"/>
          <p:cNvSpPr/>
          <p:nvPr/>
        </p:nvSpPr>
        <p:spPr>
          <a:xfrm>
            <a:off x="4305300" y="3638550"/>
            <a:ext cx="304800" cy="0"/>
          </a:xfrm>
          <a:prstGeom prst="line">
            <a:avLst/>
          </a:prstGeom>
          <a:ln cap="rnd" w="19050">
            <a:solidFill>
              <a:srgbClr val="2AA19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5" id="15"/>
          <p:cNvGrpSpPr/>
          <p:nvPr/>
        </p:nvGrpSpPr>
        <p:grpSpPr>
          <a:xfrm rot="0">
            <a:off x="4610100" y="3143250"/>
            <a:ext cx="1619250" cy="1000125"/>
            <a:chOff x="0" y="0"/>
            <a:chExt cx="2159000" cy="13335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59000" cy="1333500"/>
            </a:xfrm>
            <a:custGeom>
              <a:avLst/>
              <a:gdLst/>
              <a:ahLst/>
              <a:cxnLst/>
              <a:rect r="r" b="b" t="t" l="l"/>
              <a:pathLst>
                <a:path h="1333500" w="2159000">
                  <a:moveTo>
                    <a:pt x="0" y="0"/>
                  </a:moveTo>
                  <a:lnTo>
                    <a:pt x="2159000" y="0"/>
                  </a:lnTo>
                  <a:lnTo>
                    <a:pt x="2159000" y="1333500"/>
                  </a:lnTo>
                  <a:lnTo>
                    <a:pt x="0" y="1333500"/>
                  </a:lnTo>
                  <a:close/>
                </a:path>
              </a:pathLst>
            </a:custGeom>
            <a:solidFill>
              <a:srgbClr val="EEF5F6"/>
            </a:solidFill>
            <a:ln w="9525" cap="sq">
              <a:solidFill>
                <a:srgbClr val="CBD7DC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2159000" cy="1371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18" id="18"/>
          <p:cNvSpPr/>
          <p:nvPr/>
        </p:nvSpPr>
        <p:spPr>
          <a:xfrm>
            <a:off x="6229350" y="3638550"/>
            <a:ext cx="304800" cy="0"/>
          </a:xfrm>
          <a:prstGeom prst="line">
            <a:avLst/>
          </a:prstGeom>
          <a:ln cap="rnd" w="19050">
            <a:solidFill>
              <a:srgbClr val="2AA19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9" id="19"/>
          <p:cNvGrpSpPr/>
          <p:nvPr/>
        </p:nvGrpSpPr>
        <p:grpSpPr>
          <a:xfrm rot="0">
            <a:off x="6534150" y="3143250"/>
            <a:ext cx="1619250" cy="1000125"/>
            <a:chOff x="0" y="0"/>
            <a:chExt cx="2159000" cy="13335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59000" cy="1333500"/>
            </a:xfrm>
            <a:custGeom>
              <a:avLst/>
              <a:gdLst/>
              <a:ahLst/>
              <a:cxnLst/>
              <a:rect r="r" b="b" t="t" l="l"/>
              <a:pathLst>
                <a:path h="1333500" w="2159000">
                  <a:moveTo>
                    <a:pt x="0" y="0"/>
                  </a:moveTo>
                  <a:lnTo>
                    <a:pt x="2159000" y="0"/>
                  </a:lnTo>
                  <a:lnTo>
                    <a:pt x="2159000" y="1333500"/>
                  </a:lnTo>
                  <a:lnTo>
                    <a:pt x="0" y="1333500"/>
                  </a:lnTo>
                  <a:close/>
                </a:path>
              </a:pathLst>
            </a:custGeom>
            <a:solidFill>
              <a:srgbClr val="EEF5F6"/>
            </a:solidFill>
            <a:ln w="9525" cap="sq">
              <a:solidFill>
                <a:srgbClr val="CBD7DC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2159000" cy="1371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22" id="22"/>
          <p:cNvSpPr/>
          <p:nvPr/>
        </p:nvSpPr>
        <p:spPr>
          <a:xfrm>
            <a:off x="8153400" y="3638550"/>
            <a:ext cx="304800" cy="0"/>
          </a:xfrm>
          <a:prstGeom prst="line">
            <a:avLst/>
          </a:prstGeom>
          <a:ln cap="rnd" w="19050">
            <a:solidFill>
              <a:srgbClr val="2AA19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3" id="23"/>
          <p:cNvGrpSpPr/>
          <p:nvPr/>
        </p:nvGrpSpPr>
        <p:grpSpPr>
          <a:xfrm rot="0">
            <a:off x="8458200" y="3143250"/>
            <a:ext cx="1619250" cy="1000125"/>
            <a:chOff x="0" y="0"/>
            <a:chExt cx="2159000" cy="13335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159000" cy="1333500"/>
            </a:xfrm>
            <a:custGeom>
              <a:avLst/>
              <a:gdLst/>
              <a:ahLst/>
              <a:cxnLst/>
              <a:rect r="r" b="b" t="t" l="l"/>
              <a:pathLst>
                <a:path h="1333500" w="2159000">
                  <a:moveTo>
                    <a:pt x="0" y="0"/>
                  </a:moveTo>
                  <a:lnTo>
                    <a:pt x="2159000" y="0"/>
                  </a:lnTo>
                  <a:lnTo>
                    <a:pt x="2159000" y="1333500"/>
                  </a:lnTo>
                  <a:lnTo>
                    <a:pt x="0" y="1333500"/>
                  </a:lnTo>
                  <a:close/>
                </a:path>
              </a:pathLst>
            </a:custGeom>
            <a:solidFill>
              <a:srgbClr val="EEF5F6"/>
            </a:solidFill>
            <a:ln w="9525" cap="sq">
              <a:solidFill>
                <a:srgbClr val="CBD7DC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2159000" cy="1371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26" id="26"/>
          <p:cNvSpPr/>
          <p:nvPr/>
        </p:nvSpPr>
        <p:spPr>
          <a:xfrm>
            <a:off x="10077450" y="3638550"/>
            <a:ext cx="304800" cy="0"/>
          </a:xfrm>
          <a:prstGeom prst="line">
            <a:avLst/>
          </a:prstGeom>
          <a:ln cap="rnd" w="19050">
            <a:solidFill>
              <a:srgbClr val="2AA19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7" id="27"/>
          <p:cNvGrpSpPr/>
          <p:nvPr/>
        </p:nvGrpSpPr>
        <p:grpSpPr>
          <a:xfrm rot="0">
            <a:off x="10382250" y="3143250"/>
            <a:ext cx="1619250" cy="1000125"/>
            <a:chOff x="0" y="0"/>
            <a:chExt cx="2159000" cy="13335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159000" cy="1333500"/>
            </a:xfrm>
            <a:custGeom>
              <a:avLst/>
              <a:gdLst/>
              <a:ahLst/>
              <a:cxnLst/>
              <a:rect r="r" b="b" t="t" l="l"/>
              <a:pathLst>
                <a:path h="1333500" w="2159000">
                  <a:moveTo>
                    <a:pt x="0" y="0"/>
                  </a:moveTo>
                  <a:lnTo>
                    <a:pt x="2159000" y="0"/>
                  </a:lnTo>
                  <a:lnTo>
                    <a:pt x="2159000" y="1333500"/>
                  </a:lnTo>
                  <a:lnTo>
                    <a:pt x="0" y="1333500"/>
                  </a:lnTo>
                  <a:close/>
                </a:path>
              </a:pathLst>
            </a:custGeom>
            <a:solidFill>
              <a:srgbClr val="EEF5F6"/>
            </a:solidFill>
            <a:ln w="9525" cap="sq">
              <a:solidFill>
                <a:srgbClr val="CBD7DC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2159000" cy="1371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30" id="30"/>
          <p:cNvSpPr/>
          <p:nvPr/>
        </p:nvSpPr>
        <p:spPr>
          <a:xfrm>
            <a:off x="12001500" y="3638550"/>
            <a:ext cx="304800" cy="0"/>
          </a:xfrm>
          <a:prstGeom prst="line">
            <a:avLst/>
          </a:prstGeom>
          <a:ln cap="rnd" w="19050">
            <a:solidFill>
              <a:srgbClr val="2AA19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1" id="31"/>
          <p:cNvGrpSpPr/>
          <p:nvPr/>
        </p:nvGrpSpPr>
        <p:grpSpPr>
          <a:xfrm rot="0">
            <a:off x="12306300" y="3143250"/>
            <a:ext cx="1619250" cy="1000125"/>
            <a:chOff x="0" y="0"/>
            <a:chExt cx="2159000" cy="13335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159000" cy="1333500"/>
            </a:xfrm>
            <a:custGeom>
              <a:avLst/>
              <a:gdLst/>
              <a:ahLst/>
              <a:cxnLst/>
              <a:rect r="r" b="b" t="t" l="l"/>
              <a:pathLst>
                <a:path h="1333500" w="2159000">
                  <a:moveTo>
                    <a:pt x="0" y="0"/>
                  </a:moveTo>
                  <a:lnTo>
                    <a:pt x="2159000" y="0"/>
                  </a:lnTo>
                  <a:lnTo>
                    <a:pt x="2159000" y="1333500"/>
                  </a:lnTo>
                  <a:lnTo>
                    <a:pt x="0" y="1333500"/>
                  </a:lnTo>
                  <a:close/>
                </a:path>
              </a:pathLst>
            </a:custGeom>
            <a:solidFill>
              <a:srgbClr val="EEF5F6"/>
            </a:solidFill>
            <a:ln w="9525" cap="sq">
              <a:solidFill>
                <a:srgbClr val="CBD7DC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2159000" cy="1371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34" id="34"/>
          <p:cNvSpPr/>
          <p:nvPr/>
        </p:nvSpPr>
        <p:spPr>
          <a:xfrm>
            <a:off x="13925550" y="3638550"/>
            <a:ext cx="304800" cy="0"/>
          </a:xfrm>
          <a:prstGeom prst="line">
            <a:avLst/>
          </a:prstGeom>
          <a:ln cap="rnd" w="19050">
            <a:solidFill>
              <a:srgbClr val="2AA19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5" id="35"/>
          <p:cNvGrpSpPr/>
          <p:nvPr/>
        </p:nvGrpSpPr>
        <p:grpSpPr>
          <a:xfrm rot="0">
            <a:off x="14230350" y="3143250"/>
            <a:ext cx="1619250" cy="1000125"/>
            <a:chOff x="0" y="0"/>
            <a:chExt cx="2159000" cy="13335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159000" cy="1333500"/>
            </a:xfrm>
            <a:custGeom>
              <a:avLst/>
              <a:gdLst/>
              <a:ahLst/>
              <a:cxnLst/>
              <a:rect r="r" b="b" t="t" l="l"/>
              <a:pathLst>
                <a:path h="1333500" w="2159000">
                  <a:moveTo>
                    <a:pt x="0" y="0"/>
                  </a:moveTo>
                  <a:lnTo>
                    <a:pt x="2159000" y="0"/>
                  </a:lnTo>
                  <a:lnTo>
                    <a:pt x="2159000" y="1333500"/>
                  </a:lnTo>
                  <a:lnTo>
                    <a:pt x="0" y="1333500"/>
                  </a:lnTo>
                  <a:close/>
                </a:path>
              </a:pathLst>
            </a:custGeom>
            <a:solidFill>
              <a:srgbClr val="EEF5F6"/>
            </a:solidFill>
            <a:ln w="9525" cap="sq">
              <a:solidFill>
                <a:srgbClr val="CBD7DC"/>
              </a:soli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2159000" cy="1371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38" id="38"/>
          <p:cNvSpPr/>
          <p:nvPr/>
        </p:nvSpPr>
        <p:spPr>
          <a:xfrm>
            <a:off x="15849600" y="3638550"/>
            <a:ext cx="304800" cy="0"/>
          </a:xfrm>
          <a:prstGeom prst="line">
            <a:avLst/>
          </a:prstGeom>
          <a:ln cap="rnd" w="19050">
            <a:solidFill>
              <a:srgbClr val="2AA19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9" id="39"/>
          <p:cNvGrpSpPr/>
          <p:nvPr/>
        </p:nvGrpSpPr>
        <p:grpSpPr>
          <a:xfrm rot="0">
            <a:off x="16154400" y="3143250"/>
            <a:ext cx="1619250" cy="1000125"/>
            <a:chOff x="0" y="0"/>
            <a:chExt cx="2159000" cy="13335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159000" cy="1333500"/>
            </a:xfrm>
            <a:custGeom>
              <a:avLst/>
              <a:gdLst/>
              <a:ahLst/>
              <a:cxnLst/>
              <a:rect r="r" b="b" t="t" l="l"/>
              <a:pathLst>
                <a:path h="1333500" w="2159000">
                  <a:moveTo>
                    <a:pt x="0" y="0"/>
                  </a:moveTo>
                  <a:lnTo>
                    <a:pt x="2159000" y="0"/>
                  </a:lnTo>
                  <a:lnTo>
                    <a:pt x="2159000" y="1333500"/>
                  </a:lnTo>
                  <a:lnTo>
                    <a:pt x="0" y="1333500"/>
                  </a:lnTo>
                  <a:close/>
                </a:path>
              </a:pathLst>
            </a:custGeom>
            <a:solidFill>
              <a:srgbClr val="13233F"/>
            </a:solidFill>
            <a:ln w="9525" cap="sq">
              <a:solidFill>
                <a:srgbClr val="CBD7DC"/>
              </a:solidFill>
              <a:prstDash val="solid"/>
              <a:miter/>
            </a:ln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2159000" cy="1371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857250" y="3400425"/>
            <a:ext cx="1428750" cy="265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6"/>
              </a:lnSpc>
            </a:pPr>
            <a:r>
              <a:rPr lang="en-US" sz="1575" b="true">
                <a:solidFill>
                  <a:srgbClr val="13233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Đăng ký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2781300" y="3400425"/>
            <a:ext cx="1428750" cy="265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6"/>
              </a:lnSpc>
            </a:pPr>
            <a:r>
              <a:rPr lang="en-US" sz="1575" b="true">
                <a:solidFill>
                  <a:srgbClr val="13233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Gửi hồ sơ BTC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4705350" y="3400425"/>
            <a:ext cx="1428750" cy="265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6"/>
              </a:lnSpc>
            </a:pPr>
            <a:r>
              <a:rPr lang="en-US" sz="1575" b="true">
                <a:solidFill>
                  <a:srgbClr val="13233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Admin duyệt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6629400" y="3400425"/>
            <a:ext cx="1428750" cy="265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6"/>
              </a:lnSpc>
            </a:pPr>
            <a:r>
              <a:rPr lang="en-US" sz="1575" b="true">
                <a:solidFill>
                  <a:srgbClr val="13233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Tạo sự kiện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8553450" y="3400425"/>
            <a:ext cx="1428750" cy="265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6"/>
              </a:lnSpc>
            </a:pPr>
            <a:r>
              <a:rPr lang="en-US" sz="1575" b="true">
                <a:solidFill>
                  <a:srgbClr val="13233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Duyệt sự kiện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0477500" y="3400425"/>
            <a:ext cx="1428750" cy="265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6"/>
              </a:lnSpc>
            </a:pPr>
            <a:r>
              <a:rPr lang="en-US" sz="1575" b="true">
                <a:solidFill>
                  <a:srgbClr val="13233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Chọn vé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2401550" y="3400425"/>
            <a:ext cx="1428750" cy="265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6"/>
              </a:lnSpc>
            </a:pPr>
            <a:r>
              <a:rPr lang="en-US" sz="1575" b="true">
                <a:solidFill>
                  <a:srgbClr val="13233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Xác nhận đơn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4325600" y="3409950"/>
            <a:ext cx="1428750" cy="2219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2"/>
              </a:lnSpc>
            </a:pPr>
            <a:r>
              <a:rPr lang="en-US" sz="1350" b="true">
                <a:solidFill>
                  <a:srgbClr val="13233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Phát hành quyền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6249650" y="3409950"/>
            <a:ext cx="1428750" cy="188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18"/>
              </a:lnSpc>
            </a:pPr>
            <a:r>
              <a:rPr lang="en-US" sz="1125" b="true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Tham dự / Check-in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914400" y="5619750"/>
            <a:ext cx="3714750" cy="2095500"/>
            <a:chOff x="0" y="0"/>
            <a:chExt cx="4953000" cy="2794000"/>
          </a:xfrm>
        </p:grpSpPr>
        <p:grpSp>
          <p:nvGrpSpPr>
            <p:cNvPr name="Group 52" id="52"/>
            <p:cNvGrpSpPr/>
            <p:nvPr/>
          </p:nvGrpSpPr>
          <p:grpSpPr>
            <a:xfrm rot="0">
              <a:off x="0" y="0"/>
              <a:ext cx="4953000" cy="2794000"/>
              <a:chOff x="0" y="0"/>
              <a:chExt cx="4953000" cy="2794000"/>
            </a:xfrm>
          </p:grpSpPr>
          <p:sp>
            <p:nvSpPr>
              <p:cNvPr name="Freeform 53" id="53"/>
              <p:cNvSpPr/>
              <p:nvPr/>
            </p:nvSpPr>
            <p:spPr>
              <a:xfrm flipH="false" flipV="false" rot="0">
                <a:off x="0" y="0"/>
                <a:ext cx="4953000" cy="2794000"/>
              </a:xfrm>
              <a:custGeom>
                <a:avLst/>
                <a:gdLst/>
                <a:ahLst/>
                <a:cxnLst/>
                <a:rect r="r" b="b" t="t" l="l"/>
                <a:pathLst>
                  <a:path h="2794000" w="4953000">
                    <a:moveTo>
                      <a:pt x="0" y="0"/>
                    </a:moveTo>
                    <a:lnTo>
                      <a:pt x="4953000" y="0"/>
                    </a:lnTo>
                    <a:lnTo>
                      <a:pt x="4953000" y="2794000"/>
                    </a:lnTo>
                    <a:lnTo>
                      <a:pt x="0" y="2794000"/>
                    </a:lnTo>
                    <a:close/>
                  </a:path>
                </a:pathLst>
              </a:custGeom>
              <a:solidFill>
                <a:srgbClr val="F6F8F9"/>
              </a:solidFill>
              <a:ln w="9525" cap="sq">
                <a:solidFill>
                  <a:srgbClr val="CBD7DC"/>
                </a:solidFill>
                <a:prstDash val="solid"/>
                <a:miter/>
              </a:ln>
            </p:spPr>
          </p:sp>
          <p:sp>
            <p:nvSpPr>
              <p:cNvPr name="TextBox 54" id="54"/>
              <p:cNvSpPr txBox="true"/>
              <p:nvPr/>
            </p:nvSpPr>
            <p:spPr>
              <a:xfrm>
                <a:off x="0" y="-38100"/>
                <a:ext cx="4953000" cy="283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55" id="55"/>
            <p:cNvGrpSpPr/>
            <p:nvPr/>
          </p:nvGrpSpPr>
          <p:grpSpPr>
            <a:xfrm rot="0">
              <a:off x="0" y="0"/>
              <a:ext cx="101600" cy="2794000"/>
              <a:chOff x="0" y="0"/>
              <a:chExt cx="101600" cy="2794000"/>
            </a:xfrm>
          </p:grpSpPr>
          <p:sp>
            <p:nvSpPr>
              <p:cNvPr name="Freeform 56" id="56"/>
              <p:cNvSpPr/>
              <p:nvPr/>
            </p:nvSpPr>
            <p:spPr>
              <a:xfrm flipH="false" flipV="false" rot="0">
                <a:off x="0" y="0"/>
                <a:ext cx="101600" cy="2794000"/>
              </a:xfrm>
              <a:custGeom>
                <a:avLst/>
                <a:gdLst/>
                <a:ahLst/>
                <a:cxnLst/>
                <a:rect r="r" b="b" t="t" l="l"/>
                <a:pathLst>
                  <a:path h="2794000" w="101600">
                    <a:moveTo>
                      <a:pt x="0" y="0"/>
                    </a:moveTo>
                    <a:lnTo>
                      <a:pt x="101600" y="0"/>
                    </a:lnTo>
                    <a:lnTo>
                      <a:pt x="101600" y="2794000"/>
                    </a:lnTo>
                    <a:lnTo>
                      <a:pt x="0" y="2794000"/>
                    </a:lnTo>
                    <a:close/>
                  </a:path>
                </a:pathLst>
              </a:custGeom>
              <a:solidFill>
                <a:srgbClr val="2AA19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7" id="57"/>
              <p:cNvSpPr txBox="true"/>
              <p:nvPr/>
            </p:nvSpPr>
            <p:spPr>
              <a:xfrm>
                <a:off x="0" y="-38100"/>
                <a:ext cx="101600" cy="283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58" id="58"/>
            <p:cNvSpPr txBox="true"/>
            <p:nvPr/>
          </p:nvSpPr>
          <p:spPr>
            <a:xfrm rot="0">
              <a:off x="431800" y="365125"/>
              <a:ext cx="4089400" cy="414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15"/>
                </a:lnSpc>
              </a:pPr>
              <a:r>
                <a:rPr lang="en-US" sz="2100" b="true">
                  <a:solidFill>
                    <a:srgbClr val="13233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MIỄN PHÍ</a:t>
              </a:r>
            </a:p>
          </p:txBody>
        </p:sp>
        <p:sp>
          <p:nvSpPr>
            <p:cNvPr name="TextBox 59" id="59"/>
            <p:cNvSpPr txBox="true"/>
            <p:nvPr/>
          </p:nvSpPr>
          <p:spPr>
            <a:xfrm rot="0">
              <a:off x="431800" y="1012825"/>
              <a:ext cx="4089400" cy="3784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202B35"/>
                  </a:solidFill>
                  <a:latin typeface="Be Vietnam"/>
                  <a:ea typeface="Be Vietnam"/>
                  <a:cs typeface="Be Vietnam"/>
                  <a:sym typeface="Be Vietnam"/>
                </a:rPr>
                <a:t>Xác nhận đơn trực tiếp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5029200" y="5619750"/>
            <a:ext cx="3714750" cy="2095500"/>
            <a:chOff x="0" y="0"/>
            <a:chExt cx="4953000" cy="2794000"/>
          </a:xfrm>
        </p:grpSpPr>
        <p:grpSp>
          <p:nvGrpSpPr>
            <p:cNvPr name="Group 61" id="61"/>
            <p:cNvGrpSpPr/>
            <p:nvPr/>
          </p:nvGrpSpPr>
          <p:grpSpPr>
            <a:xfrm rot="0">
              <a:off x="0" y="0"/>
              <a:ext cx="4953000" cy="2794000"/>
              <a:chOff x="0" y="0"/>
              <a:chExt cx="4953000" cy="2794000"/>
            </a:xfrm>
          </p:grpSpPr>
          <p:sp>
            <p:nvSpPr>
              <p:cNvPr name="Freeform 62" id="62"/>
              <p:cNvSpPr/>
              <p:nvPr/>
            </p:nvSpPr>
            <p:spPr>
              <a:xfrm flipH="false" flipV="false" rot="0">
                <a:off x="0" y="0"/>
                <a:ext cx="4953000" cy="2794000"/>
              </a:xfrm>
              <a:custGeom>
                <a:avLst/>
                <a:gdLst/>
                <a:ahLst/>
                <a:cxnLst/>
                <a:rect r="r" b="b" t="t" l="l"/>
                <a:pathLst>
                  <a:path h="2794000" w="4953000">
                    <a:moveTo>
                      <a:pt x="0" y="0"/>
                    </a:moveTo>
                    <a:lnTo>
                      <a:pt x="4953000" y="0"/>
                    </a:lnTo>
                    <a:lnTo>
                      <a:pt x="4953000" y="2794000"/>
                    </a:lnTo>
                    <a:lnTo>
                      <a:pt x="0" y="2794000"/>
                    </a:lnTo>
                    <a:close/>
                  </a:path>
                </a:pathLst>
              </a:custGeom>
              <a:solidFill>
                <a:srgbClr val="F6F8F9"/>
              </a:solidFill>
              <a:ln w="9525" cap="sq">
                <a:solidFill>
                  <a:srgbClr val="CBD7DC"/>
                </a:solidFill>
                <a:prstDash val="solid"/>
                <a:miter/>
              </a:ln>
            </p:spPr>
          </p:sp>
          <p:sp>
            <p:nvSpPr>
              <p:cNvPr name="TextBox 63" id="63"/>
              <p:cNvSpPr txBox="true"/>
              <p:nvPr/>
            </p:nvSpPr>
            <p:spPr>
              <a:xfrm>
                <a:off x="0" y="-38100"/>
                <a:ext cx="4953000" cy="283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64" id="64"/>
            <p:cNvGrpSpPr/>
            <p:nvPr/>
          </p:nvGrpSpPr>
          <p:grpSpPr>
            <a:xfrm rot="0">
              <a:off x="0" y="0"/>
              <a:ext cx="101600" cy="2794000"/>
              <a:chOff x="0" y="0"/>
              <a:chExt cx="101600" cy="2794000"/>
            </a:xfrm>
          </p:grpSpPr>
          <p:sp>
            <p:nvSpPr>
              <p:cNvPr name="Freeform 65" id="65"/>
              <p:cNvSpPr/>
              <p:nvPr/>
            </p:nvSpPr>
            <p:spPr>
              <a:xfrm flipH="false" flipV="false" rot="0">
                <a:off x="0" y="0"/>
                <a:ext cx="101600" cy="2794000"/>
              </a:xfrm>
              <a:custGeom>
                <a:avLst/>
                <a:gdLst/>
                <a:ahLst/>
                <a:cxnLst/>
                <a:rect r="r" b="b" t="t" l="l"/>
                <a:pathLst>
                  <a:path h="2794000" w="101600">
                    <a:moveTo>
                      <a:pt x="0" y="0"/>
                    </a:moveTo>
                    <a:lnTo>
                      <a:pt x="101600" y="0"/>
                    </a:lnTo>
                    <a:lnTo>
                      <a:pt x="101600" y="2794000"/>
                    </a:lnTo>
                    <a:lnTo>
                      <a:pt x="0" y="2794000"/>
                    </a:lnTo>
                    <a:close/>
                  </a:path>
                </a:pathLst>
              </a:custGeom>
              <a:solidFill>
                <a:srgbClr val="2AA19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6" id="66"/>
              <p:cNvSpPr txBox="true"/>
              <p:nvPr/>
            </p:nvSpPr>
            <p:spPr>
              <a:xfrm>
                <a:off x="0" y="-38100"/>
                <a:ext cx="101600" cy="283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67" id="67"/>
            <p:cNvSpPr txBox="true"/>
            <p:nvPr/>
          </p:nvSpPr>
          <p:spPr>
            <a:xfrm rot="0">
              <a:off x="431800" y="365125"/>
              <a:ext cx="4089400" cy="414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15"/>
                </a:lnSpc>
              </a:pPr>
              <a:r>
                <a:rPr lang="en-US" sz="2100" b="true">
                  <a:solidFill>
                    <a:srgbClr val="13233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CÓ PHÍ</a:t>
              </a:r>
            </a:p>
          </p:txBody>
        </p:sp>
        <p:sp>
          <p:nvSpPr>
            <p:cNvPr name="TextBox 68" id="68"/>
            <p:cNvSpPr txBox="true"/>
            <p:nvPr/>
          </p:nvSpPr>
          <p:spPr>
            <a:xfrm rot="0">
              <a:off x="431800" y="1012825"/>
              <a:ext cx="4089400" cy="7721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202B35"/>
                  </a:solidFill>
                  <a:latin typeface="Be Vietnam"/>
                  <a:ea typeface="Be Vietnam"/>
                  <a:cs typeface="Be Vietnam"/>
                  <a:sym typeface="Be Vietnam"/>
                </a:rPr>
                <a:t>Chờ thanh toán • giữ vé 10 phút • thành công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9144000" y="5619750"/>
            <a:ext cx="3714750" cy="2095500"/>
            <a:chOff x="0" y="0"/>
            <a:chExt cx="4953000" cy="2794000"/>
          </a:xfrm>
        </p:grpSpPr>
        <p:grpSp>
          <p:nvGrpSpPr>
            <p:cNvPr name="Group 70" id="70"/>
            <p:cNvGrpSpPr/>
            <p:nvPr/>
          </p:nvGrpSpPr>
          <p:grpSpPr>
            <a:xfrm rot="0">
              <a:off x="0" y="0"/>
              <a:ext cx="4953000" cy="2794000"/>
              <a:chOff x="0" y="0"/>
              <a:chExt cx="4953000" cy="2794000"/>
            </a:xfrm>
          </p:grpSpPr>
          <p:sp>
            <p:nvSpPr>
              <p:cNvPr name="Freeform 71" id="71"/>
              <p:cNvSpPr/>
              <p:nvPr/>
            </p:nvSpPr>
            <p:spPr>
              <a:xfrm flipH="false" flipV="false" rot="0">
                <a:off x="0" y="0"/>
                <a:ext cx="4953000" cy="2794000"/>
              </a:xfrm>
              <a:custGeom>
                <a:avLst/>
                <a:gdLst/>
                <a:ahLst/>
                <a:cxnLst/>
                <a:rect r="r" b="b" t="t" l="l"/>
                <a:pathLst>
                  <a:path h="2794000" w="4953000">
                    <a:moveTo>
                      <a:pt x="0" y="0"/>
                    </a:moveTo>
                    <a:lnTo>
                      <a:pt x="4953000" y="0"/>
                    </a:lnTo>
                    <a:lnTo>
                      <a:pt x="4953000" y="2794000"/>
                    </a:lnTo>
                    <a:lnTo>
                      <a:pt x="0" y="2794000"/>
                    </a:lnTo>
                    <a:close/>
                  </a:path>
                </a:pathLst>
              </a:custGeom>
              <a:solidFill>
                <a:srgbClr val="F6F8F9"/>
              </a:solidFill>
              <a:ln w="9525" cap="sq">
                <a:solidFill>
                  <a:srgbClr val="CBD7DC"/>
                </a:solidFill>
                <a:prstDash val="solid"/>
                <a:miter/>
              </a:ln>
            </p:spPr>
          </p:sp>
          <p:sp>
            <p:nvSpPr>
              <p:cNvPr name="TextBox 72" id="72"/>
              <p:cNvSpPr txBox="true"/>
              <p:nvPr/>
            </p:nvSpPr>
            <p:spPr>
              <a:xfrm>
                <a:off x="0" y="-38100"/>
                <a:ext cx="4953000" cy="283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73" id="73"/>
            <p:cNvGrpSpPr/>
            <p:nvPr/>
          </p:nvGrpSpPr>
          <p:grpSpPr>
            <a:xfrm rot="0">
              <a:off x="0" y="0"/>
              <a:ext cx="101600" cy="2794000"/>
              <a:chOff x="0" y="0"/>
              <a:chExt cx="101600" cy="2794000"/>
            </a:xfrm>
          </p:grpSpPr>
          <p:sp>
            <p:nvSpPr>
              <p:cNvPr name="Freeform 74" id="74"/>
              <p:cNvSpPr/>
              <p:nvPr/>
            </p:nvSpPr>
            <p:spPr>
              <a:xfrm flipH="false" flipV="false" rot="0">
                <a:off x="0" y="0"/>
                <a:ext cx="101600" cy="2794000"/>
              </a:xfrm>
              <a:custGeom>
                <a:avLst/>
                <a:gdLst/>
                <a:ahLst/>
                <a:cxnLst/>
                <a:rect r="r" b="b" t="t" l="l"/>
                <a:pathLst>
                  <a:path h="2794000" w="101600">
                    <a:moveTo>
                      <a:pt x="0" y="0"/>
                    </a:moveTo>
                    <a:lnTo>
                      <a:pt x="101600" y="0"/>
                    </a:lnTo>
                    <a:lnTo>
                      <a:pt x="101600" y="2794000"/>
                    </a:lnTo>
                    <a:lnTo>
                      <a:pt x="0" y="2794000"/>
                    </a:lnTo>
                    <a:close/>
                  </a:path>
                </a:pathLst>
              </a:custGeom>
              <a:solidFill>
                <a:srgbClr val="176B8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75" id="75"/>
              <p:cNvSpPr txBox="true"/>
              <p:nvPr/>
            </p:nvSpPr>
            <p:spPr>
              <a:xfrm>
                <a:off x="0" y="-38100"/>
                <a:ext cx="101600" cy="283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76" id="76"/>
            <p:cNvSpPr txBox="true"/>
            <p:nvPr/>
          </p:nvSpPr>
          <p:spPr>
            <a:xfrm rot="0">
              <a:off x="431800" y="365125"/>
              <a:ext cx="4089400" cy="414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15"/>
                </a:lnSpc>
              </a:pPr>
              <a:r>
                <a:rPr lang="en-US" sz="2100" b="true">
                  <a:solidFill>
                    <a:srgbClr val="13233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OFFLINE</a:t>
              </a:r>
            </a:p>
          </p:txBody>
        </p:sp>
        <p:sp>
          <p:nvSpPr>
            <p:cNvPr name="TextBox 77" id="77"/>
            <p:cNvSpPr txBox="true"/>
            <p:nvPr/>
          </p:nvSpPr>
          <p:spPr>
            <a:xfrm rot="0">
              <a:off x="431800" y="1012825"/>
              <a:ext cx="4089400" cy="3784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202B35"/>
                  </a:solidFill>
                  <a:latin typeface="Be Vietnam"/>
                  <a:ea typeface="Be Vietnam"/>
                  <a:cs typeface="Be Vietnam"/>
                  <a:sym typeface="Be Vietnam"/>
                </a:rPr>
                <a:t>Vé QR • check-in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13258800" y="5619750"/>
            <a:ext cx="3714750" cy="2095500"/>
            <a:chOff x="0" y="0"/>
            <a:chExt cx="4953000" cy="2794000"/>
          </a:xfrm>
        </p:grpSpPr>
        <p:grpSp>
          <p:nvGrpSpPr>
            <p:cNvPr name="Group 79" id="79"/>
            <p:cNvGrpSpPr/>
            <p:nvPr/>
          </p:nvGrpSpPr>
          <p:grpSpPr>
            <a:xfrm rot="0">
              <a:off x="0" y="0"/>
              <a:ext cx="4953000" cy="2794000"/>
              <a:chOff x="0" y="0"/>
              <a:chExt cx="4953000" cy="2794000"/>
            </a:xfrm>
          </p:grpSpPr>
          <p:sp>
            <p:nvSpPr>
              <p:cNvPr name="Freeform 80" id="80"/>
              <p:cNvSpPr/>
              <p:nvPr/>
            </p:nvSpPr>
            <p:spPr>
              <a:xfrm flipH="false" flipV="false" rot="0">
                <a:off x="0" y="0"/>
                <a:ext cx="4953000" cy="2794000"/>
              </a:xfrm>
              <a:custGeom>
                <a:avLst/>
                <a:gdLst/>
                <a:ahLst/>
                <a:cxnLst/>
                <a:rect r="r" b="b" t="t" l="l"/>
                <a:pathLst>
                  <a:path h="2794000" w="4953000">
                    <a:moveTo>
                      <a:pt x="0" y="0"/>
                    </a:moveTo>
                    <a:lnTo>
                      <a:pt x="4953000" y="0"/>
                    </a:lnTo>
                    <a:lnTo>
                      <a:pt x="4953000" y="2794000"/>
                    </a:lnTo>
                    <a:lnTo>
                      <a:pt x="0" y="2794000"/>
                    </a:lnTo>
                    <a:close/>
                  </a:path>
                </a:pathLst>
              </a:custGeom>
              <a:solidFill>
                <a:srgbClr val="F6F8F9"/>
              </a:solidFill>
              <a:ln w="9525" cap="sq">
                <a:solidFill>
                  <a:srgbClr val="CBD7DC"/>
                </a:solidFill>
                <a:prstDash val="solid"/>
                <a:miter/>
              </a:ln>
            </p:spPr>
          </p:sp>
          <p:sp>
            <p:nvSpPr>
              <p:cNvPr name="TextBox 81" id="81"/>
              <p:cNvSpPr txBox="true"/>
              <p:nvPr/>
            </p:nvSpPr>
            <p:spPr>
              <a:xfrm>
                <a:off x="0" y="-38100"/>
                <a:ext cx="4953000" cy="283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82" id="82"/>
            <p:cNvGrpSpPr/>
            <p:nvPr/>
          </p:nvGrpSpPr>
          <p:grpSpPr>
            <a:xfrm rot="0">
              <a:off x="0" y="0"/>
              <a:ext cx="101600" cy="2794000"/>
              <a:chOff x="0" y="0"/>
              <a:chExt cx="101600" cy="2794000"/>
            </a:xfrm>
          </p:grpSpPr>
          <p:sp>
            <p:nvSpPr>
              <p:cNvPr name="Freeform 83" id="83"/>
              <p:cNvSpPr/>
              <p:nvPr/>
            </p:nvSpPr>
            <p:spPr>
              <a:xfrm flipH="false" flipV="false" rot="0">
                <a:off x="0" y="0"/>
                <a:ext cx="101600" cy="2794000"/>
              </a:xfrm>
              <a:custGeom>
                <a:avLst/>
                <a:gdLst/>
                <a:ahLst/>
                <a:cxnLst/>
                <a:rect r="r" b="b" t="t" l="l"/>
                <a:pathLst>
                  <a:path h="2794000" w="101600">
                    <a:moveTo>
                      <a:pt x="0" y="0"/>
                    </a:moveTo>
                    <a:lnTo>
                      <a:pt x="101600" y="0"/>
                    </a:lnTo>
                    <a:lnTo>
                      <a:pt x="101600" y="2794000"/>
                    </a:lnTo>
                    <a:lnTo>
                      <a:pt x="0" y="2794000"/>
                    </a:lnTo>
                    <a:close/>
                  </a:path>
                </a:pathLst>
              </a:custGeom>
              <a:solidFill>
                <a:srgbClr val="176B8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4" id="84"/>
              <p:cNvSpPr txBox="true"/>
              <p:nvPr/>
            </p:nvSpPr>
            <p:spPr>
              <a:xfrm>
                <a:off x="0" y="-38100"/>
                <a:ext cx="101600" cy="283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85" id="85"/>
            <p:cNvSpPr txBox="true"/>
            <p:nvPr/>
          </p:nvSpPr>
          <p:spPr>
            <a:xfrm rot="0">
              <a:off x="431800" y="365125"/>
              <a:ext cx="4089400" cy="414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15"/>
                </a:lnSpc>
              </a:pPr>
              <a:r>
                <a:rPr lang="en-US" sz="2100" b="true">
                  <a:solidFill>
                    <a:srgbClr val="13233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ONLINE</a:t>
              </a:r>
            </a:p>
          </p:txBody>
        </p:sp>
        <p:sp>
          <p:nvSpPr>
            <p:cNvPr name="TextBox 86" id="86"/>
            <p:cNvSpPr txBox="true"/>
            <p:nvPr/>
          </p:nvSpPr>
          <p:spPr>
            <a:xfrm rot="0">
              <a:off x="431800" y="1012825"/>
              <a:ext cx="4089400" cy="3784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202B35"/>
                  </a:solidFill>
                  <a:latin typeface="Be Vietnam"/>
                  <a:ea typeface="Be Vietnam"/>
                  <a:cs typeface="Be Vietnam"/>
                  <a:sym typeface="Be Vietnam"/>
                </a:rPr>
                <a:t>Link tham dự • không QR</a:t>
              </a:r>
            </a:p>
          </p:txBody>
        </p:sp>
      </p:grpSp>
      <p:sp>
        <p:nvSpPr>
          <p:cNvPr name="AutoShape 87" id="87"/>
          <p:cNvSpPr/>
          <p:nvPr/>
        </p:nvSpPr>
        <p:spPr>
          <a:xfrm>
            <a:off x="914400" y="9620250"/>
            <a:ext cx="16459200" cy="0"/>
          </a:xfrm>
          <a:prstGeom prst="line">
            <a:avLst/>
          </a:prstGeom>
          <a:ln cap="flat" w="9525">
            <a:solidFill>
              <a:srgbClr val="CBD7D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8" id="88"/>
          <p:cNvSpPr txBox="true"/>
          <p:nvPr/>
        </p:nvSpPr>
        <p:spPr>
          <a:xfrm rot="0">
            <a:off x="914400" y="9801225"/>
            <a:ext cx="13811250" cy="202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7"/>
              </a:lnSpc>
            </a:pPr>
            <a:r>
              <a:rPr lang="en-US" sz="1275">
                <a:solidFill>
                  <a:srgbClr val="5D6B75"/>
                </a:solidFill>
                <a:latin typeface="Be Vietnam"/>
                <a:ea typeface="Be Vietnam"/>
                <a:cs typeface="Be Vietnam"/>
                <a:sym typeface="Be Vietnam"/>
              </a:rPr>
              <a:t>Xây dựng ứng dụng quản lý sự kiện trực tuyến – Nguyễn Vinh Quang – DH52201310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16716375" y="9801225"/>
            <a:ext cx="666750" cy="202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57"/>
              </a:lnSpc>
            </a:pPr>
            <a:r>
              <a:rPr lang="en-US" sz="1275">
                <a:solidFill>
                  <a:srgbClr val="5D6B75"/>
                </a:solidFill>
                <a:latin typeface="Be Vietnam"/>
                <a:ea typeface="Be Vietnam"/>
                <a:cs typeface="Be Vietnam"/>
                <a:sym typeface="Be Vietnam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76250"/>
            <a:ext cx="85725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20" b="true">
                <a:solidFill>
                  <a:srgbClr val="176B87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WUANGEVENTS  •  07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933450"/>
            <a:ext cx="14287500" cy="574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6"/>
              </a:lnSpc>
            </a:pPr>
            <a:r>
              <a:rPr lang="en-US" sz="4050" b="true">
                <a:solidFill>
                  <a:srgbClr val="13233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THIẾT KẾ CƠ SỞ DỮ LIỆU QUAN HỆ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14400" y="1638300"/>
            <a:ext cx="781050" cy="57150"/>
            <a:chOff x="0" y="0"/>
            <a:chExt cx="1041400" cy="76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41400" cy="76200"/>
            </a:xfrm>
            <a:custGeom>
              <a:avLst/>
              <a:gdLst/>
              <a:ahLst/>
              <a:cxnLst/>
              <a:rect r="r" b="b" t="t" l="l"/>
              <a:pathLst>
                <a:path h="76200" w="1041400">
                  <a:moveTo>
                    <a:pt x="0" y="0"/>
                  </a:moveTo>
                  <a:lnTo>
                    <a:pt x="1041400" y="0"/>
                  </a:lnTo>
                  <a:lnTo>
                    <a:pt x="10414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2AA198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041400" cy="114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2238375"/>
            <a:ext cx="9334500" cy="6429375"/>
            <a:chOff x="0" y="0"/>
            <a:chExt cx="12446000" cy="85725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446000" cy="8572500"/>
            </a:xfrm>
            <a:custGeom>
              <a:avLst/>
              <a:gdLst/>
              <a:ahLst/>
              <a:cxnLst/>
              <a:rect r="r" b="b" t="t" l="l"/>
              <a:pathLst>
                <a:path h="8572500" w="12446000">
                  <a:moveTo>
                    <a:pt x="0" y="0"/>
                  </a:moveTo>
                  <a:lnTo>
                    <a:pt x="12446000" y="0"/>
                  </a:lnTo>
                  <a:lnTo>
                    <a:pt x="12446000" y="8572500"/>
                  </a:lnTo>
                  <a:lnTo>
                    <a:pt x="0" y="8572500"/>
                  </a:lnTo>
                  <a:close/>
                </a:path>
              </a:pathLst>
            </a:custGeom>
            <a:solidFill>
              <a:srgbClr val="F6F8F9"/>
            </a:solidFill>
            <a:ln w="9525" cap="sq">
              <a:solidFill>
                <a:srgbClr val="CBD7DC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2446000" cy="8610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2381250" y="4600575"/>
            <a:ext cx="6381750" cy="1017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32"/>
              </a:lnSpc>
            </a:pPr>
            <a:r>
              <a:rPr lang="en-US" sz="3600" b="true">
                <a:solidFill>
                  <a:srgbClr val="5D6B7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KHUNG ERD Ý NIỆM</a:t>
            </a:r>
          </a:p>
          <a:p>
            <a:pPr algn="ctr">
              <a:lnSpc>
                <a:spcPts val="4032"/>
              </a:lnSpc>
            </a:pPr>
            <a:r>
              <a:rPr lang="en-US" sz="3600" b="true">
                <a:solidFill>
                  <a:srgbClr val="5D6B7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R1 — R19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66875" y="7791450"/>
            <a:ext cx="781050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50"/>
              </a:lnSpc>
            </a:pPr>
            <a:r>
              <a:rPr lang="en-US" sz="1500">
                <a:solidFill>
                  <a:srgbClr val="5D6B75"/>
                </a:solidFill>
                <a:latin typeface="Be Vietnam"/>
                <a:ea typeface="Be Vietnam"/>
                <a:cs typeface="Be Vietnam"/>
                <a:sym typeface="Be Vietnam"/>
              </a:rPr>
              <a:t>Hình thoi: mối quan hệ   •   1 / N: lực lượng kết hợp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0668000" y="2238375"/>
            <a:ext cx="6705600" cy="6429375"/>
            <a:chOff x="0" y="0"/>
            <a:chExt cx="8940800" cy="8572500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8940800" cy="8572500"/>
              <a:chOff x="0" y="0"/>
              <a:chExt cx="8940800" cy="85725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8940800" cy="8572500"/>
              </a:xfrm>
              <a:custGeom>
                <a:avLst/>
                <a:gdLst/>
                <a:ahLst/>
                <a:cxnLst/>
                <a:rect r="r" b="b" t="t" l="l"/>
                <a:pathLst>
                  <a:path h="8572500" w="8940800">
                    <a:moveTo>
                      <a:pt x="0" y="0"/>
                    </a:moveTo>
                    <a:lnTo>
                      <a:pt x="8940800" y="0"/>
                    </a:lnTo>
                    <a:lnTo>
                      <a:pt x="8940800" y="8572500"/>
                    </a:lnTo>
                    <a:lnTo>
                      <a:pt x="0" y="8572500"/>
                    </a:lnTo>
                    <a:close/>
                  </a:path>
                </a:pathLst>
              </a:custGeom>
              <a:solidFill>
                <a:srgbClr val="F6F8F9"/>
              </a:solidFill>
              <a:ln w="9525" cap="sq">
                <a:solidFill>
                  <a:srgbClr val="CBD7DC"/>
                </a:solidFill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8940800" cy="8610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0" y="0"/>
              <a:ext cx="101600" cy="8572500"/>
              <a:chOff x="0" y="0"/>
              <a:chExt cx="101600" cy="85725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01600" cy="8572500"/>
              </a:xfrm>
              <a:custGeom>
                <a:avLst/>
                <a:gdLst/>
                <a:ahLst/>
                <a:cxnLst/>
                <a:rect r="r" b="b" t="t" l="l"/>
                <a:pathLst>
                  <a:path h="8572500" w="101600">
                    <a:moveTo>
                      <a:pt x="0" y="0"/>
                    </a:moveTo>
                    <a:lnTo>
                      <a:pt x="101600" y="0"/>
                    </a:lnTo>
                    <a:lnTo>
                      <a:pt x="101600" y="8572500"/>
                    </a:lnTo>
                    <a:lnTo>
                      <a:pt x="0" y="8572500"/>
                    </a:lnTo>
                    <a:close/>
                  </a:path>
                </a:pathLst>
              </a:custGeom>
              <a:solidFill>
                <a:srgbClr val="176B8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101600" cy="8610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431800" y="365125"/>
              <a:ext cx="8077200" cy="414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15"/>
                </a:lnSpc>
              </a:pPr>
              <a:r>
                <a:rPr lang="en-US" sz="2100" b="true">
                  <a:solidFill>
                    <a:srgbClr val="13233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TỔNG QUAN THIẾT KẾ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431800" y="1012825"/>
              <a:ext cx="8077200" cy="51028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202B35"/>
                  </a:solidFill>
                  <a:latin typeface="Be Vietnam"/>
                  <a:ea typeface="Be Vietnam"/>
                  <a:cs typeface="Be Vietnam"/>
                  <a:sym typeface="Be Vietnam"/>
                </a:rPr>
                <a:t>13 BẢNG SQL SERVER</a:t>
              </a:r>
            </a:p>
            <a:p>
              <a:pPr algn="l">
                <a:lnSpc>
                  <a:spcPts val="2328"/>
                </a:lnSpc>
              </a:pPr>
            </a:p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202B35"/>
                  </a:solidFill>
                  <a:latin typeface="Be Vietnam"/>
                  <a:ea typeface="Be Vietnam"/>
                  <a:cs typeface="Be Vietnam"/>
                  <a:sym typeface="Be Vietnam"/>
                </a:rPr>
                <a:t>NHÓM DỮ LIỆU</a:t>
              </a:r>
            </a:p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202B35"/>
                  </a:solidFill>
                  <a:latin typeface="Be Vietnam"/>
                  <a:ea typeface="Be Vietnam"/>
                  <a:cs typeface="Be Vietnam"/>
                  <a:sym typeface="Be Vietnam"/>
                </a:rPr>
                <a:t>• Người dùng &amp; phân quyền</a:t>
              </a:r>
            </a:p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202B35"/>
                  </a:solidFill>
                  <a:latin typeface="Be Vietnam"/>
                  <a:ea typeface="Be Vietnam"/>
                  <a:cs typeface="Be Vietnam"/>
                  <a:sym typeface="Be Vietnam"/>
                </a:rPr>
                <a:t>• Sự kiện &amp; hồ sơ tổ chức</a:t>
              </a:r>
            </a:p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202B35"/>
                  </a:solidFill>
                  <a:latin typeface="Be Vietnam"/>
                  <a:ea typeface="Be Vietnam"/>
                  <a:cs typeface="Be Vietnam"/>
                  <a:sym typeface="Be Vietnam"/>
                </a:rPr>
                <a:t>• Bán vé, đơn hàng, thanh toán</a:t>
              </a:r>
            </a:p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202B35"/>
                  </a:solidFill>
                  <a:latin typeface="Be Vietnam"/>
                  <a:ea typeface="Be Vietnam"/>
                  <a:cs typeface="Be Vietnam"/>
                  <a:sym typeface="Be Vietnam"/>
                </a:rPr>
                <a:t>• Sơ đồ chỗ ngồi &amp; check-in</a:t>
              </a:r>
            </a:p>
            <a:p>
              <a:pPr algn="l">
                <a:lnSpc>
                  <a:spcPts val="2328"/>
                </a:lnSpc>
              </a:pPr>
            </a:p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202B35"/>
                  </a:solidFill>
                  <a:latin typeface="Be Vietnam"/>
                  <a:ea typeface="Be Vietnam"/>
                  <a:cs typeface="Be Vietnam"/>
                  <a:sym typeface="Be Vietnam"/>
                </a:rPr>
                <a:t>RÀNG BUỘC</a:t>
              </a:r>
            </a:p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202B35"/>
                  </a:solidFill>
                  <a:latin typeface="Be Vietnam"/>
                  <a:ea typeface="Be Vietnam"/>
                  <a:cs typeface="Be Vietnam"/>
                  <a:sym typeface="Be Vietnam"/>
                </a:rPr>
                <a:t>• Khóa chính / khóa ngoại</a:t>
              </a:r>
            </a:p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202B35"/>
                  </a:solidFill>
                  <a:latin typeface="Be Vietnam"/>
                  <a:ea typeface="Be Vietnam"/>
                  <a:cs typeface="Be Vietnam"/>
                  <a:sym typeface="Be Vietnam"/>
                </a:rPr>
                <a:t>• Unique chống trùng</a:t>
              </a:r>
            </a:p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202B35"/>
                  </a:solidFill>
                  <a:latin typeface="Be Vietnam"/>
                  <a:ea typeface="Be Vietnam"/>
                  <a:cs typeface="Be Vietnam"/>
                  <a:sym typeface="Be Vietnam"/>
                </a:rPr>
                <a:t>• Check bảo đảm miền giá trị</a:t>
              </a:r>
            </a:p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202B35"/>
                  </a:solidFill>
                  <a:latin typeface="Be Vietnam"/>
                  <a:ea typeface="Be Vietnam"/>
                  <a:cs typeface="Be Vietnam"/>
                  <a:sym typeface="Be Vietnam"/>
                </a:rPr>
                <a:t>• Quan hệ 1–N và liên kết nghiệp vụ</a:t>
              </a:r>
            </a:p>
          </p:txBody>
        </p:sp>
      </p:grpSp>
      <p:sp>
        <p:nvSpPr>
          <p:cNvPr name="AutoShape 21" id="21"/>
          <p:cNvSpPr/>
          <p:nvPr/>
        </p:nvSpPr>
        <p:spPr>
          <a:xfrm>
            <a:off x="914400" y="9620250"/>
            <a:ext cx="16459200" cy="0"/>
          </a:xfrm>
          <a:prstGeom prst="line">
            <a:avLst/>
          </a:prstGeom>
          <a:ln cap="flat" w="9525">
            <a:solidFill>
              <a:srgbClr val="CBD7D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2" id="22"/>
          <p:cNvSpPr txBox="true"/>
          <p:nvPr/>
        </p:nvSpPr>
        <p:spPr>
          <a:xfrm rot="0">
            <a:off x="914400" y="9801225"/>
            <a:ext cx="13811250" cy="202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7"/>
              </a:lnSpc>
            </a:pPr>
            <a:r>
              <a:rPr lang="en-US" sz="1275">
                <a:solidFill>
                  <a:srgbClr val="5D6B75"/>
                </a:solidFill>
                <a:latin typeface="Be Vietnam"/>
                <a:ea typeface="Be Vietnam"/>
                <a:cs typeface="Be Vietnam"/>
                <a:sym typeface="Be Vietnam"/>
              </a:rPr>
              <a:t>Xây dựng ứng dụng quản lý sự kiện trực tuyến – Nguyễn Vinh Quang – DH52201310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6716375" y="9801225"/>
            <a:ext cx="666750" cy="202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57"/>
              </a:lnSpc>
            </a:pPr>
            <a:r>
              <a:rPr lang="en-US" sz="1275">
                <a:solidFill>
                  <a:srgbClr val="5D6B75"/>
                </a:solidFill>
                <a:latin typeface="Be Vietnam"/>
                <a:ea typeface="Be Vietnam"/>
                <a:cs typeface="Be Vietnam"/>
                <a:sym typeface="Be Vietnam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76250"/>
            <a:ext cx="85725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20" b="true">
                <a:solidFill>
                  <a:srgbClr val="176B87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WUANGEVENTS  •  08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933450"/>
            <a:ext cx="14287500" cy="574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6"/>
              </a:lnSpc>
            </a:pPr>
            <a:r>
              <a:rPr lang="en-US" sz="4050" b="true">
                <a:solidFill>
                  <a:srgbClr val="13233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MỘT SỐ GIAO DIỆN TIÊU BIỂU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14400" y="1638300"/>
            <a:ext cx="781050" cy="57150"/>
            <a:chOff x="0" y="0"/>
            <a:chExt cx="1041400" cy="76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41400" cy="76200"/>
            </a:xfrm>
            <a:custGeom>
              <a:avLst/>
              <a:gdLst/>
              <a:ahLst/>
              <a:cxnLst/>
              <a:rect r="r" b="b" t="t" l="l"/>
              <a:pathLst>
                <a:path h="76200" w="1041400">
                  <a:moveTo>
                    <a:pt x="0" y="0"/>
                  </a:moveTo>
                  <a:lnTo>
                    <a:pt x="1041400" y="0"/>
                  </a:lnTo>
                  <a:lnTo>
                    <a:pt x="10414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2AA198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041400" cy="114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2190750"/>
            <a:ext cx="7772400" cy="3000375"/>
            <a:chOff x="0" y="0"/>
            <a:chExt cx="10363200" cy="4000500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10363200" cy="4000500"/>
              <a:chOff x="0" y="0"/>
              <a:chExt cx="10363200" cy="40005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0363200" cy="4000500"/>
              </a:xfrm>
              <a:custGeom>
                <a:avLst/>
                <a:gdLst/>
                <a:ahLst/>
                <a:cxnLst/>
                <a:rect r="r" b="b" t="t" l="l"/>
                <a:pathLst>
                  <a:path h="4000500" w="10363200">
                    <a:moveTo>
                      <a:pt x="0" y="0"/>
                    </a:moveTo>
                    <a:lnTo>
                      <a:pt x="10363200" y="0"/>
                    </a:lnTo>
                    <a:lnTo>
                      <a:pt x="10363200" y="4000500"/>
                    </a:lnTo>
                    <a:lnTo>
                      <a:pt x="0" y="4000500"/>
                    </a:lnTo>
                    <a:close/>
                  </a:path>
                </a:pathLst>
              </a:custGeom>
              <a:solidFill>
                <a:srgbClr val="F6F8F9"/>
              </a:solidFill>
              <a:ln w="9525" cap="sq">
                <a:solidFill>
                  <a:srgbClr val="CBD7DC"/>
                </a:solidFill>
                <a:prstDash val="solid"/>
                <a:miter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10363200" cy="4038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0">
              <a:off x="304800" y="304800"/>
              <a:ext cx="9753600" cy="2603500"/>
              <a:chOff x="0" y="0"/>
              <a:chExt cx="9753600" cy="26035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9753600" cy="2603500"/>
              </a:xfrm>
              <a:custGeom>
                <a:avLst/>
                <a:gdLst/>
                <a:ahLst/>
                <a:cxnLst/>
                <a:rect r="r" b="b" t="t" l="l"/>
                <a:pathLst>
                  <a:path h="2603500" w="9753600">
                    <a:moveTo>
                      <a:pt x="0" y="0"/>
                    </a:moveTo>
                    <a:lnTo>
                      <a:pt x="9753600" y="0"/>
                    </a:lnTo>
                    <a:lnTo>
                      <a:pt x="9753600" y="2603500"/>
                    </a:lnTo>
                    <a:lnTo>
                      <a:pt x="0" y="2603500"/>
                    </a:lnTo>
                    <a:close/>
                  </a:path>
                </a:pathLst>
              </a:custGeom>
              <a:solidFill>
                <a:srgbClr val="EEF5F6"/>
              </a:solidFill>
              <a:ln w="9525" cap="sq">
                <a:solidFill>
                  <a:srgbClr val="CBD7DC"/>
                </a:solidFill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9753600" cy="2641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304800" y="3108325"/>
              <a:ext cx="9652000" cy="361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56"/>
                </a:lnSpc>
              </a:pPr>
              <a:r>
                <a:rPr lang="en-US" sz="1875" b="true">
                  <a:solidFill>
                    <a:srgbClr val="13233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01  TRANG CHỦ &amp; KHÁM PHÁ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304800" y="3571875"/>
              <a:ext cx="9652000" cy="2901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52"/>
                </a:lnSpc>
              </a:pPr>
              <a:r>
                <a:rPr lang="en-US" sz="1425">
                  <a:solidFill>
                    <a:srgbClr val="5D6B75"/>
                  </a:solidFill>
                  <a:latin typeface="Be Vietnam"/>
                  <a:ea typeface="Be Vietnam"/>
                  <a:cs typeface="Be Vietnam"/>
                  <a:sym typeface="Be Vietnam"/>
                </a:rPr>
                <a:t>Tìm kiếm • lọc • online/offline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144000" y="2190750"/>
            <a:ext cx="7772400" cy="3000375"/>
            <a:chOff x="0" y="0"/>
            <a:chExt cx="10363200" cy="4000500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10363200" cy="4000500"/>
              <a:chOff x="0" y="0"/>
              <a:chExt cx="10363200" cy="40005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0363200" cy="4000500"/>
              </a:xfrm>
              <a:custGeom>
                <a:avLst/>
                <a:gdLst/>
                <a:ahLst/>
                <a:cxnLst/>
                <a:rect r="r" b="b" t="t" l="l"/>
                <a:pathLst>
                  <a:path h="4000500" w="10363200">
                    <a:moveTo>
                      <a:pt x="0" y="0"/>
                    </a:moveTo>
                    <a:lnTo>
                      <a:pt x="10363200" y="0"/>
                    </a:lnTo>
                    <a:lnTo>
                      <a:pt x="10363200" y="4000500"/>
                    </a:lnTo>
                    <a:lnTo>
                      <a:pt x="0" y="4000500"/>
                    </a:lnTo>
                    <a:close/>
                  </a:path>
                </a:pathLst>
              </a:custGeom>
              <a:solidFill>
                <a:srgbClr val="F6F8F9"/>
              </a:solidFill>
              <a:ln w="9525" cap="sq">
                <a:solidFill>
                  <a:srgbClr val="CBD7DC"/>
                </a:solidFill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10363200" cy="4038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0">
              <a:off x="304800" y="304800"/>
              <a:ext cx="9753600" cy="2603500"/>
              <a:chOff x="0" y="0"/>
              <a:chExt cx="9753600" cy="26035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9753600" cy="2603500"/>
              </a:xfrm>
              <a:custGeom>
                <a:avLst/>
                <a:gdLst/>
                <a:ahLst/>
                <a:cxnLst/>
                <a:rect r="r" b="b" t="t" l="l"/>
                <a:pathLst>
                  <a:path h="2603500" w="9753600">
                    <a:moveTo>
                      <a:pt x="0" y="0"/>
                    </a:moveTo>
                    <a:lnTo>
                      <a:pt x="9753600" y="0"/>
                    </a:lnTo>
                    <a:lnTo>
                      <a:pt x="9753600" y="2603500"/>
                    </a:lnTo>
                    <a:lnTo>
                      <a:pt x="0" y="2603500"/>
                    </a:lnTo>
                    <a:close/>
                  </a:path>
                </a:pathLst>
              </a:custGeom>
              <a:solidFill>
                <a:srgbClr val="EEF5F6"/>
              </a:solidFill>
              <a:ln w="9525" cap="sq">
                <a:solidFill>
                  <a:srgbClr val="CBD7DC"/>
                </a:solidFill>
                <a:prstDash val="solid"/>
                <a:miter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38100"/>
                <a:ext cx="9753600" cy="2641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304800" y="3108325"/>
              <a:ext cx="9652000" cy="361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56"/>
                </a:lnSpc>
              </a:pPr>
              <a:r>
                <a:rPr lang="en-US" sz="1875" b="true">
                  <a:solidFill>
                    <a:srgbClr val="13233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02  CHỌN GHẾ &amp; THANH TOÁN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304800" y="3571875"/>
              <a:ext cx="9652000" cy="2901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52"/>
                </a:lnSpc>
              </a:pPr>
              <a:r>
                <a:rPr lang="en-US" sz="1425">
                  <a:solidFill>
                    <a:srgbClr val="5D6B75"/>
                  </a:solidFill>
                  <a:latin typeface="Be Vietnam"/>
                  <a:ea typeface="Be Vietnam"/>
                  <a:cs typeface="Be Vietnam"/>
                  <a:sym typeface="Be Vietnam"/>
                </a:rPr>
                <a:t>Ghế • giá • mã giảm • cổng thanh toán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14400" y="5667375"/>
            <a:ext cx="7772400" cy="3000375"/>
            <a:chOff x="0" y="0"/>
            <a:chExt cx="10363200" cy="4000500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0"/>
              <a:ext cx="10363200" cy="4000500"/>
              <a:chOff x="0" y="0"/>
              <a:chExt cx="10363200" cy="40005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10363200" cy="4000500"/>
              </a:xfrm>
              <a:custGeom>
                <a:avLst/>
                <a:gdLst/>
                <a:ahLst/>
                <a:cxnLst/>
                <a:rect r="r" b="b" t="t" l="l"/>
                <a:pathLst>
                  <a:path h="4000500" w="10363200">
                    <a:moveTo>
                      <a:pt x="0" y="0"/>
                    </a:moveTo>
                    <a:lnTo>
                      <a:pt x="10363200" y="0"/>
                    </a:lnTo>
                    <a:lnTo>
                      <a:pt x="10363200" y="4000500"/>
                    </a:lnTo>
                    <a:lnTo>
                      <a:pt x="0" y="4000500"/>
                    </a:lnTo>
                    <a:close/>
                  </a:path>
                </a:pathLst>
              </a:custGeom>
              <a:solidFill>
                <a:srgbClr val="F6F8F9"/>
              </a:solidFill>
              <a:ln w="9525" cap="sq">
                <a:solidFill>
                  <a:srgbClr val="CBD7DC"/>
                </a:solidFill>
                <a:prstDash val="solid"/>
                <a:miter/>
              </a:ln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38100"/>
                <a:ext cx="10363200" cy="4038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9" id="29"/>
            <p:cNvGrpSpPr/>
            <p:nvPr/>
          </p:nvGrpSpPr>
          <p:grpSpPr>
            <a:xfrm rot="0">
              <a:off x="304800" y="304800"/>
              <a:ext cx="9753600" cy="2603500"/>
              <a:chOff x="0" y="0"/>
              <a:chExt cx="9753600" cy="26035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9753600" cy="2603500"/>
              </a:xfrm>
              <a:custGeom>
                <a:avLst/>
                <a:gdLst/>
                <a:ahLst/>
                <a:cxnLst/>
                <a:rect r="r" b="b" t="t" l="l"/>
                <a:pathLst>
                  <a:path h="2603500" w="9753600">
                    <a:moveTo>
                      <a:pt x="0" y="0"/>
                    </a:moveTo>
                    <a:lnTo>
                      <a:pt x="9753600" y="0"/>
                    </a:lnTo>
                    <a:lnTo>
                      <a:pt x="9753600" y="2603500"/>
                    </a:lnTo>
                    <a:lnTo>
                      <a:pt x="0" y="2603500"/>
                    </a:lnTo>
                    <a:close/>
                  </a:path>
                </a:pathLst>
              </a:custGeom>
              <a:solidFill>
                <a:srgbClr val="EEF5F6"/>
              </a:solidFill>
              <a:ln w="9525" cap="sq">
                <a:solidFill>
                  <a:srgbClr val="CBD7DC"/>
                </a:solidFill>
                <a:prstDash val="solid"/>
                <a:miter/>
              </a:ln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38100"/>
                <a:ext cx="9753600" cy="2641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2" id="32"/>
            <p:cNvSpPr txBox="true"/>
            <p:nvPr/>
          </p:nvSpPr>
          <p:spPr>
            <a:xfrm rot="0">
              <a:off x="304800" y="3108325"/>
              <a:ext cx="9652000" cy="361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56"/>
                </a:lnSpc>
              </a:pPr>
              <a:r>
                <a:rPr lang="en-US" sz="1875" b="true">
                  <a:solidFill>
                    <a:srgbClr val="13233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03  DASHBOARD BAN TỔ CHỨC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304800" y="3571875"/>
              <a:ext cx="9652000" cy="2901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52"/>
                </a:lnSpc>
              </a:pPr>
              <a:r>
                <a:rPr lang="en-US" sz="1425">
                  <a:solidFill>
                    <a:srgbClr val="5D6B75"/>
                  </a:solidFill>
                  <a:latin typeface="Be Vietnam"/>
                  <a:ea typeface="Be Vietnam"/>
                  <a:cs typeface="Be Vietnam"/>
                  <a:sym typeface="Be Vietnam"/>
                </a:rPr>
                <a:t>Sự kiện • đơn hàng • nhân viên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144000" y="5667375"/>
            <a:ext cx="7772400" cy="3000375"/>
            <a:chOff x="0" y="0"/>
            <a:chExt cx="10363200" cy="4000500"/>
          </a:xfrm>
        </p:grpSpPr>
        <p:grpSp>
          <p:nvGrpSpPr>
            <p:cNvPr name="Group 35" id="35"/>
            <p:cNvGrpSpPr/>
            <p:nvPr/>
          </p:nvGrpSpPr>
          <p:grpSpPr>
            <a:xfrm rot="0">
              <a:off x="0" y="0"/>
              <a:ext cx="10363200" cy="4000500"/>
              <a:chOff x="0" y="0"/>
              <a:chExt cx="10363200" cy="400050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10363200" cy="4000500"/>
              </a:xfrm>
              <a:custGeom>
                <a:avLst/>
                <a:gdLst/>
                <a:ahLst/>
                <a:cxnLst/>
                <a:rect r="r" b="b" t="t" l="l"/>
                <a:pathLst>
                  <a:path h="4000500" w="10363200">
                    <a:moveTo>
                      <a:pt x="0" y="0"/>
                    </a:moveTo>
                    <a:lnTo>
                      <a:pt x="10363200" y="0"/>
                    </a:lnTo>
                    <a:lnTo>
                      <a:pt x="10363200" y="4000500"/>
                    </a:lnTo>
                    <a:lnTo>
                      <a:pt x="0" y="4000500"/>
                    </a:lnTo>
                    <a:close/>
                  </a:path>
                </a:pathLst>
              </a:custGeom>
              <a:solidFill>
                <a:srgbClr val="F6F8F9"/>
              </a:solidFill>
              <a:ln w="9525" cap="sq">
                <a:solidFill>
                  <a:srgbClr val="CBD7DC"/>
                </a:solidFill>
                <a:prstDash val="solid"/>
                <a:miter/>
              </a:ln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-38100"/>
                <a:ext cx="10363200" cy="4038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38" id="38"/>
            <p:cNvGrpSpPr/>
            <p:nvPr/>
          </p:nvGrpSpPr>
          <p:grpSpPr>
            <a:xfrm rot="0">
              <a:off x="304800" y="304800"/>
              <a:ext cx="9753600" cy="2603500"/>
              <a:chOff x="0" y="0"/>
              <a:chExt cx="9753600" cy="2603500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9753600" cy="2603500"/>
              </a:xfrm>
              <a:custGeom>
                <a:avLst/>
                <a:gdLst/>
                <a:ahLst/>
                <a:cxnLst/>
                <a:rect r="r" b="b" t="t" l="l"/>
                <a:pathLst>
                  <a:path h="2603500" w="9753600">
                    <a:moveTo>
                      <a:pt x="0" y="0"/>
                    </a:moveTo>
                    <a:lnTo>
                      <a:pt x="9753600" y="0"/>
                    </a:lnTo>
                    <a:lnTo>
                      <a:pt x="9753600" y="2603500"/>
                    </a:lnTo>
                    <a:lnTo>
                      <a:pt x="0" y="2603500"/>
                    </a:lnTo>
                    <a:close/>
                  </a:path>
                </a:pathLst>
              </a:custGeom>
              <a:solidFill>
                <a:srgbClr val="EEF5F6"/>
              </a:solidFill>
              <a:ln w="9525" cap="sq">
                <a:solidFill>
                  <a:srgbClr val="CBD7DC"/>
                </a:solidFill>
                <a:prstDash val="solid"/>
                <a:miter/>
              </a:ln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0" y="-38100"/>
                <a:ext cx="9753600" cy="2641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41" id="41"/>
            <p:cNvSpPr txBox="true"/>
            <p:nvPr/>
          </p:nvSpPr>
          <p:spPr>
            <a:xfrm rot="0">
              <a:off x="304800" y="3108325"/>
              <a:ext cx="9652000" cy="361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56"/>
                </a:lnSpc>
              </a:pPr>
              <a:r>
                <a:rPr lang="en-US" sz="1875" b="true">
                  <a:solidFill>
                    <a:srgbClr val="13233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04  SOÁT VÉ</a:t>
              </a:r>
            </a:p>
          </p:txBody>
        </p:sp>
        <p:sp>
          <p:nvSpPr>
            <p:cNvPr name="TextBox 42" id="42"/>
            <p:cNvSpPr txBox="true"/>
            <p:nvPr/>
          </p:nvSpPr>
          <p:spPr>
            <a:xfrm rot="0">
              <a:off x="304800" y="3571875"/>
              <a:ext cx="9652000" cy="2901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52"/>
                </a:lnSpc>
              </a:pPr>
              <a:r>
                <a:rPr lang="en-US" sz="1425">
                  <a:solidFill>
                    <a:srgbClr val="5D6B75"/>
                  </a:solidFill>
                  <a:latin typeface="Be Vietnam"/>
                  <a:ea typeface="Be Vietnam"/>
                  <a:cs typeface="Be Vietnam"/>
                  <a:sym typeface="Be Vietnam"/>
                </a:rPr>
                <a:t>Quét QR • tìm kiếm • trạng thái check-in</a:t>
              </a:r>
            </a:p>
          </p:txBody>
        </p:sp>
      </p:grpSp>
      <p:sp>
        <p:nvSpPr>
          <p:cNvPr name="AutoShape 43" id="43"/>
          <p:cNvSpPr/>
          <p:nvPr/>
        </p:nvSpPr>
        <p:spPr>
          <a:xfrm>
            <a:off x="914400" y="9620250"/>
            <a:ext cx="16459200" cy="0"/>
          </a:xfrm>
          <a:prstGeom prst="line">
            <a:avLst/>
          </a:prstGeom>
          <a:ln cap="flat" w="9525">
            <a:solidFill>
              <a:srgbClr val="CBD7D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4" id="44"/>
          <p:cNvSpPr txBox="true"/>
          <p:nvPr/>
        </p:nvSpPr>
        <p:spPr>
          <a:xfrm rot="0">
            <a:off x="914400" y="9801225"/>
            <a:ext cx="13811250" cy="202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7"/>
              </a:lnSpc>
            </a:pPr>
            <a:r>
              <a:rPr lang="en-US" sz="1275">
                <a:solidFill>
                  <a:srgbClr val="5D6B75"/>
                </a:solidFill>
                <a:latin typeface="Be Vietnam"/>
                <a:ea typeface="Be Vietnam"/>
                <a:cs typeface="Be Vietnam"/>
                <a:sym typeface="Be Vietnam"/>
              </a:rPr>
              <a:t>Xây dựng ứng dụng quản lý sự kiện trực tuyến – Nguyễn Vinh Quang – DH52201310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6716375" y="9801225"/>
            <a:ext cx="666750" cy="202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57"/>
              </a:lnSpc>
            </a:pPr>
            <a:r>
              <a:rPr lang="en-US" sz="1275">
                <a:solidFill>
                  <a:srgbClr val="5D6B75"/>
                </a:solidFill>
                <a:latin typeface="Be Vietnam"/>
                <a:ea typeface="Be Vietnam"/>
                <a:cs typeface="Be Vietnam"/>
                <a:sym typeface="Be Vietnam"/>
              </a:rPr>
              <a:t>08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60" y="1828800"/>
            <a:ext cx="14630400" cy="64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1F2937"/>
                </a:solidFill>
                <a:latin typeface="Segoe UI"/>
              </a:defRPr>
            </a:pPr>
            <a:r>
              <a:t>• Màn hình Khách hàng: Trang chủ sự kiện nổi bật, Chi tiết sự kiện &amp; Sơ đồ chọn ghế trực quan, Giao diện Thanh toán 3 cổng (VNPay/MoMo/ZaloPay) &amp; Vé điện tử QR Code.</a:t>
            </a:r>
          </a:p>
          <a:p>
            <a:pPr>
              <a:spcAft>
                <a:spcPts val="1400"/>
              </a:spcAft>
              <a:defRPr sz="1600">
                <a:solidFill>
                  <a:srgbClr val="1F2937"/>
                </a:solidFill>
                <a:latin typeface="Segoe UI"/>
              </a:defRPr>
            </a:pPr>
            <a:r>
              <a:t>• Màn hình Ban tổ chức: Dashboard thống kê doanh thu / tỷ lệ check-in real-time, Giao diện tạo sự kiện &amp; cấu hình loại vé/ghế, Quản lý Voucher &amp; Rút tiền.</a:t>
            </a:r>
          </a:p>
          <a:p>
            <a:pPr>
              <a:spcAft>
                <a:spcPts val="1400"/>
              </a:spcAft>
              <a:defRPr sz="1600">
                <a:solidFill>
                  <a:srgbClr val="1F2937"/>
                </a:solidFill>
                <a:latin typeface="Segoe UI"/>
              </a:defRPr>
            </a:pPr>
            <a:r>
              <a:t>• Màn hình Nhân viên Soát vé: Giao diện Web Camera Quét mã QR Code &amp; Nhập mã vé thủ công, Phản hồi màu Xanh (Thành công) / Đỏ (Vé đã check-in / Lỗi).</a:t>
            </a:r>
          </a:p>
          <a:p>
            <a:pPr>
              <a:spcAft>
                <a:spcPts val="1400"/>
              </a:spcAft>
              <a:defRPr sz="1600">
                <a:solidFill>
                  <a:srgbClr val="1F2937"/>
                </a:solidFill>
                <a:latin typeface="Segoe UI"/>
              </a:defRPr>
            </a:pPr>
            <a:r>
              <a:t>• Màn hình Quản trị viên: Dashboard tổng quan hệ thống, Duyệt hồ sơ Organizer &amp; Sự kiện mở bán, Quản lý đơn hàng &amp; Hoàn tiền nội bộ.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76250"/>
            <a:ext cx="85725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20" b="true">
                <a:solidFill>
                  <a:srgbClr val="176B87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PHÂN HỆ 01  •  KHÁCH HÀNG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933450"/>
            <a:ext cx="14287500" cy="574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6"/>
              </a:lnSpc>
            </a:pPr>
            <a:r>
              <a:rPr lang="en-US" sz="4050" b="true">
                <a:solidFill>
                  <a:srgbClr val="13233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CÁC CHỨC NĂNG ĐÃ XÂY DỰNG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14400" y="1638300"/>
            <a:ext cx="781050" cy="57150"/>
            <a:chOff x="0" y="0"/>
            <a:chExt cx="1041400" cy="76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41400" cy="76200"/>
            </a:xfrm>
            <a:custGeom>
              <a:avLst/>
              <a:gdLst/>
              <a:ahLst/>
              <a:cxnLst/>
              <a:rect r="r" b="b" t="t" l="l"/>
              <a:pathLst>
                <a:path h="76200" w="1041400">
                  <a:moveTo>
                    <a:pt x="0" y="0"/>
                  </a:moveTo>
                  <a:lnTo>
                    <a:pt x="1041400" y="0"/>
                  </a:lnTo>
                  <a:lnTo>
                    <a:pt x="10414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2AA198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041400" cy="114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2238375"/>
            <a:ext cx="7772400" cy="2714625"/>
            <a:chOff x="0" y="0"/>
            <a:chExt cx="10363200" cy="3619500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10363200" cy="3619500"/>
              <a:chOff x="0" y="0"/>
              <a:chExt cx="10363200" cy="36195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0363200" cy="3619500"/>
              </a:xfrm>
              <a:custGeom>
                <a:avLst/>
                <a:gdLst/>
                <a:ahLst/>
                <a:cxnLst/>
                <a:rect r="r" b="b" t="t" l="l"/>
                <a:pathLst>
                  <a:path h="3619500" w="10363200">
                    <a:moveTo>
                      <a:pt x="0" y="0"/>
                    </a:moveTo>
                    <a:lnTo>
                      <a:pt x="10363200" y="0"/>
                    </a:lnTo>
                    <a:lnTo>
                      <a:pt x="10363200" y="3619500"/>
                    </a:lnTo>
                    <a:lnTo>
                      <a:pt x="0" y="3619500"/>
                    </a:lnTo>
                    <a:close/>
                  </a:path>
                </a:pathLst>
              </a:custGeom>
              <a:solidFill>
                <a:srgbClr val="F6F8F9"/>
              </a:solidFill>
              <a:ln w="9525" cap="sq">
                <a:solidFill>
                  <a:srgbClr val="CBD7DC"/>
                </a:solidFill>
                <a:prstDash val="solid"/>
                <a:miter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10363200" cy="3657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0">
              <a:off x="0" y="0"/>
              <a:ext cx="101600" cy="3619500"/>
              <a:chOff x="0" y="0"/>
              <a:chExt cx="101600" cy="36195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01600" cy="3619500"/>
              </a:xfrm>
              <a:custGeom>
                <a:avLst/>
                <a:gdLst/>
                <a:ahLst/>
                <a:cxnLst/>
                <a:rect r="r" b="b" t="t" l="l"/>
                <a:pathLst>
                  <a:path h="3619500" w="101600">
                    <a:moveTo>
                      <a:pt x="0" y="0"/>
                    </a:moveTo>
                    <a:lnTo>
                      <a:pt x="101600" y="0"/>
                    </a:lnTo>
                    <a:lnTo>
                      <a:pt x="101600" y="3619500"/>
                    </a:lnTo>
                    <a:lnTo>
                      <a:pt x="0" y="3619500"/>
                    </a:lnTo>
                    <a:close/>
                  </a:path>
                </a:pathLst>
              </a:custGeom>
              <a:solidFill>
                <a:srgbClr val="2AA19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101600" cy="3657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431800" y="365125"/>
              <a:ext cx="9499600" cy="414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15"/>
                </a:lnSpc>
              </a:pPr>
              <a:r>
                <a:rPr lang="en-US" sz="2100" b="true">
                  <a:solidFill>
                    <a:srgbClr val="13233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TÀI KHOẢN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431800" y="1012825"/>
              <a:ext cx="9499600" cy="3784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202B35"/>
                  </a:solidFill>
                  <a:latin typeface="Be Vietnam"/>
                  <a:ea typeface="Be Vietnam"/>
                  <a:cs typeface="Be Vietnam"/>
                  <a:sym typeface="Be Vietnam"/>
                </a:rPr>
                <a:t>Đăng ký, đăng nhập, Google OAuth, xác minh email, đăng xuất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144000" y="2238375"/>
            <a:ext cx="7772400" cy="2714625"/>
            <a:chOff x="0" y="0"/>
            <a:chExt cx="10363200" cy="3619500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10363200" cy="3619500"/>
              <a:chOff x="0" y="0"/>
              <a:chExt cx="10363200" cy="36195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0363200" cy="3619500"/>
              </a:xfrm>
              <a:custGeom>
                <a:avLst/>
                <a:gdLst/>
                <a:ahLst/>
                <a:cxnLst/>
                <a:rect r="r" b="b" t="t" l="l"/>
                <a:pathLst>
                  <a:path h="3619500" w="10363200">
                    <a:moveTo>
                      <a:pt x="0" y="0"/>
                    </a:moveTo>
                    <a:lnTo>
                      <a:pt x="10363200" y="0"/>
                    </a:lnTo>
                    <a:lnTo>
                      <a:pt x="10363200" y="3619500"/>
                    </a:lnTo>
                    <a:lnTo>
                      <a:pt x="0" y="3619500"/>
                    </a:lnTo>
                    <a:close/>
                  </a:path>
                </a:pathLst>
              </a:custGeom>
              <a:solidFill>
                <a:srgbClr val="F6F8F9"/>
              </a:solidFill>
              <a:ln w="9525" cap="sq">
                <a:solidFill>
                  <a:srgbClr val="CBD7DC"/>
                </a:solidFill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10363200" cy="3657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0">
              <a:off x="0" y="0"/>
              <a:ext cx="101600" cy="3619500"/>
              <a:chOff x="0" y="0"/>
              <a:chExt cx="101600" cy="36195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101600" cy="3619500"/>
              </a:xfrm>
              <a:custGeom>
                <a:avLst/>
                <a:gdLst/>
                <a:ahLst/>
                <a:cxnLst/>
                <a:rect r="r" b="b" t="t" l="l"/>
                <a:pathLst>
                  <a:path h="3619500" w="101600">
                    <a:moveTo>
                      <a:pt x="0" y="0"/>
                    </a:moveTo>
                    <a:lnTo>
                      <a:pt x="101600" y="0"/>
                    </a:lnTo>
                    <a:lnTo>
                      <a:pt x="101600" y="3619500"/>
                    </a:lnTo>
                    <a:lnTo>
                      <a:pt x="0" y="3619500"/>
                    </a:lnTo>
                    <a:close/>
                  </a:path>
                </a:pathLst>
              </a:custGeom>
              <a:solidFill>
                <a:srgbClr val="2AA19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38100"/>
                <a:ext cx="101600" cy="3657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431800" y="365125"/>
              <a:ext cx="9499600" cy="414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15"/>
                </a:lnSpc>
              </a:pPr>
              <a:r>
                <a:rPr lang="en-US" sz="2100" b="true">
                  <a:solidFill>
                    <a:srgbClr val="13233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KHÁM PHÁ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431800" y="1012825"/>
              <a:ext cx="9499600" cy="3784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202B35"/>
                  </a:solidFill>
                  <a:latin typeface="Be Vietnam"/>
                  <a:ea typeface="Be Vietnam"/>
                  <a:cs typeface="Be Vietnam"/>
                  <a:sym typeface="Be Vietnam"/>
                </a:rPr>
                <a:t>Sự kiện nổi bật, tìm kiếm, lọc đa chiều, xem chi tiết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14400" y="5429250"/>
            <a:ext cx="7772400" cy="2714625"/>
            <a:chOff x="0" y="0"/>
            <a:chExt cx="10363200" cy="3619500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0"/>
              <a:ext cx="10363200" cy="3619500"/>
              <a:chOff x="0" y="0"/>
              <a:chExt cx="10363200" cy="36195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10363200" cy="3619500"/>
              </a:xfrm>
              <a:custGeom>
                <a:avLst/>
                <a:gdLst/>
                <a:ahLst/>
                <a:cxnLst/>
                <a:rect r="r" b="b" t="t" l="l"/>
                <a:pathLst>
                  <a:path h="3619500" w="10363200">
                    <a:moveTo>
                      <a:pt x="0" y="0"/>
                    </a:moveTo>
                    <a:lnTo>
                      <a:pt x="10363200" y="0"/>
                    </a:lnTo>
                    <a:lnTo>
                      <a:pt x="10363200" y="3619500"/>
                    </a:lnTo>
                    <a:lnTo>
                      <a:pt x="0" y="3619500"/>
                    </a:lnTo>
                    <a:close/>
                  </a:path>
                </a:pathLst>
              </a:custGeom>
              <a:solidFill>
                <a:srgbClr val="F6F8F9"/>
              </a:solidFill>
              <a:ln w="9525" cap="sq">
                <a:solidFill>
                  <a:srgbClr val="CBD7DC"/>
                </a:solidFill>
                <a:prstDash val="solid"/>
                <a:miter/>
              </a:ln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38100"/>
                <a:ext cx="10363200" cy="3657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9" id="29"/>
            <p:cNvGrpSpPr/>
            <p:nvPr/>
          </p:nvGrpSpPr>
          <p:grpSpPr>
            <a:xfrm rot="0">
              <a:off x="0" y="0"/>
              <a:ext cx="101600" cy="3619500"/>
              <a:chOff x="0" y="0"/>
              <a:chExt cx="101600" cy="36195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101600" cy="3619500"/>
              </a:xfrm>
              <a:custGeom>
                <a:avLst/>
                <a:gdLst/>
                <a:ahLst/>
                <a:cxnLst/>
                <a:rect r="r" b="b" t="t" l="l"/>
                <a:pathLst>
                  <a:path h="3619500" w="101600">
                    <a:moveTo>
                      <a:pt x="0" y="0"/>
                    </a:moveTo>
                    <a:lnTo>
                      <a:pt x="101600" y="0"/>
                    </a:lnTo>
                    <a:lnTo>
                      <a:pt x="101600" y="3619500"/>
                    </a:lnTo>
                    <a:lnTo>
                      <a:pt x="0" y="3619500"/>
                    </a:lnTo>
                    <a:close/>
                  </a:path>
                </a:pathLst>
              </a:custGeom>
              <a:solidFill>
                <a:srgbClr val="2AA19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38100"/>
                <a:ext cx="101600" cy="3657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2" id="32"/>
            <p:cNvSpPr txBox="true"/>
            <p:nvPr/>
          </p:nvSpPr>
          <p:spPr>
            <a:xfrm rot="0">
              <a:off x="431800" y="365125"/>
              <a:ext cx="9499600" cy="414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15"/>
                </a:lnSpc>
              </a:pPr>
              <a:r>
                <a:rPr lang="en-US" sz="2100" b="true">
                  <a:solidFill>
                    <a:srgbClr val="13233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ĐẶT VÉ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431800" y="1012825"/>
              <a:ext cx="9499600" cy="3784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202B35"/>
                  </a:solidFill>
                  <a:latin typeface="Be Vietnam"/>
                  <a:ea typeface="Be Vietnam"/>
                  <a:cs typeface="Be Vietnam"/>
                  <a:sym typeface="Be Vietnam"/>
                </a:rPr>
                <a:t>Chọn số lượng, ghế, mã giảm giá, vé miễn phí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144000" y="5429250"/>
            <a:ext cx="7772400" cy="2714625"/>
            <a:chOff x="0" y="0"/>
            <a:chExt cx="10363200" cy="3619500"/>
          </a:xfrm>
        </p:grpSpPr>
        <p:grpSp>
          <p:nvGrpSpPr>
            <p:cNvPr name="Group 35" id="35"/>
            <p:cNvGrpSpPr/>
            <p:nvPr/>
          </p:nvGrpSpPr>
          <p:grpSpPr>
            <a:xfrm rot="0">
              <a:off x="0" y="0"/>
              <a:ext cx="10363200" cy="3619500"/>
              <a:chOff x="0" y="0"/>
              <a:chExt cx="10363200" cy="361950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10363200" cy="3619500"/>
              </a:xfrm>
              <a:custGeom>
                <a:avLst/>
                <a:gdLst/>
                <a:ahLst/>
                <a:cxnLst/>
                <a:rect r="r" b="b" t="t" l="l"/>
                <a:pathLst>
                  <a:path h="3619500" w="10363200">
                    <a:moveTo>
                      <a:pt x="0" y="0"/>
                    </a:moveTo>
                    <a:lnTo>
                      <a:pt x="10363200" y="0"/>
                    </a:lnTo>
                    <a:lnTo>
                      <a:pt x="10363200" y="3619500"/>
                    </a:lnTo>
                    <a:lnTo>
                      <a:pt x="0" y="3619500"/>
                    </a:lnTo>
                    <a:close/>
                  </a:path>
                </a:pathLst>
              </a:custGeom>
              <a:solidFill>
                <a:srgbClr val="F6F8F9"/>
              </a:solidFill>
              <a:ln w="9525" cap="sq">
                <a:solidFill>
                  <a:srgbClr val="CBD7DC"/>
                </a:solidFill>
                <a:prstDash val="solid"/>
                <a:miter/>
              </a:ln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-38100"/>
                <a:ext cx="10363200" cy="3657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38" id="38"/>
            <p:cNvGrpSpPr/>
            <p:nvPr/>
          </p:nvGrpSpPr>
          <p:grpSpPr>
            <a:xfrm rot="0">
              <a:off x="0" y="0"/>
              <a:ext cx="101600" cy="3619500"/>
              <a:chOff x="0" y="0"/>
              <a:chExt cx="101600" cy="3619500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101600" cy="3619500"/>
              </a:xfrm>
              <a:custGeom>
                <a:avLst/>
                <a:gdLst/>
                <a:ahLst/>
                <a:cxnLst/>
                <a:rect r="r" b="b" t="t" l="l"/>
                <a:pathLst>
                  <a:path h="3619500" w="101600">
                    <a:moveTo>
                      <a:pt x="0" y="0"/>
                    </a:moveTo>
                    <a:lnTo>
                      <a:pt x="101600" y="0"/>
                    </a:lnTo>
                    <a:lnTo>
                      <a:pt x="101600" y="3619500"/>
                    </a:lnTo>
                    <a:lnTo>
                      <a:pt x="0" y="3619500"/>
                    </a:lnTo>
                    <a:close/>
                  </a:path>
                </a:pathLst>
              </a:custGeom>
              <a:solidFill>
                <a:srgbClr val="176B8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0" y="-38100"/>
                <a:ext cx="101600" cy="3657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41" id="41"/>
            <p:cNvSpPr txBox="true"/>
            <p:nvPr/>
          </p:nvSpPr>
          <p:spPr>
            <a:xfrm rot="0">
              <a:off x="431800" y="365125"/>
              <a:ext cx="9499600" cy="414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15"/>
                </a:lnSpc>
              </a:pPr>
              <a:r>
                <a:rPr lang="en-US" sz="2100" b="true">
                  <a:solidFill>
                    <a:srgbClr val="13233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THANH TOÁN &amp; VÉ</a:t>
              </a:r>
            </a:p>
          </p:txBody>
        </p:sp>
        <p:sp>
          <p:nvSpPr>
            <p:cNvPr name="TextBox 42" id="42"/>
            <p:cNvSpPr txBox="true"/>
            <p:nvPr/>
          </p:nvSpPr>
          <p:spPr>
            <a:xfrm rot="0">
              <a:off x="431800" y="1012825"/>
              <a:ext cx="9499600" cy="7721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202B35"/>
                  </a:solidFill>
                  <a:latin typeface="Be Vietnam"/>
                  <a:ea typeface="Be Vietnam"/>
                  <a:cs typeface="Be Vietnam"/>
                  <a:sym typeface="Be Vietnam"/>
                </a:rPr>
                <a:t>VNPay / MoMo / ZaloPay Sandbox; theo dõi đơn; vé điện tử; link tham dự; Google Calendar; email vé</a:t>
              </a:r>
            </a:p>
          </p:txBody>
        </p:sp>
      </p:grpSp>
      <p:sp>
        <p:nvSpPr>
          <p:cNvPr name="AutoShape 43" id="43"/>
          <p:cNvSpPr/>
          <p:nvPr/>
        </p:nvSpPr>
        <p:spPr>
          <a:xfrm>
            <a:off x="914400" y="9620250"/>
            <a:ext cx="16459200" cy="0"/>
          </a:xfrm>
          <a:prstGeom prst="line">
            <a:avLst/>
          </a:prstGeom>
          <a:ln cap="flat" w="9525">
            <a:solidFill>
              <a:srgbClr val="CBD7D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4" id="44"/>
          <p:cNvSpPr txBox="true"/>
          <p:nvPr/>
        </p:nvSpPr>
        <p:spPr>
          <a:xfrm rot="0">
            <a:off x="914400" y="9801225"/>
            <a:ext cx="13811250" cy="202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7"/>
              </a:lnSpc>
            </a:pPr>
            <a:r>
              <a:rPr lang="en-US" sz="1275">
                <a:solidFill>
                  <a:srgbClr val="5D6B75"/>
                </a:solidFill>
                <a:latin typeface="Be Vietnam"/>
                <a:ea typeface="Be Vietnam"/>
                <a:cs typeface="Be Vietnam"/>
                <a:sym typeface="Be Vietnam"/>
              </a:rPr>
              <a:t>Xây dựng ứng dụng quản lý sự kiện trực tuyến – Nguyễn Vinh Quang – DH52201310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6716375" y="9801225"/>
            <a:ext cx="666750" cy="202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57"/>
              </a:lnSpc>
            </a:pPr>
            <a:r>
              <a:rPr lang="en-US" sz="1275">
                <a:solidFill>
                  <a:srgbClr val="5D6B75"/>
                </a:solidFill>
                <a:latin typeface="Be Vietnam"/>
                <a:ea typeface="Be Vietnam"/>
                <a:cs typeface="Be Vietnam"/>
                <a:sym typeface="Be Vietnam"/>
              </a:rPr>
              <a:t>09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60" y="1828800"/>
            <a:ext cx="14630400" cy="64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1F2937"/>
                </a:solidFill>
                <a:latin typeface="Segoe UI"/>
              </a:defRPr>
            </a:pPr>
            <a:r>
              <a:t>• Tìm kiếm &amp; Lọc sự kiện theo từ khóa, danh mục, thành phố và giá vé.</a:t>
            </a:r>
          </a:p>
          <a:p>
            <a:pPr>
              <a:spcAft>
                <a:spcPts val="1200"/>
              </a:spcAft>
              <a:defRPr sz="1600">
                <a:solidFill>
                  <a:srgbClr val="1F2937"/>
                </a:solidFill>
                <a:latin typeface="Segoe UI"/>
              </a:defRPr>
            </a:pPr>
            <a:r>
              <a:t>• Đăng ký, đăng nhập tài khoản &amp; Đăng nhập nhanh bằng Google OAuth 2.0.</a:t>
            </a:r>
          </a:p>
          <a:p>
            <a:pPr>
              <a:spcAft>
                <a:spcPts val="1200"/>
              </a:spcAft>
              <a:defRPr sz="1600">
                <a:solidFill>
                  <a:srgbClr val="1F2937"/>
                </a:solidFill>
                <a:latin typeface="Segoe UI"/>
              </a:defRPr>
            </a:pPr>
            <a:r>
              <a:t>• Chọn loại vé thường hoặc Chọn vị trí ghế ngồi trực quan trên Sơ đồ sơ đồ ghế.</a:t>
            </a:r>
          </a:p>
          <a:p>
            <a:pPr>
              <a:spcAft>
                <a:spcPts val="1200"/>
              </a:spcAft>
              <a:defRPr sz="1600">
                <a:solidFill>
                  <a:srgbClr val="1F2937"/>
                </a:solidFill>
                <a:latin typeface="Segoe UI"/>
              </a:defRPr>
            </a:pPr>
            <a:r>
              <a:t>• Áp dụng Mã giảm giá (Voucher) &amp; Thanh toán trực tuyến qua 3 cổng VNPay, MoMo, ZaloPay.</a:t>
            </a:r>
          </a:p>
          <a:p>
            <a:pPr>
              <a:spcAft>
                <a:spcPts val="1200"/>
              </a:spcAft>
              <a:defRPr sz="1600">
                <a:solidFill>
                  <a:srgbClr val="1F2937"/>
                </a:solidFill>
                <a:latin typeface="Segoe UI"/>
              </a:defRPr>
            </a:pPr>
            <a:r>
              <a:t>• Quản lý Lịch sử đơn hàng &amp; Hiển thị Vé điện tử chứa mã QR Code duy nhất để check-in.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76250"/>
            <a:ext cx="85725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20" b="true">
                <a:solidFill>
                  <a:srgbClr val="176B87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PHÂN HỆ 02  •  BAN TỔ CHỨC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933450"/>
            <a:ext cx="14287500" cy="574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6"/>
              </a:lnSpc>
            </a:pPr>
            <a:r>
              <a:rPr lang="en-US" sz="4050" b="true">
                <a:solidFill>
                  <a:srgbClr val="13233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CÁC CHỨC NĂNG ĐÃ XÂY DỰNG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14400" y="1638300"/>
            <a:ext cx="781050" cy="57150"/>
            <a:chOff x="0" y="0"/>
            <a:chExt cx="1041400" cy="76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41400" cy="76200"/>
            </a:xfrm>
            <a:custGeom>
              <a:avLst/>
              <a:gdLst/>
              <a:ahLst/>
              <a:cxnLst/>
              <a:rect r="r" b="b" t="t" l="l"/>
              <a:pathLst>
                <a:path h="76200" w="1041400">
                  <a:moveTo>
                    <a:pt x="0" y="0"/>
                  </a:moveTo>
                  <a:lnTo>
                    <a:pt x="1041400" y="0"/>
                  </a:lnTo>
                  <a:lnTo>
                    <a:pt x="10414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2AA198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041400" cy="114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2286000"/>
            <a:ext cx="5029200" cy="2619375"/>
            <a:chOff x="0" y="0"/>
            <a:chExt cx="6705600" cy="3492500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6705600" cy="3492500"/>
              <a:chOff x="0" y="0"/>
              <a:chExt cx="6705600" cy="34925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6705600" cy="3492500"/>
              </a:xfrm>
              <a:custGeom>
                <a:avLst/>
                <a:gdLst/>
                <a:ahLst/>
                <a:cxnLst/>
                <a:rect r="r" b="b" t="t" l="l"/>
                <a:pathLst>
                  <a:path h="3492500" w="6705600">
                    <a:moveTo>
                      <a:pt x="0" y="0"/>
                    </a:moveTo>
                    <a:lnTo>
                      <a:pt x="6705600" y="0"/>
                    </a:lnTo>
                    <a:lnTo>
                      <a:pt x="6705600" y="3492500"/>
                    </a:lnTo>
                    <a:lnTo>
                      <a:pt x="0" y="3492500"/>
                    </a:lnTo>
                    <a:close/>
                  </a:path>
                </a:pathLst>
              </a:custGeom>
              <a:solidFill>
                <a:srgbClr val="F6F8F9"/>
              </a:solidFill>
              <a:ln w="9525" cap="sq">
                <a:solidFill>
                  <a:srgbClr val="CBD7DC"/>
                </a:solidFill>
                <a:prstDash val="solid"/>
                <a:miter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6705600" cy="3530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0">
              <a:off x="0" y="0"/>
              <a:ext cx="101600" cy="3492500"/>
              <a:chOff x="0" y="0"/>
              <a:chExt cx="101600" cy="34925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01600" cy="3492500"/>
              </a:xfrm>
              <a:custGeom>
                <a:avLst/>
                <a:gdLst/>
                <a:ahLst/>
                <a:cxnLst/>
                <a:rect r="r" b="b" t="t" l="l"/>
                <a:pathLst>
                  <a:path h="3492500" w="101600">
                    <a:moveTo>
                      <a:pt x="0" y="0"/>
                    </a:moveTo>
                    <a:lnTo>
                      <a:pt x="101600" y="0"/>
                    </a:lnTo>
                    <a:lnTo>
                      <a:pt x="101600" y="3492500"/>
                    </a:lnTo>
                    <a:lnTo>
                      <a:pt x="0" y="3492500"/>
                    </a:lnTo>
                    <a:close/>
                  </a:path>
                </a:pathLst>
              </a:custGeom>
              <a:solidFill>
                <a:srgbClr val="2AA19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101600" cy="3530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431800" y="365125"/>
              <a:ext cx="5842000" cy="414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15"/>
                </a:lnSpc>
              </a:pPr>
              <a:r>
                <a:rPr lang="en-US" sz="2100" b="true">
                  <a:solidFill>
                    <a:srgbClr val="13233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HỒ SƠ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431800" y="1012825"/>
              <a:ext cx="5842000" cy="7721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202B35"/>
                  </a:solidFill>
                  <a:latin typeface="Be Vietnam"/>
                  <a:ea typeface="Be Vietnam"/>
                  <a:cs typeface="Be Vietnam"/>
                  <a:sym typeface="Be Vietnam"/>
                </a:rPr>
                <a:t>Gửi yêu cầu • theo dõi trạng thái • quản lý thông tin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400800" y="2286000"/>
            <a:ext cx="5029200" cy="2619375"/>
            <a:chOff x="0" y="0"/>
            <a:chExt cx="6705600" cy="3492500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6705600" cy="3492500"/>
              <a:chOff x="0" y="0"/>
              <a:chExt cx="6705600" cy="34925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6705600" cy="3492500"/>
              </a:xfrm>
              <a:custGeom>
                <a:avLst/>
                <a:gdLst/>
                <a:ahLst/>
                <a:cxnLst/>
                <a:rect r="r" b="b" t="t" l="l"/>
                <a:pathLst>
                  <a:path h="3492500" w="6705600">
                    <a:moveTo>
                      <a:pt x="0" y="0"/>
                    </a:moveTo>
                    <a:lnTo>
                      <a:pt x="6705600" y="0"/>
                    </a:lnTo>
                    <a:lnTo>
                      <a:pt x="6705600" y="3492500"/>
                    </a:lnTo>
                    <a:lnTo>
                      <a:pt x="0" y="3492500"/>
                    </a:lnTo>
                    <a:close/>
                  </a:path>
                </a:pathLst>
              </a:custGeom>
              <a:solidFill>
                <a:srgbClr val="F6F8F9"/>
              </a:solidFill>
              <a:ln w="9525" cap="sq">
                <a:solidFill>
                  <a:srgbClr val="CBD7DC"/>
                </a:solidFill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6705600" cy="3530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0">
              <a:off x="0" y="0"/>
              <a:ext cx="101600" cy="3492500"/>
              <a:chOff x="0" y="0"/>
              <a:chExt cx="101600" cy="34925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101600" cy="3492500"/>
              </a:xfrm>
              <a:custGeom>
                <a:avLst/>
                <a:gdLst/>
                <a:ahLst/>
                <a:cxnLst/>
                <a:rect r="r" b="b" t="t" l="l"/>
                <a:pathLst>
                  <a:path h="3492500" w="101600">
                    <a:moveTo>
                      <a:pt x="0" y="0"/>
                    </a:moveTo>
                    <a:lnTo>
                      <a:pt x="101600" y="0"/>
                    </a:lnTo>
                    <a:lnTo>
                      <a:pt x="101600" y="3492500"/>
                    </a:lnTo>
                    <a:lnTo>
                      <a:pt x="0" y="3492500"/>
                    </a:lnTo>
                    <a:close/>
                  </a:path>
                </a:pathLst>
              </a:custGeom>
              <a:solidFill>
                <a:srgbClr val="2AA19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38100"/>
                <a:ext cx="101600" cy="3530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431800" y="365125"/>
              <a:ext cx="5842000" cy="414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15"/>
                </a:lnSpc>
              </a:pPr>
              <a:r>
                <a:rPr lang="en-US" sz="2100" b="true">
                  <a:solidFill>
                    <a:srgbClr val="13233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QUẢN LÝ SỰ KIỆN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431800" y="1012825"/>
              <a:ext cx="5842000" cy="7721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202B35"/>
                  </a:solidFill>
                  <a:latin typeface="Be Vietnam"/>
                  <a:ea typeface="Be Vietnam"/>
                  <a:cs typeface="Be Vietnam"/>
                  <a:sym typeface="Be Vietnam"/>
                </a:rPr>
                <a:t>Tạo, nháp, sửa, nhân bản, gửi duyệt, tạm dừng • trực tiếp / trực tuyến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1887200" y="2286000"/>
            <a:ext cx="5029200" cy="2619375"/>
            <a:chOff x="0" y="0"/>
            <a:chExt cx="6705600" cy="3492500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0"/>
              <a:ext cx="6705600" cy="3492500"/>
              <a:chOff x="0" y="0"/>
              <a:chExt cx="6705600" cy="34925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6705600" cy="3492500"/>
              </a:xfrm>
              <a:custGeom>
                <a:avLst/>
                <a:gdLst/>
                <a:ahLst/>
                <a:cxnLst/>
                <a:rect r="r" b="b" t="t" l="l"/>
                <a:pathLst>
                  <a:path h="3492500" w="6705600">
                    <a:moveTo>
                      <a:pt x="0" y="0"/>
                    </a:moveTo>
                    <a:lnTo>
                      <a:pt x="6705600" y="0"/>
                    </a:lnTo>
                    <a:lnTo>
                      <a:pt x="6705600" y="3492500"/>
                    </a:lnTo>
                    <a:lnTo>
                      <a:pt x="0" y="3492500"/>
                    </a:lnTo>
                    <a:close/>
                  </a:path>
                </a:pathLst>
              </a:custGeom>
              <a:solidFill>
                <a:srgbClr val="F6F8F9"/>
              </a:solidFill>
              <a:ln w="9525" cap="sq">
                <a:solidFill>
                  <a:srgbClr val="CBD7DC"/>
                </a:solidFill>
                <a:prstDash val="solid"/>
                <a:miter/>
              </a:ln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38100"/>
                <a:ext cx="6705600" cy="3530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9" id="29"/>
            <p:cNvGrpSpPr/>
            <p:nvPr/>
          </p:nvGrpSpPr>
          <p:grpSpPr>
            <a:xfrm rot="0">
              <a:off x="0" y="0"/>
              <a:ext cx="101600" cy="3492500"/>
              <a:chOff x="0" y="0"/>
              <a:chExt cx="101600" cy="34925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101600" cy="3492500"/>
              </a:xfrm>
              <a:custGeom>
                <a:avLst/>
                <a:gdLst/>
                <a:ahLst/>
                <a:cxnLst/>
                <a:rect r="r" b="b" t="t" l="l"/>
                <a:pathLst>
                  <a:path h="3492500" w="101600">
                    <a:moveTo>
                      <a:pt x="0" y="0"/>
                    </a:moveTo>
                    <a:lnTo>
                      <a:pt x="101600" y="0"/>
                    </a:lnTo>
                    <a:lnTo>
                      <a:pt x="101600" y="3492500"/>
                    </a:lnTo>
                    <a:lnTo>
                      <a:pt x="0" y="3492500"/>
                    </a:lnTo>
                    <a:close/>
                  </a:path>
                </a:pathLst>
              </a:custGeom>
              <a:solidFill>
                <a:srgbClr val="2AA19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38100"/>
                <a:ext cx="101600" cy="3530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2" id="32"/>
            <p:cNvSpPr txBox="true"/>
            <p:nvPr/>
          </p:nvSpPr>
          <p:spPr>
            <a:xfrm rot="0">
              <a:off x="431800" y="365125"/>
              <a:ext cx="5842000" cy="414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15"/>
                </a:lnSpc>
              </a:pPr>
              <a:r>
                <a:rPr lang="en-US" sz="2100" b="true">
                  <a:solidFill>
                    <a:srgbClr val="13233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QUẢN LÝ VÉ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431800" y="1012825"/>
              <a:ext cx="5842000" cy="7721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202B35"/>
                  </a:solidFill>
                  <a:latin typeface="Be Vietnam"/>
                  <a:ea typeface="Be Vietnam"/>
                  <a:cs typeface="Be Vietnam"/>
                  <a:sym typeface="Be Vietnam"/>
                </a:rPr>
                <a:t>Loại vé • cấu hình • giới hạn • theo dõi bán / giữ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14400" y="5476875"/>
            <a:ext cx="7772400" cy="2619375"/>
            <a:chOff x="0" y="0"/>
            <a:chExt cx="10363200" cy="3492500"/>
          </a:xfrm>
        </p:grpSpPr>
        <p:grpSp>
          <p:nvGrpSpPr>
            <p:cNvPr name="Group 35" id="35"/>
            <p:cNvGrpSpPr/>
            <p:nvPr/>
          </p:nvGrpSpPr>
          <p:grpSpPr>
            <a:xfrm rot="0">
              <a:off x="0" y="0"/>
              <a:ext cx="10363200" cy="3492500"/>
              <a:chOff x="0" y="0"/>
              <a:chExt cx="10363200" cy="349250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10363200" cy="3492500"/>
              </a:xfrm>
              <a:custGeom>
                <a:avLst/>
                <a:gdLst/>
                <a:ahLst/>
                <a:cxnLst/>
                <a:rect r="r" b="b" t="t" l="l"/>
                <a:pathLst>
                  <a:path h="3492500" w="10363200">
                    <a:moveTo>
                      <a:pt x="0" y="0"/>
                    </a:moveTo>
                    <a:lnTo>
                      <a:pt x="10363200" y="0"/>
                    </a:lnTo>
                    <a:lnTo>
                      <a:pt x="10363200" y="3492500"/>
                    </a:lnTo>
                    <a:lnTo>
                      <a:pt x="0" y="3492500"/>
                    </a:lnTo>
                    <a:close/>
                  </a:path>
                </a:pathLst>
              </a:custGeom>
              <a:solidFill>
                <a:srgbClr val="F6F8F9"/>
              </a:solidFill>
              <a:ln w="9525" cap="sq">
                <a:solidFill>
                  <a:srgbClr val="CBD7DC"/>
                </a:solidFill>
                <a:prstDash val="solid"/>
                <a:miter/>
              </a:ln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-38100"/>
                <a:ext cx="10363200" cy="3530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38" id="38"/>
            <p:cNvGrpSpPr/>
            <p:nvPr/>
          </p:nvGrpSpPr>
          <p:grpSpPr>
            <a:xfrm rot="0">
              <a:off x="0" y="0"/>
              <a:ext cx="101600" cy="3492500"/>
              <a:chOff x="0" y="0"/>
              <a:chExt cx="101600" cy="3492500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101600" cy="3492500"/>
              </a:xfrm>
              <a:custGeom>
                <a:avLst/>
                <a:gdLst/>
                <a:ahLst/>
                <a:cxnLst/>
                <a:rect r="r" b="b" t="t" l="l"/>
                <a:pathLst>
                  <a:path h="3492500" w="101600">
                    <a:moveTo>
                      <a:pt x="0" y="0"/>
                    </a:moveTo>
                    <a:lnTo>
                      <a:pt x="101600" y="0"/>
                    </a:lnTo>
                    <a:lnTo>
                      <a:pt x="101600" y="3492500"/>
                    </a:lnTo>
                    <a:lnTo>
                      <a:pt x="0" y="3492500"/>
                    </a:lnTo>
                    <a:close/>
                  </a:path>
                </a:pathLst>
              </a:custGeom>
              <a:solidFill>
                <a:srgbClr val="2AA19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0" y="-38100"/>
                <a:ext cx="101600" cy="3530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41" id="41"/>
            <p:cNvSpPr txBox="true"/>
            <p:nvPr/>
          </p:nvSpPr>
          <p:spPr>
            <a:xfrm rot="0">
              <a:off x="431800" y="365125"/>
              <a:ext cx="9499600" cy="414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15"/>
                </a:lnSpc>
              </a:pPr>
              <a:r>
                <a:rPr lang="en-US" sz="2100" b="true">
                  <a:solidFill>
                    <a:srgbClr val="13233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SƠ ĐỒ CHỖ NGỒI</a:t>
              </a:r>
            </a:p>
          </p:txBody>
        </p:sp>
        <p:sp>
          <p:nvSpPr>
            <p:cNvPr name="TextBox 42" id="42"/>
            <p:cNvSpPr txBox="true"/>
            <p:nvPr/>
          </p:nvSpPr>
          <p:spPr>
            <a:xfrm rot="0">
              <a:off x="431800" y="1012825"/>
              <a:ext cx="9499600" cy="3784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202B35"/>
                  </a:solidFill>
                  <a:latin typeface="Be Vietnam"/>
                  <a:ea typeface="Be Vietnam"/>
                  <a:cs typeface="Be Vietnam"/>
                  <a:sym typeface="Be Vietnam"/>
                </a:rPr>
                <a:t>Mẫu / custom • khu vực • hàng ghế • gán vé • khóa khi có dữ liệu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9144000" y="5476875"/>
            <a:ext cx="7772400" cy="2619375"/>
            <a:chOff x="0" y="0"/>
            <a:chExt cx="10363200" cy="3492500"/>
          </a:xfrm>
        </p:grpSpPr>
        <p:grpSp>
          <p:nvGrpSpPr>
            <p:cNvPr name="Group 44" id="44"/>
            <p:cNvGrpSpPr/>
            <p:nvPr/>
          </p:nvGrpSpPr>
          <p:grpSpPr>
            <a:xfrm rot="0">
              <a:off x="0" y="0"/>
              <a:ext cx="10363200" cy="3492500"/>
              <a:chOff x="0" y="0"/>
              <a:chExt cx="10363200" cy="3492500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10363200" cy="3492500"/>
              </a:xfrm>
              <a:custGeom>
                <a:avLst/>
                <a:gdLst/>
                <a:ahLst/>
                <a:cxnLst/>
                <a:rect r="r" b="b" t="t" l="l"/>
                <a:pathLst>
                  <a:path h="3492500" w="10363200">
                    <a:moveTo>
                      <a:pt x="0" y="0"/>
                    </a:moveTo>
                    <a:lnTo>
                      <a:pt x="10363200" y="0"/>
                    </a:lnTo>
                    <a:lnTo>
                      <a:pt x="10363200" y="3492500"/>
                    </a:lnTo>
                    <a:lnTo>
                      <a:pt x="0" y="3492500"/>
                    </a:lnTo>
                    <a:close/>
                  </a:path>
                </a:pathLst>
              </a:custGeom>
              <a:solidFill>
                <a:srgbClr val="F6F8F9"/>
              </a:solidFill>
              <a:ln w="9525" cap="sq">
                <a:solidFill>
                  <a:srgbClr val="CBD7DC"/>
                </a:solidFill>
                <a:prstDash val="solid"/>
                <a:miter/>
              </a:ln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0" y="-38100"/>
                <a:ext cx="10363200" cy="3530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47" id="47"/>
            <p:cNvGrpSpPr/>
            <p:nvPr/>
          </p:nvGrpSpPr>
          <p:grpSpPr>
            <a:xfrm rot="0">
              <a:off x="0" y="0"/>
              <a:ext cx="101600" cy="3492500"/>
              <a:chOff x="0" y="0"/>
              <a:chExt cx="101600" cy="3492500"/>
            </a:xfrm>
          </p:grpSpPr>
          <p:sp>
            <p:nvSpPr>
              <p:cNvPr name="Freeform 48" id="48"/>
              <p:cNvSpPr/>
              <p:nvPr/>
            </p:nvSpPr>
            <p:spPr>
              <a:xfrm flipH="false" flipV="false" rot="0">
                <a:off x="0" y="0"/>
                <a:ext cx="101600" cy="3492500"/>
              </a:xfrm>
              <a:custGeom>
                <a:avLst/>
                <a:gdLst/>
                <a:ahLst/>
                <a:cxnLst/>
                <a:rect r="r" b="b" t="t" l="l"/>
                <a:pathLst>
                  <a:path h="3492500" w="101600">
                    <a:moveTo>
                      <a:pt x="0" y="0"/>
                    </a:moveTo>
                    <a:lnTo>
                      <a:pt x="101600" y="0"/>
                    </a:lnTo>
                    <a:lnTo>
                      <a:pt x="101600" y="3492500"/>
                    </a:lnTo>
                    <a:lnTo>
                      <a:pt x="0" y="3492500"/>
                    </a:lnTo>
                    <a:close/>
                  </a:path>
                </a:pathLst>
              </a:custGeom>
              <a:solidFill>
                <a:srgbClr val="176B8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9" id="49"/>
              <p:cNvSpPr txBox="true"/>
              <p:nvPr/>
            </p:nvSpPr>
            <p:spPr>
              <a:xfrm>
                <a:off x="0" y="-38100"/>
                <a:ext cx="101600" cy="3530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50" id="50"/>
            <p:cNvSpPr txBox="true"/>
            <p:nvPr/>
          </p:nvSpPr>
          <p:spPr>
            <a:xfrm rot="0">
              <a:off x="431800" y="365125"/>
              <a:ext cx="9499600" cy="414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15"/>
                </a:lnSpc>
              </a:pPr>
              <a:r>
                <a:rPr lang="en-US" sz="2100" b="true">
                  <a:solidFill>
                    <a:srgbClr val="13233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VẬN HÀNH</a:t>
              </a:r>
            </a:p>
          </p:txBody>
        </p:sp>
        <p:sp>
          <p:nvSpPr>
            <p:cNvPr name="TextBox 51" id="51"/>
            <p:cNvSpPr txBox="true"/>
            <p:nvPr/>
          </p:nvSpPr>
          <p:spPr>
            <a:xfrm rot="0">
              <a:off x="431800" y="1012825"/>
              <a:ext cx="9499600" cy="3784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202B35"/>
                  </a:solidFill>
                  <a:latin typeface="Be Vietnam"/>
                  <a:ea typeface="Be Vietnam"/>
                  <a:cs typeface="Be Vietnam"/>
                  <a:sym typeface="Be Vietnam"/>
                </a:rPr>
                <a:t>Mã giảm giá • nhân viên • đơn • khách • CSV • dashboard</a:t>
              </a:r>
            </a:p>
          </p:txBody>
        </p:sp>
      </p:grpSp>
      <p:sp>
        <p:nvSpPr>
          <p:cNvPr name="AutoShape 52" id="52"/>
          <p:cNvSpPr/>
          <p:nvPr/>
        </p:nvSpPr>
        <p:spPr>
          <a:xfrm>
            <a:off x="914400" y="9620250"/>
            <a:ext cx="16459200" cy="0"/>
          </a:xfrm>
          <a:prstGeom prst="line">
            <a:avLst/>
          </a:prstGeom>
          <a:ln cap="flat" w="9525">
            <a:solidFill>
              <a:srgbClr val="CBD7D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3" id="53"/>
          <p:cNvSpPr txBox="true"/>
          <p:nvPr/>
        </p:nvSpPr>
        <p:spPr>
          <a:xfrm rot="0">
            <a:off x="914400" y="9801225"/>
            <a:ext cx="13811250" cy="202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7"/>
              </a:lnSpc>
            </a:pPr>
            <a:r>
              <a:rPr lang="en-US" sz="1275">
                <a:solidFill>
                  <a:srgbClr val="5D6B75"/>
                </a:solidFill>
                <a:latin typeface="Be Vietnam"/>
                <a:ea typeface="Be Vietnam"/>
                <a:cs typeface="Be Vietnam"/>
                <a:sym typeface="Be Vietnam"/>
              </a:rPr>
              <a:t>Xây dựng ứng dụng quản lý sự kiện trực tuyến – Nguyễn Vinh Quang – DH52201310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6716375" y="9801225"/>
            <a:ext cx="666750" cy="202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57"/>
              </a:lnSpc>
            </a:pPr>
            <a:r>
              <a:rPr lang="en-US" sz="1275">
                <a:solidFill>
                  <a:srgbClr val="5D6B75"/>
                </a:solidFill>
                <a:latin typeface="Be Vietnam"/>
                <a:ea typeface="Be Vietnam"/>
                <a:cs typeface="Be Vietnam"/>
                <a:sym typeface="Be Vietnam"/>
              </a:rPr>
              <a:t>10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2960" y="1828800"/>
            <a:ext cx="14630400" cy="64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1F2937"/>
                </a:solidFill>
                <a:latin typeface="Segoe UI"/>
              </a:defRPr>
            </a:pPr>
            <a:r>
              <a:t>• Đăng ký hồ sơ Ban tổ chức (Organizer) &amp; Quản lý thông tin tài khoản nhận tiền.</a:t>
            </a:r>
          </a:p>
          <a:p>
            <a:pPr>
              <a:spcAft>
                <a:spcPts val="1200"/>
              </a:spcAft>
              <a:defRPr sz="1600">
                <a:solidFill>
                  <a:srgbClr val="1F2937"/>
                </a:solidFill>
                <a:latin typeface="Segoe UI"/>
              </a:defRPr>
            </a:pPr>
            <a:r>
              <a:t>• Tạo mới, lưu nháp, chỉnh sửa sự kiện, cấu hình loại vé &amp; dựng Sơ đồ ghế ngồi.</a:t>
            </a:r>
          </a:p>
          <a:p>
            <a:pPr>
              <a:spcAft>
                <a:spcPts val="1200"/>
              </a:spcAft>
              <a:defRPr sz="1600">
                <a:solidFill>
                  <a:srgbClr val="1F2937"/>
                </a:solidFill>
                <a:latin typeface="Segoe UI"/>
              </a:defRPr>
            </a:pPr>
            <a:r>
              <a:t>• Quản lý mã giảm giá (Voucher): giảm %, giới hạn số lượt sử dụng &amp; hạn dùng.</a:t>
            </a:r>
          </a:p>
          <a:p>
            <a:pPr>
              <a:spcAft>
                <a:spcPts val="1200"/>
              </a:spcAft>
              <a:defRPr sz="1600">
                <a:solidFill>
                  <a:srgbClr val="1F2937"/>
                </a:solidFill>
                <a:latin typeface="Segoe UI"/>
              </a:defRPr>
            </a:pPr>
            <a:r>
              <a:t>• Phân công Nhân viên soát vé (Staff) theo email truy cập.</a:t>
            </a:r>
          </a:p>
          <a:p>
            <a:pPr>
              <a:spcAft>
                <a:spcPts val="1200"/>
              </a:spcAft>
              <a:defRPr sz="1600">
                <a:solidFill>
                  <a:srgbClr val="1F2937"/>
                </a:solidFill>
                <a:latin typeface="Segoe UI"/>
              </a:defRPr>
            </a:pPr>
            <a:r>
              <a:t>• Xem Dashboard báo cáo doanh thu, tiến độ check-in, xuất file CSV khách tham dự &amp; Gửi yêu cầu rút tiền.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76250"/>
            <a:ext cx="85725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20" b="true">
                <a:solidFill>
                  <a:srgbClr val="176B87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PHÂN HỆ 03–04  •  VẬN HÀNH HỆ THỐNG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933450"/>
            <a:ext cx="14287500" cy="574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6"/>
              </a:lnSpc>
            </a:pPr>
            <a:r>
              <a:rPr lang="en-US" sz="4050" b="true">
                <a:solidFill>
                  <a:srgbClr val="13233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CÁC CHỨC NĂNG ĐÃ XÂY DỰNG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14400" y="1638300"/>
            <a:ext cx="781050" cy="57150"/>
            <a:chOff x="0" y="0"/>
            <a:chExt cx="1041400" cy="76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41400" cy="76200"/>
            </a:xfrm>
            <a:custGeom>
              <a:avLst/>
              <a:gdLst/>
              <a:ahLst/>
              <a:cxnLst/>
              <a:rect r="r" b="b" t="t" l="l"/>
              <a:pathLst>
                <a:path h="76200" w="1041400">
                  <a:moveTo>
                    <a:pt x="0" y="0"/>
                  </a:moveTo>
                  <a:lnTo>
                    <a:pt x="1041400" y="0"/>
                  </a:lnTo>
                  <a:lnTo>
                    <a:pt x="10414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2AA198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041400" cy="114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2238375"/>
            <a:ext cx="5048250" cy="6477000"/>
            <a:chOff x="0" y="0"/>
            <a:chExt cx="6731000" cy="8636000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6731000" cy="8636000"/>
              <a:chOff x="0" y="0"/>
              <a:chExt cx="6731000" cy="86360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6731000" cy="8636000"/>
              </a:xfrm>
              <a:custGeom>
                <a:avLst/>
                <a:gdLst/>
                <a:ahLst/>
                <a:cxnLst/>
                <a:rect r="r" b="b" t="t" l="l"/>
                <a:pathLst>
                  <a:path h="8636000" w="6731000">
                    <a:moveTo>
                      <a:pt x="0" y="0"/>
                    </a:moveTo>
                    <a:lnTo>
                      <a:pt x="6731000" y="0"/>
                    </a:lnTo>
                    <a:lnTo>
                      <a:pt x="6731000" y="8636000"/>
                    </a:lnTo>
                    <a:lnTo>
                      <a:pt x="0" y="8636000"/>
                    </a:lnTo>
                    <a:close/>
                  </a:path>
                </a:pathLst>
              </a:custGeom>
              <a:solidFill>
                <a:srgbClr val="F6F8F9"/>
              </a:solidFill>
              <a:ln w="9525" cap="sq">
                <a:solidFill>
                  <a:srgbClr val="CBD7DC"/>
                </a:solidFill>
                <a:prstDash val="solid"/>
                <a:miter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6731000" cy="8674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0">
              <a:off x="0" y="0"/>
              <a:ext cx="101600" cy="8636000"/>
              <a:chOff x="0" y="0"/>
              <a:chExt cx="101600" cy="86360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01600" cy="8636000"/>
              </a:xfrm>
              <a:custGeom>
                <a:avLst/>
                <a:gdLst/>
                <a:ahLst/>
                <a:cxnLst/>
                <a:rect r="r" b="b" t="t" l="l"/>
                <a:pathLst>
                  <a:path h="8636000" w="101600">
                    <a:moveTo>
                      <a:pt x="0" y="0"/>
                    </a:moveTo>
                    <a:lnTo>
                      <a:pt x="101600" y="0"/>
                    </a:lnTo>
                    <a:lnTo>
                      <a:pt x="101600" y="8636000"/>
                    </a:lnTo>
                    <a:lnTo>
                      <a:pt x="0" y="8636000"/>
                    </a:lnTo>
                    <a:close/>
                  </a:path>
                </a:pathLst>
              </a:custGeom>
              <a:solidFill>
                <a:srgbClr val="2AA19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101600" cy="8674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431800" y="365125"/>
              <a:ext cx="5867400" cy="414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15"/>
                </a:lnSpc>
              </a:pPr>
              <a:r>
                <a:rPr lang="en-US" sz="2100" b="true">
                  <a:solidFill>
                    <a:srgbClr val="13233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NHÂN VIÊN SOÁT VÉ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431800" y="1012825"/>
              <a:ext cx="5867400" cy="23469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202B35"/>
                  </a:solidFill>
                  <a:latin typeface="Be Vietnam"/>
                  <a:ea typeface="Be Vietnam"/>
                  <a:cs typeface="Be Vietnam"/>
                  <a:sym typeface="Be Vietnam"/>
                </a:rPr>
                <a:t>• Danh sách sự kiện được phân công</a:t>
              </a:r>
            </a:p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202B35"/>
                  </a:solidFill>
                  <a:latin typeface="Be Vietnam"/>
                  <a:ea typeface="Be Vietnam"/>
                  <a:cs typeface="Be Vietnam"/>
                  <a:sym typeface="Be Vietnam"/>
                </a:rPr>
                <a:t>• Check-in đúng sự kiện</a:t>
              </a:r>
            </a:p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202B35"/>
                  </a:solidFill>
                  <a:latin typeface="Be Vietnam"/>
                  <a:ea typeface="Be Vietnam"/>
                  <a:cs typeface="Be Vietnam"/>
                  <a:sym typeface="Be Vietnam"/>
                </a:rPr>
                <a:t>• Quét QR / nhập mã / tìm kiếm</a:t>
              </a:r>
            </a:p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202B35"/>
                  </a:solidFill>
                  <a:latin typeface="Be Vietnam"/>
                  <a:ea typeface="Be Vietnam"/>
                  <a:cs typeface="Be Vietnam"/>
                  <a:sym typeface="Be Vietnam"/>
                </a:rPr>
                <a:t>• Kiểm tra thời gian hiệu lực</a:t>
              </a:r>
            </a:p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202B35"/>
                  </a:solidFill>
                  <a:latin typeface="Be Vietnam"/>
                  <a:ea typeface="Be Vietnam"/>
                  <a:cs typeface="Be Vietnam"/>
                  <a:sym typeface="Be Vietnam"/>
                </a:rPr>
                <a:t>• Ngăn vé dùng lại</a:t>
              </a:r>
            </a:p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202B35"/>
                  </a:solidFill>
                  <a:latin typeface="Be Vietnam"/>
                  <a:ea typeface="Be Vietnam"/>
                  <a:cs typeface="Be Vietnam"/>
                  <a:sym typeface="Be Vietnam"/>
                </a:rPr>
                <a:t>• Ghi nhận lịch sử check-in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619875" y="2238375"/>
            <a:ext cx="5048250" cy="6477000"/>
            <a:chOff x="0" y="0"/>
            <a:chExt cx="6731000" cy="8636000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6731000" cy="8636000"/>
              <a:chOff x="0" y="0"/>
              <a:chExt cx="6731000" cy="86360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6731000" cy="8636000"/>
              </a:xfrm>
              <a:custGeom>
                <a:avLst/>
                <a:gdLst/>
                <a:ahLst/>
                <a:cxnLst/>
                <a:rect r="r" b="b" t="t" l="l"/>
                <a:pathLst>
                  <a:path h="8636000" w="6731000">
                    <a:moveTo>
                      <a:pt x="0" y="0"/>
                    </a:moveTo>
                    <a:lnTo>
                      <a:pt x="6731000" y="0"/>
                    </a:lnTo>
                    <a:lnTo>
                      <a:pt x="6731000" y="8636000"/>
                    </a:lnTo>
                    <a:lnTo>
                      <a:pt x="0" y="8636000"/>
                    </a:lnTo>
                    <a:close/>
                  </a:path>
                </a:pathLst>
              </a:custGeom>
              <a:solidFill>
                <a:srgbClr val="F6F8F9"/>
              </a:solidFill>
              <a:ln w="9525" cap="sq">
                <a:solidFill>
                  <a:srgbClr val="CBD7DC"/>
                </a:solidFill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6731000" cy="8674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0">
              <a:off x="0" y="0"/>
              <a:ext cx="101600" cy="8636000"/>
              <a:chOff x="0" y="0"/>
              <a:chExt cx="101600" cy="86360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101600" cy="8636000"/>
              </a:xfrm>
              <a:custGeom>
                <a:avLst/>
                <a:gdLst/>
                <a:ahLst/>
                <a:cxnLst/>
                <a:rect r="r" b="b" t="t" l="l"/>
                <a:pathLst>
                  <a:path h="8636000" w="101600">
                    <a:moveTo>
                      <a:pt x="0" y="0"/>
                    </a:moveTo>
                    <a:lnTo>
                      <a:pt x="101600" y="0"/>
                    </a:lnTo>
                    <a:lnTo>
                      <a:pt x="101600" y="8636000"/>
                    </a:lnTo>
                    <a:lnTo>
                      <a:pt x="0" y="8636000"/>
                    </a:lnTo>
                    <a:close/>
                  </a:path>
                </a:pathLst>
              </a:custGeom>
              <a:solidFill>
                <a:srgbClr val="176B8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38100"/>
                <a:ext cx="101600" cy="8674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431800" y="365125"/>
              <a:ext cx="5867400" cy="414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15"/>
                </a:lnSpc>
              </a:pPr>
              <a:r>
                <a:rPr lang="en-US" sz="2100" b="true">
                  <a:solidFill>
                    <a:srgbClr val="13233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QUẢN TRỊ VIÊN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431800" y="1012825"/>
              <a:ext cx="5867400" cy="23469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202B35"/>
                  </a:solidFill>
                  <a:latin typeface="Be Vietnam"/>
                  <a:ea typeface="Be Vietnam"/>
                  <a:cs typeface="Be Vietnam"/>
                  <a:sym typeface="Be Vietnam"/>
                </a:rPr>
                <a:t>• Dashboard giám sát</a:t>
              </a:r>
            </a:p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202B35"/>
                  </a:solidFill>
                  <a:latin typeface="Be Vietnam"/>
                  <a:ea typeface="Be Vietnam"/>
                  <a:cs typeface="Be Vietnam"/>
                  <a:sym typeface="Be Vietnam"/>
                </a:rPr>
                <a:t>• Danh mục &amp; người dùng</a:t>
              </a:r>
            </a:p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202B35"/>
                  </a:solidFill>
                  <a:latin typeface="Be Vietnam"/>
                  <a:ea typeface="Be Vietnam"/>
                  <a:cs typeface="Be Vietnam"/>
                  <a:sym typeface="Be Vietnam"/>
                </a:rPr>
                <a:t>• Khóa / mở tài khoản</a:t>
              </a:r>
            </a:p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202B35"/>
                  </a:solidFill>
                  <a:latin typeface="Be Vietnam"/>
                  <a:ea typeface="Be Vietnam"/>
                  <a:cs typeface="Be Vietnam"/>
                  <a:sym typeface="Be Vietnam"/>
                </a:rPr>
                <a:t>• Duyệt hồ sơ ban tổ chức</a:t>
              </a:r>
            </a:p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202B35"/>
                  </a:solidFill>
                  <a:latin typeface="Be Vietnam"/>
                  <a:ea typeface="Be Vietnam"/>
                  <a:cs typeface="Be Vietnam"/>
                  <a:sym typeface="Be Vietnam"/>
                </a:rPr>
                <a:t>• Duyệt sự kiện</a:t>
              </a:r>
            </a:p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202B35"/>
                  </a:solidFill>
                  <a:latin typeface="Be Vietnam"/>
                  <a:ea typeface="Be Vietnam"/>
                  <a:cs typeface="Be Vietnam"/>
                  <a:sym typeface="Be Vietnam"/>
                </a:rPr>
                <a:t>• Giám sát đơn hàng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2325350" y="2238375"/>
            <a:ext cx="5048250" cy="6477000"/>
            <a:chOff x="0" y="0"/>
            <a:chExt cx="6731000" cy="8636000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0"/>
              <a:ext cx="6731000" cy="8636000"/>
              <a:chOff x="0" y="0"/>
              <a:chExt cx="6731000" cy="86360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6731000" cy="8636000"/>
              </a:xfrm>
              <a:custGeom>
                <a:avLst/>
                <a:gdLst/>
                <a:ahLst/>
                <a:cxnLst/>
                <a:rect r="r" b="b" t="t" l="l"/>
                <a:pathLst>
                  <a:path h="8636000" w="6731000">
                    <a:moveTo>
                      <a:pt x="0" y="0"/>
                    </a:moveTo>
                    <a:lnTo>
                      <a:pt x="6731000" y="0"/>
                    </a:lnTo>
                    <a:lnTo>
                      <a:pt x="6731000" y="8636000"/>
                    </a:lnTo>
                    <a:lnTo>
                      <a:pt x="0" y="8636000"/>
                    </a:lnTo>
                    <a:close/>
                  </a:path>
                </a:pathLst>
              </a:custGeom>
              <a:solidFill>
                <a:srgbClr val="F6F8F9"/>
              </a:solidFill>
              <a:ln w="9525" cap="sq">
                <a:solidFill>
                  <a:srgbClr val="CBD7DC"/>
                </a:solidFill>
                <a:prstDash val="solid"/>
                <a:miter/>
              </a:ln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38100"/>
                <a:ext cx="6731000" cy="8674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9" id="29"/>
            <p:cNvGrpSpPr/>
            <p:nvPr/>
          </p:nvGrpSpPr>
          <p:grpSpPr>
            <a:xfrm rot="0">
              <a:off x="0" y="0"/>
              <a:ext cx="101600" cy="8636000"/>
              <a:chOff x="0" y="0"/>
              <a:chExt cx="101600" cy="86360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101600" cy="8636000"/>
              </a:xfrm>
              <a:custGeom>
                <a:avLst/>
                <a:gdLst/>
                <a:ahLst/>
                <a:cxnLst/>
                <a:rect r="r" b="b" t="t" l="l"/>
                <a:pathLst>
                  <a:path h="8636000" w="101600">
                    <a:moveTo>
                      <a:pt x="0" y="0"/>
                    </a:moveTo>
                    <a:lnTo>
                      <a:pt x="101600" y="0"/>
                    </a:lnTo>
                    <a:lnTo>
                      <a:pt x="101600" y="8636000"/>
                    </a:lnTo>
                    <a:lnTo>
                      <a:pt x="0" y="8636000"/>
                    </a:lnTo>
                    <a:close/>
                  </a:path>
                </a:pathLst>
              </a:custGeom>
              <a:solidFill>
                <a:srgbClr val="13233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38100"/>
                <a:ext cx="101600" cy="8674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2" id="32"/>
            <p:cNvSpPr txBox="true"/>
            <p:nvPr/>
          </p:nvSpPr>
          <p:spPr>
            <a:xfrm rot="0">
              <a:off x="431800" y="365125"/>
              <a:ext cx="5867400" cy="414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15"/>
                </a:lnSpc>
              </a:pPr>
              <a:r>
                <a:rPr lang="en-US" sz="2100" b="true">
                  <a:solidFill>
                    <a:srgbClr val="13233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TỰ ĐỘNG &amp; AN TOÀN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431800" y="1012825"/>
              <a:ext cx="5867400" cy="23469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202B35"/>
                  </a:solidFill>
                  <a:latin typeface="Be Vietnam"/>
                  <a:ea typeface="Be Vietnam"/>
                  <a:cs typeface="Be Vietnam"/>
                  <a:sym typeface="Be Vietnam"/>
                </a:rPr>
                <a:t>• Phân quyền &amp; quyền sở hữu</a:t>
              </a:r>
            </a:p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202B35"/>
                  </a:solidFill>
                  <a:latin typeface="Be Vietnam"/>
                  <a:ea typeface="Be Vietnam"/>
                  <a:cs typeface="Be Vietnam"/>
                  <a:sym typeface="Be Vietnam"/>
                </a:rPr>
                <a:t>• Hết hạn đơn, giải phóng vé</a:t>
              </a:r>
            </a:p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202B35"/>
                  </a:solidFill>
                  <a:latin typeface="Be Vietnam"/>
                  <a:ea typeface="Be Vietnam"/>
                  <a:cs typeface="Be Vietnam"/>
                  <a:sym typeface="Be Vietnam"/>
                </a:rPr>
                <a:t>• Kiểm tra callback</a:t>
              </a:r>
            </a:p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202B35"/>
                  </a:solidFill>
                  <a:latin typeface="Be Vietnam"/>
                  <a:ea typeface="Be Vietnam"/>
                  <a:cs typeface="Be Vietnam"/>
                  <a:sym typeface="Be Vietnam"/>
                </a:rPr>
                <a:t>• Ngăn cập nhật nhiều lần</a:t>
              </a:r>
            </a:p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202B35"/>
                  </a:solidFill>
                  <a:latin typeface="Be Vietnam"/>
                  <a:ea typeface="Be Vietnam"/>
                  <a:cs typeface="Be Vietnam"/>
                  <a:sym typeface="Be Vietnam"/>
                </a:rPr>
                <a:t>• Đồng bộ thời gian Việt Nam</a:t>
              </a:r>
            </a:p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202B35"/>
                  </a:solidFill>
                  <a:latin typeface="Be Vietnam"/>
                  <a:ea typeface="Be Vietnam"/>
                  <a:cs typeface="Be Vietnam"/>
                  <a:sym typeface="Be Vietnam"/>
                </a:rPr>
                <a:t>• Thông báo lỗi dễ hiểu</a:t>
              </a:r>
            </a:p>
          </p:txBody>
        </p:sp>
      </p:grpSp>
      <p:sp>
        <p:nvSpPr>
          <p:cNvPr name="AutoShape 34" id="34"/>
          <p:cNvSpPr/>
          <p:nvPr/>
        </p:nvSpPr>
        <p:spPr>
          <a:xfrm>
            <a:off x="914400" y="9620250"/>
            <a:ext cx="16459200" cy="0"/>
          </a:xfrm>
          <a:prstGeom prst="line">
            <a:avLst/>
          </a:prstGeom>
          <a:ln cap="flat" w="9525">
            <a:solidFill>
              <a:srgbClr val="CBD7D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5" id="35"/>
          <p:cNvSpPr txBox="true"/>
          <p:nvPr/>
        </p:nvSpPr>
        <p:spPr>
          <a:xfrm rot="0">
            <a:off x="914400" y="9801225"/>
            <a:ext cx="13811250" cy="202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7"/>
              </a:lnSpc>
            </a:pPr>
            <a:r>
              <a:rPr lang="en-US" sz="1275">
                <a:solidFill>
                  <a:srgbClr val="5D6B75"/>
                </a:solidFill>
                <a:latin typeface="Be Vietnam"/>
                <a:ea typeface="Be Vietnam"/>
                <a:cs typeface="Be Vietnam"/>
                <a:sym typeface="Be Vietnam"/>
              </a:rPr>
              <a:t>Xây dựng ứng dụng quản lý sự kiện trực tuyến – Nguyễn Vinh Quang – DH52201310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6716375" y="9801225"/>
            <a:ext cx="666750" cy="202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57"/>
              </a:lnSpc>
            </a:pPr>
            <a:r>
              <a:rPr lang="en-US" sz="1275">
                <a:solidFill>
                  <a:srgbClr val="5D6B75"/>
                </a:solidFill>
                <a:latin typeface="Be Vietnam"/>
                <a:ea typeface="Be Vietnam"/>
                <a:cs typeface="Be Vietnam"/>
                <a:sym typeface="Be Vietnam"/>
              </a:rPr>
              <a:t>11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1828800"/>
            <a:ext cx="14630400" cy="64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2563EB"/>
                </a:solidFill>
                <a:latin typeface="Segoe UI"/>
              </a:defRPr>
            </a:pPr>
            <a:r>
              <a:t>• PHÂN HỆ SOÁT VÉ (STAFF):</a:t>
            </a:r>
          </a:p>
          <a:p>
            <a:pPr>
              <a:spcAft>
                <a:spcPts val="800"/>
              </a:spcAft>
              <a:defRPr sz="1500" b="0">
                <a:solidFill>
                  <a:srgbClr val="1F2937"/>
                </a:solidFill>
                <a:latin typeface="Segoe UI"/>
              </a:defRPr>
            </a:pPr>
            <a:r>
              <a:t>   - Mở giao diện check-in sự kiện được phân công.</a:t>
            </a:r>
          </a:p>
          <a:p>
            <a:pPr>
              <a:spcAft>
                <a:spcPts val="800"/>
              </a:spcAft>
              <a:defRPr sz="1500" b="0">
                <a:solidFill>
                  <a:srgbClr val="1F2937"/>
                </a:solidFill>
                <a:latin typeface="Segoe UI"/>
              </a:defRPr>
            </a:pPr>
            <a:r>
              <a:t>   - Quét mã QR Code qua Web Camera hoặc Nhập mã vé thủ công.</a:t>
            </a:r>
          </a:p>
          <a:p>
            <a:pPr>
              <a:spcAft>
                <a:spcPts val="800"/>
              </a:spcAft>
              <a:defRPr sz="1500" b="0">
                <a:solidFill>
                  <a:srgbClr val="1F2937"/>
                </a:solidFill>
                <a:latin typeface="Segoe UI"/>
              </a:defRPr>
            </a:pPr>
            <a:r>
              <a:t>   - Kiểm tra trạng thái vé real-time, ngăn chặn việc check-in lặp lọt 2 lần.</a:t>
            </a:r>
          </a:p>
          <a:p>
            <a:pPr>
              <a:spcAft>
                <a:spcPts val="800"/>
              </a:spcAft>
              <a:defRPr sz="1700" b="1">
                <a:solidFill>
                  <a:srgbClr val="2563EB"/>
                </a:solidFill>
                <a:latin typeface="Segoe UI"/>
              </a:defRPr>
            </a:pPr>
            <a:r>
              <a:t>• PHÂN HỆ QUẢN TRỊ VIÊN (ADMIN):</a:t>
            </a:r>
          </a:p>
          <a:p>
            <a:pPr>
              <a:spcAft>
                <a:spcPts val="800"/>
              </a:spcAft>
              <a:defRPr sz="1500" b="0">
                <a:solidFill>
                  <a:srgbClr val="1F2937"/>
                </a:solidFill>
                <a:latin typeface="Segoe UI"/>
              </a:defRPr>
            </a:pPr>
            <a:r>
              <a:t>   - Xét duyệt hồ sơ Organizer &amp; Duyệt sự kiện mở bán công khai.</a:t>
            </a:r>
          </a:p>
          <a:p>
            <a:pPr>
              <a:spcAft>
                <a:spcPts val="800"/>
              </a:spcAft>
              <a:defRPr sz="1500" b="0">
                <a:solidFill>
                  <a:srgbClr val="1F2937"/>
                </a:solidFill>
                <a:latin typeface="Segoe UI"/>
              </a:defRPr>
            </a:pPr>
            <a:r>
              <a:t>   - Quản lý đơn hàng toàn hệ thống &amp; Thực hiện hoàn tiền nội bộ.</a:t>
            </a:r>
          </a:p>
          <a:p>
            <a:pPr>
              <a:spcAft>
                <a:spcPts val="800"/>
              </a:spcAft>
              <a:defRPr sz="1500" b="0">
                <a:solidFill>
                  <a:srgbClr val="1F2937"/>
                </a:solidFill>
                <a:latin typeface="Segoe UI"/>
              </a:defRPr>
            </a:pPr>
            <a:r>
              <a:t>   - Duyệt yêu cầu rút tiền của Organizer, Quản lý cấu hình &amp; Nhật ký thao tác (Audit Log).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76250"/>
            <a:ext cx="85725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20" b="true">
                <a:solidFill>
                  <a:srgbClr val="176B87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WUANGEVENTS  •  12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933450"/>
            <a:ext cx="14287500" cy="574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6"/>
              </a:lnSpc>
            </a:pPr>
            <a:r>
              <a:rPr lang="en-US" sz="4050" b="true">
                <a:solidFill>
                  <a:srgbClr val="13233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KẾT QUẢ THỰC HIỆN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14400" y="1638300"/>
            <a:ext cx="781050" cy="57150"/>
            <a:chOff x="0" y="0"/>
            <a:chExt cx="1041400" cy="76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41400" cy="76200"/>
            </a:xfrm>
            <a:custGeom>
              <a:avLst/>
              <a:gdLst/>
              <a:ahLst/>
              <a:cxnLst/>
              <a:rect r="r" b="b" t="t" l="l"/>
              <a:pathLst>
                <a:path h="76200" w="1041400">
                  <a:moveTo>
                    <a:pt x="0" y="0"/>
                  </a:moveTo>
                  <a:lnTo>
                    <a:pt x="1041400" y="0"/>
                  </a:lnTo>
                  <a:lnTo>
                    <a:pt x="10414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2AA198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041400" cy="114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2286000"/>
            <a:ext cx="3714750" cy="2762250"/>
            <a:chOff x="0" y="0"/>
            <a:chExt cx="4953000" cy="3683000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4953000" cy="3683000"/>
              <a:chOff x="0" y="0"/>
              <a:chExt cx="4953000" cy="36830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4953000" cy="3683000"/>
              </a:xfrm>
              <a:custGeom>
                <a:avLst/>
                <a:gdLst/>
                <a:ahLst/>
                <a:cxnLst/>
                <a:rect r="r" b="b" t="t" l="l"/>
                <a:pathLst>
                  <a:path h="3683000" w="4953000">
                    <a:moveTo>
                      <a:pt x="0" y="0"/>
                    </a:moveTo>
                    <a:lnTo>
                      <a:pt x="4953000" y="0"/>
                    </a:lnTo>
                    <a:lnTo>
                      <a:pt x="4953000" y="3683000"/>
                    </a:lnTo>
                    <a:lnTo>
                      <a:pt x="0" y="3683000"/>
                    </a:lnTo>
                    <a:close/>
                  </a:path>
                </a:pathLst>
              </a:custGeom>
              <a:solidFill>
                <a:srgbClr val="13233F"/>
              </a:solidFill>
              <a:ln w="9525" cap="sq">
                <a:solidFill>
                  <a:srgbClr val="CBD7DC"/>
                </a:solidFill>
                <a:prstDash val="solid"/>
                <a:miter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4953000" cy="372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355600" y="482600"/>
              <a:ext cx="4241800" cy="9560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544"/>
                </a:lnSpc>
              </a:pPr>
              <a:r>
                <a:rPr lang="en-US" sz="495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04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355600" y="1676400"/>
              <a:ext cx="4241800" cy="342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spc="120" b="true">
                  <a:solidFill>
                    <a:srgbClr val="FFFFFF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PHÂN HỆ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355600" y="2384425"/>
              <a:ext cx="4241800" cy="67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sz="1500">
                  <a:solidFill>
                    <a:srgbClr val="FFFFFF"/>
                  </a:solidFill>
                  <a:latin typeface="Be Vietnam"/>
                  <a:ea typeface="Be Vietnam"/>
                  <a:cs typeface="Be Vietnam"/>
                  <a:sym typeface="Be Vietnam"/>
                </a:rPr>
                <a:t>Khách hàng • BTC • soát vé • quản trị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029200" y="2286000"/>
            <a:ext cx="3714750" cy="2762250"/>
            <a:chOff x="0" y="0"/>
            <a:chExt cx="4953000" cy="3683000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4953000" cy="3683000"/>
              <a:chOff x="0" y="0"/>
              <a:chExt cx="4953000" cy="36830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953000" cy="3683000"/>
              </a:xfrm>
              <a:custGeom>
                <a:avLst/>
                <a:gdLst/>
                <a:ahLst/>
                <a:cxnLst/>
                <a:rect r="r" b="b" t="t" l="l"/>
                <a:pathLst>
                  <a:path h="3683000" w="4953000">
                    <a:moveTo>
                      <a:pt x="0" y="0"/>
                    </a:moveTo>
                    <a:lnTo>
                      <a:pt x="4953000" y="0"/>
                    </a:lnTo>
                    <a:lnTo>
                      <a:pt x="4953000" y="3683000"/>
                    </a:lnTo>
                    <a:lnTo>
                      <a:pt x="0" y="3683000"/>
                    </a:lnTo>
                    <a:close/>
                  </a:path>
                </a:pathLst>
              </a:custGeom>
              <a:solidFill>
                <a:srgbClr val="F6F8F9"/>
              </a:solidFill>
              <a:ln w="9525" cap="sq">
                <a:solidFill>
                  <a:srgbClr val="CBD7DC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4953000" cy="372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355600" y="482600"/>
              <a:ext cx="4241800" cy="9560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544"/>
                </a:lnSpc>
              </a:pPr>
              <a:r>
                <a:rPr lang="en-US" sz="4950" b="true">
                  <a:solidFill>
                    <a:srgbClr val="2AA198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13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355600" y="1676400"/>
              <a:ext cx="4241800" cy="342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spc="120" b="true">
                  <a:solidFill>
                    <a:srgbClr val="176B87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BẢNG SQL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355600" y="2384425"/>
              <a:ext cx="4241800" cy="67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sz="1500">
                  <a:solidFill>
                    <a:srgbClr val="202B35"/>
                  </a:solidFill>
                  <a:latin typeface="Be Vietnam"/>
                  <a:ea typeface="Be Vietnam"/>
                  <a:cs typeface="Be Vietnam"/>
                  <a:sym typeface="Be Vietnam"/>
                </a:rPr>
                <a:t>PK/FK • unique • check • transaction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144000" y="2286000"/>
            <a:ext cx="3714750" cy="2762250"/>
            <a:chOff x="0" y="0"/>
            <a:chExt cx="4953000" cy="3683000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4953000" cy="3683000"/>
              <a:chOff x="0" y="0"/>
              <a:chExt cx="4953000" cy="36830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4953000" cy="3683000"/>
              </a:xfrm>
              <a:custGeom>
                <a:avLst/>
                <a:gdLst/>
                <a:ahLst/>
                <a:cxnLst/>
                <a:rect r="r" b="b" t="t" l="l"/>
                <a:pathLst>
                  <a:path h="3683000" w="4953000">
                    <a:moveTo>
                      <a:pt x="0" y="0"/>
                    </a:moveTo>
                    <a:lnTo>
                      <a:pt x="4953000" y="0"/>
                    </a:lnTo>
                    <a:lnTo>
                      <a:pt x="4953000" y="3683000"/>
                    </a:lnTo>
                    <a:lnTo>
                      <a:pt x="0" y="3683000"/>
                    </a:lnTo>
                    <a:close/>
                  </a:path>
                </a:pathLst>
              </a:custGeom>
              <a:solidFill>
                <a:srgbClr val="F6F8F9"/>
              </a:solidFill>
              <a:ln w="9525" cap="sq">
                <a:solidFill>
                  <a:srgbClr val="CBD7DC"/>
                </a:solidFill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4953000" cy="372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355600" y="482600"/>
              <a:ext cx="4241800" cy="9560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544"/>
                </a:lnSpc>
              </a:pPr>
              <a:r>
                <a:rPr lang="en-US" sz="4950" b="true">
                  <a:solidFill>
                    <a:srgbClr val="2AA198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22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355600" y="1676400"/>
              <a:ext cx="4241800" cy="342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spc="120" b="true">
                  <a:solidFill>
                    <a:srgbClr val="176B87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KỊCH BẢN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355600" y="2384425"/>
              <a:ext cx="4241800" cy="67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sz="1500">
                  <a:solidFill>
                    <a:srgbClr val="202B35"/>
                  </a:solidFill>
                  <a:latin typeface="Be Vietnam"/>
                  <a:ea typeface="Be Vietnam"/>
                  <a:cs typeface="Be Vietnam"/>
                  <a:sym typeface="Be Vietnam"/>
                </a:rPr>
                <a:t>Hợp lệ / không hợp lệ • phân quyền • QR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3258800" y="2286000"/>
            <a:ext cx="3714750" cy="2762250"/>
            <a:chOff x="0" y="0"/>
            <a:chExt cx="4953000" cy="3683000"/>
          </a:xfrm>
        </p:grpSpPr>
        <p:grpSp>
          <p:nvGrpSpPr>
            <p:cNvPr name="Group 29" id="29"/>
            <p:cNvGrpSpPr/>
            <p:nvPr/>
          </p:nvGrpSpPr>
          <p:grpSpPr>
            <a:xfrm rot="0">
              <a:off x="0" y="0"/>
              <a:ext cx="4953000" cy="3683000"/>
              <a:chOff x="0" y="0"/>
              <a:chExt cx="4953000" cy="36830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4953000" cy="3683000"/>
              </a:xfrm>
              <a:custGeom>
                <a:avLst/>
                <a:gdLst/>
                <a:ahLst/>
                <a:cxnLst/>
                <a:rect r="r" b="b" t="t" l="l"/>
                <a:pathLst>
                  <a:path h="3683000" w="4953000">
                    <a:moveTo>
                      <a:pt x="0" y="0"/>
                    </a:moveTo>
                    <a:lnTo>
                      <a:pt x="4953000" y="0"/>
                    </a:lnTo>
                    <a:lnTo>
                      <a:pt x="4953000" y="3683000"/>
                    </a:lnTo>
                    <a:lnTo>
                      <a:pt x="0" y="3683000"/>
                    </a:lnTo>
                    <a:close/>
                  </a:path>
                </a:pathLst>
              </a:custGeom>
              <a:solidFill>
                <a:srgbClr val="F6F8F9"/>
              </a:solidFill>
              <a:ln w="9525" cap="sq">
                <a:solidFill>
                  <a:srgbClr val="CBD7DC"/>
                </a:solidFill>
                <a:prstDash val="solid"/>
                <a:miter/>
              </a:ln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38100"/>
                <a:ext cx="4953000" cy="372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2" id="32"/>
            <p:cNvSpPr txBox="true"/>
            <p:nvPr/>
          </p:nvSpPr>
          <p:spPr>
            <a:xfrm rot="0">
              <a:off x="355600" y="473075"/>
              <a:ext cx="4241800" cy="5434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92"/>
                </a:lnSpc>
              </a:pPr>
              <a:r>
                <a:rPr lang="en-US" sz="2850" b="true">
                  <a:solidFill>
                    <a:srgbClr val="2AA198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RESPONSIVE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355600" y="1676400"/>
              <a:ext cx="4241800" cy="342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spc="120" b="true">
                  <a:solidFill>
                    <a:srgbClr val="176B87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GIAO DIỆN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355600" y="2384425"/>
              <a:ext cx="4241800" cy="67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sz="1500">
                  <a:solidFill>
                    <a:srgbClr val="202B35"/>
                  </a:solidFill>
                  <a:latin typeface="Be Vietnam"/>
                  <a:ea typeface="Be Vietnam"/>
                  <a:cs typeface="Be Vietnam"/>
                  <a:sym typeface="Be Vietnam"/>
                </a:rPr>
                <a:t>Chrome / Edge • PC / mobile • lỗi rõ ràng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14400" y="5810250"/>
            <a:ext cx="16002000" cy="2476500"/>
            <a:chOff x="0" y="0"/>
            <a:chExt cx="21336000" cy="3302000"/>
          </a:xfrm>
        </p:grpSpPr>
        <p:grpSp>
          <p:nvGrpSpPr>
            <p:cNvPr name="Group 36" id="36"/>
            <p:cNvGrpSpPr/>
            <p:nvPr/>
          </p:nvGrpSpPr>
          <p:grpSpPr>
            <a:xfrm rot="0">
              <a:off x="0" y="0"/>
              <a:ext cx="21336000" cy="3302000"/>
              <a:chOff x="0" y="0"/>
              <a:chExt cx="21336000" cy="3302000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21336000" cy="3302000"/>
              </a:xfrm>
              <a:custGeom>
                <a:avLst/>
                <a:gdLst/>
                <a:ahLst/>
                <a:cxnLst/>
                <a:rect r="r" b="b" t="t" l="l"/>
                <a:pathLst>
                  <a:path h="3302000" w="21336000">
                    <a:moveTo>
                      <a:pt x="0" y="0"/>
                    </a:moveTo>
                    <a:lnTo>
                      <a:pt x="21336000" y="0"/>
                    </a:lnTo>
                    <a:lnTo>
                      <a:pt x="21336000" y="3302000"/>
                    </a:lnTo>
                    <a:lnTo>
                      <a:pt x="0" y="3302000"/>
                    </a:lnTo>
                    <a:close/>
                  </a:path>
                </a:pathLst>
              </a:custGeom>
              <a:solidFill>
                <a:srgbClr val="F6F8F9"/>
              </a:solidFill>
              <a:ln w="9525" cap="sq">
                <a:solidFill>
                  <a:srgbClr val="CBD7DC"/>
                </a:solidFill>
                <a:prstDash val="solid"/>
                <a:miter/>
              </a:ln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-38100"/>
                <a:ext cx="21336000" cy="3340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39" id="39"/>
            <p:cNvGrpSpPr/>
            <p:nvPr/>
          </p:nvGrpSpPr>
          <p:grpSpPr>
            <a:xfrm rot="0">
              <a:off x="0" y="0"/>
              <a:ext cx="101600" cy="3302000"/>
              <a:chOff x="0" y="0"/>
              <a:chExt cx="101600" cy="3302000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101600" cy="3302000"/>
              </a:xfrm>
              <a:custGeom>
                <a:avLst/>
                <a:gdLst/>
                <a:ahLst/>
                <a:cxnLst/>
                <a:rect r="r" b="b" t="t" l="l"/>
                <a:pathLst>
                  <a:path h="3302000" w="101600">
                    <a:moveTo>
                      <a:pt x="0" y="0"/>
                    </a:moveTo>
                    <a:lnTo>
                      <a:pt x="101600" y="0"/>
                    </a:lnTo>
                    <a:lnTo>
                      <a:pt x="101600" y="3302000"/>
                    </a:lnTo>
                    <a:lnTo>
                      <a:pt x="0" y="3302000"/>
                    </a:lnTo>
                    <a:close/>
                  </a:path>
                </a:pathLst>
              </a:custGeom>
              <a:solidFill>
                <a:srgbClr val="2AA19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-38100"/>
                <a:ext cx="101600" cy="3340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42" id="42"/>
            <p:cNvSpPr txBox="true"/>
            <p:nvPr/>
          </p:nvSpPr>
          <p:spPr>
            <a:xfrm rot="0">
              <a:off x="431800" y="365125"/>
              <a:ext cx="20472400" cy="414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15"/>
                </a:lnSpc>
              </a:pPr>
              <a:r>
                <a:rPr lang="en-US" sz="2100" b="true">
                  <a:solidFill>
                    <a:srgbClr val="13233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KẾT LUẬN NỔI BẬT</a:t>
              </a:r>
            </a:p>
          </p:txBody>
        </p:sp>
        <p:sp>
          <p:nvSpPr>
            <p:cNvPr name="TextBox 43" id="43"/>
            <p:cNvSpPr txBox="true"/>
            <p:nvPr/>
          </p:nvSpPr>
          <p:spPr>
            <a:xfrm rot="0">
              <a:off x="431800" y="1012825"/>
              <a:ext cx="20472400" cy="3784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202B35"/>
                  </a:solidFill>
                  <a:latin typeface="Be Vietnam"/>
                  <a:ea typeface="Be Vietnam"/>
                  <a:cs typeface="Be Vietnam"/>
                  <a:sym typeface="Be Vietnam"/>
                </a:rPr>
                <a:t>Tạo sự kiện  →  Duyệt  →  Đặt vé  →  Thanh toán  →  Phát hành vé  →  Tham dự / Check-in</a:t>
              </a:r>
            </a:p>
          </p:txBody>
        </p:sp>
      </p:grpSp>
      <p:sp>
        <p:nvSpPr>
          <p:cNvPr name="AutoShape 44" id="44"/>
          <p:cNvSpPr/>
          <p:nvPr/>
        </p:nvSpPr>
        <p:spPr>
          <a:xfrm>
            <a:off x="914400" y="9620250"/>
            <a:ext cx="16459200" cy="0"/>
          </a:xfrm>
          <a:prstGeom prst="line">
            <a:avLst/>
          </a:prstGeom>
          <a:ln cap="flat" w="9525">
            <a:solidFill>
              <a:srgbClr val="CBD7D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5" id="45"/>
          <p:cNvSpPr txBox="true"/>
          <p:nvPr/>
        </p:nvSpPr>
        <p:spPr>
          <a:xfrm rot="0">
            <a:off x="914400" y="9801225"/>
            <a:ext cx="13811250" cy="202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7"/>
              </a:lnSpc>
            </a:pPr>
            <a:r>
              <a:rPr lang="en-US" sz="1275">
                <a:solidFill>
                  <a:srgbClr val="5D6B75"/>
                </a:solidFill>
                <a:latin typeface="Be Vietnam"/>
                <a:ea typeface="Be Vietnam"/>
                <a:cs typeface="Be Vietnam"/>
                <a:sym typeface="Be Vietnam"/>
              </a:rPr>
              <a:t>Xây dựng ứng dụng quản lý sự kiện trực tuyến – Nguyễn Vinh Quang – DH52201310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6716375" y="9801225"/>
            <a:ext cx="666750" cy="202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57"/>
              </a:lnSpc>
            </a:pPr>
            <a:r>
              <a:rPr lang="en-US" sz="1275">
                <a:solidFill>
                  <a:srgbClr val="5D6B75"/>
                </a:solidFill>
                <a:latin typeface="Be Vietnam"/>
                <a:ea typeface="Be Vietnam"/>
                <a:cs typeface="Be Vietnam"/>
                <a:sym typeface="Be Vietnam"/>
              </a:rPr>
              <a:t>12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" y="1828800"/>
            <a:ext cx="14630400" cy="64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1F2937"/>
                </a:solidFill>
                <a:latin typeface="Segoe UI"/>
              </a:defRPr>
            </a:pPr>
            <a:r>
              <a:t>• Hoàn thành 100% Khung ứng dụng Web responsive trên nền .NET 9.0 ASP.NET Core MVC.</a:t>
            </a:r>
          </a:p>
          <a:p>
            <a:pPr>
              <a:spcAft>
                <a:spcPts val="1200"/>
              </a:spcAft>
              <a:defRPr sz="1600">
                <a:solidFill>
                  <a:srgbClr val="1F2937"/>
                </a:solidFill>
                <a:latin typeface="Segoe UI"/>
              </a:defRPr>
            </a:pPr>
            <a:r>
              <a:t>• Đạt năng lực phục vụ 3,000 – 5,000 người dùng truy cập đồng thời.</a:t>
            </a:r>
          </a:p>
          <a:p>
            <a:pPr>
              <a:spcAft>
                <a:spcPts val="1200"/>
              </a:spcAft>
              <a:defRPr sz="1600">
                <a:solidFill>
                  <a:srgbClr val="1F2937"/>
                </a:solidFill>
                <a:latin typeface="Segoe UI"/>
              </a:defRPr>
            </a:pPr>
            <a:r>
              <a:t>• Tải truy vấn đọc (Read Throughput): ~2,500 Requests/giây nhờ Dapper SQL có Indexing.</a:t>
            </a:r>
          </a:p>
          <a:p>
            <a:pPr>
              <a:spcAft>
                <a:spcPts val="1200"/>
              </a:spcAft>
              <a:defRPr sz="1600">
                <a:solidFill>
                  <a:srgbClr val="1F2937"/>
                </a:solidFill>
                <a:latin typeface="Segoe UI"/>
              </a:defRPr>
            </a:pPr>
            <a:r>
              <a:t>• Tải giao dịch ghi (Write Throughput): ~150 – 300 Giao dịch/giây với SQL Lock Queue.</a:t>
            </a:r>
          </a:p>
          <a:p>
            <a:pPr>
              <a:spcAft>
                <a:spcPts val="1200"/>
              </a:spcAft>
              <a:defRPr sz="1600">
                <a:solidFill>
                  <a:srgbClr val="1F2937"/>
                </a:solidFill>
                <a:latin typeface="Segoe UI"/>
              </a:defRPr>
            </a:pPr>
            <a:r>
              <a:t>• Bảo đảm an toàn tuyệt đối 0% Overselling (không bán vượt kho) &amp; 0% Double Booking (không trùng ghế).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76250"/>
            <a:ext cx="85725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20" b="true">
                <a:solidFill>
                  <a:srgbClr val="176B87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WUANGEVENTS  •  13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933450"/>
            <a:ext cx="14287500" cy="574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6"/>
              </a:lnSpc>
            </a:pPr>
            <a:r>
              <a:rPr lang="en-US" sz="4050" b="true">
                <a:solidFill>
                  <a:srgbClr val="13233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ĐỐI SÁNH MỤC TIÊU VÀ KẾT QUẢ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14400" y="1638300"/>
            <a:ext cx="781050" cy="57150"/>
            <a:chOff x="0" y="0"/>
            <a:chExt cx="1041400" cy="76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41400" cy="76200"/>
            </a:xfrm>
            <a:custGeom>
              <a:avLst/>
              <a:gdLst/>
              <a:ahLst/>
              <a:cxnLst/>
              <a:rect r="r" b="b" t="t" l="l"/>
              <a:pathLst>
                <a:path h="76200" w="1041400">
                  <a:moveTo>
                    <a:pt x="0" y="0"/>
                  </a:moveTo>
                  <a:lnTo>
                    <a:pt x="1041400" y="0"/>
                  </a:lnTo>
                  <a:lnTo>
                    <a:pt x="10414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2AA198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041400" cy="114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2095500"/>
            <a:ext cx="4095750" cy="590550"/>
            <a:chOff x="0" y="0"/>
            <a:chExt cx="5461000" cy="787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461000" cy="787400"/>
            </a:xfrm>
            <a:custGeom>
              <a:avLst/>
              <a:gdLst/>
              <a:ahLst/>
              <a:cxnLst/>
              <a:rect r="r" b="b" t="t" l="l"/>
              <a:pathLst>
                <a:path h="787400" w="5461000">
                  <a:moveTo>
                    <a:pt x="0" y="0"/>
                  </a:moveTo>
                  <a:lnTo>
                    <a:pt x="5461000" y="0"/>
                  </a:lnTo>
                  <a:lnTo>
                    <a:pt x="5461000" y="787400"/>
                  </a:lnTo>
                  <a:lnTo>
                    <a:pt x="0" y="787400"/>
                  </a:lnTo>
                  <a:close/>
                </a:path>
              </a:pathLst>
            </a:custGeom>
            <a:solidFill>
              <a:srgbClr val="13233F"/>
            </a:solidFill>
            <a:ln w="9525" cap="sq">
              <a:solidFill>
                <a:srgbClr val="CBD7DC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461000" cy="825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010150" y="2095500"/>
            <a:ext cx="7048500" cy="590550"/>
            <a:chOff x="0" y="0"/>
            <a:chExt cx="9398000" cy="787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398000" cy="787400"/>
            </a:xfrm>
            <a:custGeom>
              <a:avLst/>
              <a:gdLst/>
              <a:ahLst/>
              <a:cxnLst/>
              <a:rect r="r" b="b" t="t" l="l"/>
              <a:pathLst>
                <a:path h="787400" w="9398000">
                  <a:moveTo>
                    <a:pt x="0" y="0"/>
                  </a:moveTo>
                  <a:lnTo>
                    <a:pt x="9398000" y="0"/>
                  </a:lnTo>
                  <a:lnTo>
                    <a:pt x="9398000" y="787400"/>
                  </a:lnTo>
                  <a:lnTo>
                    <a:pt x="0" y="787400"/>
                  </a:lnTo>
                  <a:close/>
                </a:path>
              </a:pathLst>
            </a:custGeom>
            <a:solidFill>
              <a:srgbClr val="13233F"/>
            </a:solidFill>
            <a:ln w="9525" cap="sq">
              <a:solidFill>
                <a:srgbClr val="CBD7DC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9398000" cy="825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058650" y="2095500"/>
            <a:ext cx="4095750" cy="590550"/>
            <a:chOff x="0" y="0"/>
            <a:chExt cx="5461000" cy="787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461000" cy="787400"/>
            </a:xfrm>
            <a:custGeom>
              <a:avLst/>
              <a:gdLst/>
              <a:ahLst/>
              <a:cxnLst/>
              <a:rect r="r" b="b" t="t" l="l"/>
              <a:pathLst>
                <a:path h="787400" w="5461000">
                  <a:moveTo>
                    <a:pt x="0" y="0"/>
                  </a:moveTo>
                  <a:lnTo>
                    <a:pt x="5461000" y="0"/>
                  </a:lnTo>
                  <a:lnTo>
                    <a:pt x="5461000" y="787400"/>
                  </a:lnTo>
                  <a:lnTo>
                    <a:pt x="0" y="787400"/>
                  </a:lnTo>
                  <a:close/>
                </a:path>
              </a:pathLst>
            </a:custGeom>
            <a:solidFill>
              <a:srgbClr val="13233F"/>
            </a:solidFill>
            <a:ln w="9525" cap="sq">
              <a:solidFill>
                <a:srgbClr val="CBD7DC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5461000" cy="825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104900" y="2228850"/>
            <a:ext cx="371475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20" b="true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MỤC TIÊU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200650" y="2228850"/>
            <a:ext cx="66675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20" b="true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KẾT QUẢ THỰC HIỆN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249150" y="2228850"/>
            <a:ext cx="371475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20" b="true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ĐÁNH GIÁ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14400" y="2686050"/>
            <a:ext cx="15240000" cy="781050"/>
            <a:chOff x="0" y="0"/>
            <a:chExt cx="20320000" cy="10414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0320000" cy="1041400"/>
            </a:xfrm>
            <a:custGeom>
              <a:avLst/>
              <a:gdLst/>
              <a:ahLst/>
              <a:cxnLst/>
              <a:rect r="r" b="b" t="t" l="l"/>
              <a:pathLst>
                <a:path h="1041400" w="20320000">
                  <a:moveTo>
                    <a:pt x="0" y="0"/>
                  </a:moveTo>
                  <a:lnTo>
                    <a:pt x="20320000" y="0"/>
                  </a:lnTo>
                  <a:lnTo>
                    <a:pt x="20320000" y="1041400"/>
                  </a:lnTo>
                  <a:lnTo>
                    <a:pt x="0" y="1041400"/>
                  </a:lnTo>
                  <a:close/>
                </a:path>
              </a:pathLst>
            </a:custGeom>
            <a:solidFill>
              <a:srgbClr val="F6F8F9"/>
            </a:solidFill>
            <a:ln w="9525" cap="sq">
              <a:solidFill>
                <a:srgbClr val="CBD7DC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20320000" cy="1079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14400" y="3581400"/>
            <a:ext cx="15240000" cy="781050"/>
            <a:chOff x="0" y="0"/>
            <a:chExt cx="20320000" cy="1041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0320000" cy="1041400"/>
            </a:xfrm>
            <a:custGeom>
              <a:avLst/>
              <a:gdLst/>
              <a:ahLst/>
              <a:cxnLst/>
              <a:rect r="r" b="b" t="t" l="l"/>
              <a:pathLst>
                <a:path h="1041400" w="20320000">
                  <a:moveTo>
                    <a:pt x="0" y="0"/>
                  </a:moveTo>
                  <a:lnTo>
                    <a:pt x="20320000" y="0"/>
                  </a:lnTo>
                  <a:lnTo>
                    <a:pt x="20320000" y="1041400"/>
                  </a:lnTo>
                  <a:lnTo>
                    <a:pt x="0" y="10414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CBD7DC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20320000" cy="1079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14400" y="4476750"/>
            <a:ext cx="15240000" cy="781050"/>
            <a:chOff x="0" y="0"/>
            <a:chExt cx="20320000" cy="10414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0320000" cy="1041400"/>
            </a:xfrm>
            <a:custGeom>
              <a:avLst/>
              <a:gdLst/>
              <a:ahLst/>
              <a:cxnLst/>
              <a:rect r="r" b="b" t="t" l="l"/>
              <a:pathLst>
                <a:path h="1041400" w="20320000">
                  <a:moveTo>
                    <a:pt x="0" y="0"/>
                  </a:moveTo>
                  <a:lnTo>
                    <a:pt x="20320000" y="0"/>
                  </a:lnTo>
                  <a:lnTo>
                    <a:pt x="20320000" y="1041400"/>
                  </a:lnTo>
                  <a:lnTo>
                    <a:pt x="0" y="1041400"/>
                  </a:lnTo>
                  <a:close/>
                </a:path>
              </a:pathLst>
            </a:custGeom>
            <a:solidFill>
              <a:srgbClr val="F6F8F9"/>
            </a:solidFill>
            <a:ln w="9525" cap="sq">
              <a:solidFill>
                <a:srgbClr val="CBD7DC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20320000" cy="1079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14400" y="5372100"/>
            <a:ext cx="15240000" cy="781050"/>
            <a:chOff x="0" y="0"/>
            <a:chExt cx="20320000" cy="10414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0320000" cy="1041400"/>
            </a:xfrm>
            <a:custGeom>
              <a:avLst/>
              <a:gdLst/>
              <a:ahLst/>
              <a:cxnLst/>
              <a:rect r="r" b="b" t="t" l="l"/>
              <a:pathLst>
                <a:path h="1041400" w="20320000">
                  <a:moveTo>
                    <a:pt x="0" y="0"/>
                  </a:moveTo>
                  <a:lnTo>
                    <a:pt x="20320000" y="0"/>
                  </a:lnTo>
                  <a:lnTo>
                    <a:pt x="20320000" y="1041400"/>
                  </a:lnTo>
                  <a:lnTo>
                    <a:pt x="0" y="10414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CBD7DC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20320000" cy="1079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14400" y="6267450"/>
            <a:ext cx="15240000" cy="781050"/>
            <a:chOff x="0" y="0"/>
            <a:chExt cx="20320000" cy="10414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0320000" cy="1041400"/>
            </a:xfrm>
            <a:custGeom>
              <a:avLst/>
              <a:gdLst/>
              <a:ahLst/>
              <a:cxnLst/>
              <a:rect r="r" b="b" t="t" l="l"/>
              <a:pathLst>
                <a:path h="1041400" w="20320000">
                  <a:moveTo>
                    <a:pt x="0" y="0"/>
                  </a:moveTo>
                  <a:lnTo>
                    <a:pt x="20320000" y="0"/>
                  </a:lnTo>
                  <a:lnTo>
                    <a:pt x="20320000" y="1041400"/>
                  </a:lnTo>
                  <a:lnTo>
                    <a:pt x="0" y="1041400"/>
                  </a:lnTo>
                  <a:close/>
                </a:path>
              </a:pathLst>
            </a:custGeom>
            <a:solidFill>
              <a:srgbClr val="F6F8F9"/>
            </a:solidFill>
            <a:ln w="9525" cap="sq">
              <a:solidFill>
                <a:srgbClr val="CBD7DC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20320000" cy="1079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14400" y="7162800"/>
            <a:ext cx="15240000" cy="781050"/>
            <a:chOff x="0" y="0"/>
            <a:chExt cx="20320000" cy="10414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0320000" cy="1041400"/>
            </a:xfrm>
            <a:custGeom>
              <a:avLst/>
              <a:gdLst/>
              <a:ahLst/>
              <a:cxnLst/>
              <a:rect r="r" b="b" t="t" l="l"/>
              <a:pathLst>
                <a:path h="1041400" w="20320000">
                  <a:moveTo>
                    <a:pt x="0" y="0"/>
                  </a:moveTo>
                  <a:lnTo>
                    <a:pt x="20320000" y="0"/>
                  </a:lnTo>
                  <a:lnTo>
                    <a:pt x="20320000" y="1041400"/>
                  </a:lnTo>
                  <a:lnTo>
                    <a:pt x="0" y="10414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CBD7DC"/>
              </a:solidFill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20320000" cy="1079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14400" y="8058150"/>
            <a:ext cx="15240000" cy="781050"/>
            <a:chOff x="0" y="0"/>
            <a:chExt cx="20320000" cy="10414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0320000" cy="1041400"/>
            </a:xfrm>
            <a:custGeom>
              <a:avLst/>
              <a:gdLst/>
              <a:ahLst/>
              <a:cxnLst/>
              <a:rect r="r" b="b" t="t" l="l"/>
              <a:pathLst>
                <a:path h="1041400" w="20320000">
                  <a:moveTo>
                    <a:pt x="0" y="0"/>
                  </a:moveTo>
                  <a:lnTo>
                    <a:pt x="20320000" y="0"/>
                  </a:lnTo>
                  <a:lnTo>
                    <a:pt x="20320000" y="1041400"/>
                  </a:lnTo>
                  <a:lnTo>
                    <a:pt x="0" y="1041400"/>
                  </a:lnTo>
                  <a:close/>
                </a:path>
              </a:pathLst>
            </a:custGeom>
            <a:solidFill>
              <a:srgbClr val="F6F8F9"/>
            </a:solidFill>
            <a:ln w="9525" cap="sq">
              <a:solidFill>
                <a:srgbClr val="CBD7DC"/>
              </a:solidFill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20320000" cy="1079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1104900" y="2886075"/>
            <a:ext cx="3714750" cy="265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6"/>
              </a:lnSpc>
            </a:pPr>
            <a:r>
              <a:rPr lang="en-US" sz="1575" b="true">
                <a:solidFill>
                  <a:srgbClr val="202B35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Khách hàng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5200650" y="2886075"/>
            <a:ext cx="6572250" cy="265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6"/>
              </a:lnSpc>
            </a:pPr>
            <a:r>
              <a:rPr lang="en-US" sz="1575">
                <a:solidFill>
                  <a:srgbClr val="202B35"/>
                </a:solidFill>
                <a:latin typeface="Be Vietnam"/>
                <a:ea typeface="Be Vietnam"/>
                <a:cs typeface="Be Vietnam"/>
                <a:sym typeface="Be Vietnam"/>
              </a:rPr>
              <a:t>Đặt vé, thanh toán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2249150" y="2886075"/>
            <a:ext cx="371475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500" b="true">
                <a:solidFill>
                  <a:srgbClr val="287A5B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Đạt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104900" y="3781425"/>
            <a:ext cx="3714750" cy="265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6"/>
              </a:lnSpc>
            </a:pPr>
            <a:r>
              <a:rPr lang="en-US" sz="1575" b="true">
                <a:solidFill>
                  <a:srgbClr val="202B35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Ban tổ chức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5200650" y="3781425"/>
            <a:ext cx="6572250" cy="265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6"/>
              </a:lnSpc>
            </a:pPr>
            <a:r>
              <a:rPr lang="en-US" sz="1575">
                <a:solidFill>
                  <a:srgbClr val="202B35"/>
                </a:solidFill>
                <a:latin typeface="Be Vietnam"/>
                <a:ea typeface="Be Vietnam"/>
                <a:cs typeface="Be Vietnam"/>
                <a:sym typeface="Be Vietnam"/>
              </a:rPr>
              <a:t>Quản lý vòng đời sự kiện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2249150" y="3781425"/>
            <a:ext cx="371475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500" b="true">
                <a:solidFill>
                  <a:srgbClr val="287A5B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Đạt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104900" y="4676775"/>
            <a:ext cx="3714750" cy="265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6"/>
              </a:lnSpc>
            </a:pPr>
            <a:r>
              <a:rPr lang="en-US" sz="1575" b="true">
                <a:solidFill>
                  <a:srgbClr val="202B35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Nhân viên check-in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5200650" y="4676775"/>
            <a:ext cx="6572250" cy="265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6"/>
              </a:lnSpc>
            </a:pPr>
            <a:r>
              <a:rPr lang="en-US" sz="1575">
                <a:solidFill>
                  <a:srgbClr val="202B35"/>
                </a:solidFill>
                <a:latin typeface="Be Vietnam"/>
                <a:ea typeface="Be Vietnam"/>
                <a:cs typeface="Be Vietnam"/>
                <a:sym typeface="Be Vietnam"/>
              </a:rPr>
              <a:t>Nhanh, chống vé trùng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2249150" y="4676775"/>
            <a:ext cx="371475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500" b="true">
                <a:solidFill>
                  <a:srgbClr val="287A5B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Đạt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104900" y="5572125"/>
            <a:ext cx="3714750" cy="265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6"/>
              </a:lnSpc>
            </a:pPr>
            <a:r>
              <a:rPr lang="en-US" sz="1575" b="true">
                <a:solidFill>
                  <a:srgbClr val="202B35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Quản trị viên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5200650" y="5572125"/>
            <a:ext cx="6572250" cy="265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6"/>
              </a:lnSpc>
            </a:pPr>
            <a:r>
              <a:rPr lang="en-US" sz="1575">
                <a:solidFill>
                  <a:srgbClr val="202B35"/>
                </a:solidFill>
                <a:latin typeface="Be Vietnam"/>
                <a:ea typeface="Be Vietnam"/>
                <a:cs typeface="Be Vietnam"/>
                <a:sym typeface="Be Vietnam"/>
              </a:rPr>
              <a:t>Duyệt, giám sát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2249150" y="5572125"/>
            <a:ext cx="371475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500" b="true">
                <a:solidFill>
                  <a:srgbClr val="287A5B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Đạt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104900" y="6467475"/>
            <a:ext cx="3714750" cy="265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6"/>
              </a:lnSpc>
            </a:pPr>
            <a:r>
              <a:rPr lang="en-US" sz="1575" b="true">
                <a:solidFill>
                  <a:srgbClr val="202B35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An toàn dữ liệu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5200650" y="6467475"/>
            <a:ext cx="6572250" cy="265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6"/>
              </a:lnSpc>
            </a:pPr>
            <a:r>
              <a:rPr lang="en-US" sz="1575">
                <a:solidFill>
                  <a:srgbClr val="202B35"/>
                </a:solidFill>
                <a:latin typeface="Be Vietnam"/>
                <a:ea typeface="Be Vietnam"/>
                <a:cs typeface="Be Vietnam"/>
                <a:sym typeface="Be Vietnam"/>
              </a:rPr>
              <a:t>BCrypt, truy vấn tham số, transaction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2249150" y="6467475"/>
            <a:ext cx="371475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500" b="true">
                <a:solidFill>
                  <a:srgbClr val="287A5B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Đạt trong phạm vi thử nghiệm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104900" y="7362825"/>
            <a:ext cx="3714750" cy="265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6"/>
              </a:lnSpc>
            </a:pPr>
            <a:r>
              <a:rPr lang="en-US" sz="1575" b="true">
                <a:solidFill>
                  <a:srgbClr val="202B35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Giao diện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5200650" y="7362825"/>
            <a:ext cx="6572250" cy="265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6"/>
              </a:lnSpc>
            </a:pPr>
            <a:r>
              <a:rPr lang="en-US" sz="1575">
                <a:solidFill>
                  <a:srgbClr val="202B35"/>
                </a:solidFill>
                <a:latin typeface="Be Vietnam"/>
                <a:ea typeface="Be Vietnam"/>
                <a:cs typeface="Be Vietnam"/>
                <a:sym typeface="Be Vietnam"/>
              </a:rPr>
              <a:t>Responsive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2249150" y="7362825"/>
            <a:ext cx="371475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500" b="true">
                <a:solidFill>
                  <a:srgbClr val="287A5B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Đạt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104900" y="8258175"/>
            <a:ext cx="3714750" cy="265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6"/>
              </a:lnSpc>
            </a:pPr>
            <a:r>
              <a:rPr lang="en-US" sz="1575" b="true">
                <a:solidFill>
                  <a:srgbClr val="202B35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Khả năng chịu tải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5200650" y="8258175"/>
            <a:ext cx="6572250" cy="265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6"/>
              </a:lnSpc>
            </a:pPr>
            <a:r>
              <a:rPr lang="en-US" sz="1575">
                <a:solidFill>
                  <a:srgbClr val="202B35"/>
                </a:solidFill>
                <a:latin typeface="Be Vietnam"/>
                <a:ea typeface="Be Vietnam"/>
                <a:cs typeface="Be Vietnam"/>
                <a:sym typeface="Be Vietnam"/>
              </a:rPr>
              <a:t>Chưa kiểm thử đầy đủ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2249150" y="8258175"/>
            <a:ext cx="371475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500" b="true">
                <a:solidFill>
                  <a:srgbClr val="9A6A16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Chưa đánh giá đầy đủ</a:t>
            </a:r>
          </a:p>
        </p:txBody>
      </p:sp>
      <p:sp>
        <p:nvSpPr>
          <p:cNvPr name="AutoShape 61" id="61"/>
          <p:cNvSpPr/>
          <p:nvPr/>
        </p:nvSpPr>
        <p:spPr>
          <a:xfrm>
            <a:off x="914400" y="9620250"/>
            <a:ext cx="16459200" cy="0"/>
          </a:xfrm>
          <a:prstGeom prst="line">
            <a:avLst/>
          </a:prstGeom>
          <a:ln cap="flat" w="9525">
            <a:solidFill>
              <a:srgbClr val="CBD7D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2" id="62"/>
          <p:cNvSpPr txBox="true"/>
          <p:nvPr/>
        </p:nvSpPr>
        <p:spPr>
          <a:xfrm rot="0">
            <a:off x="914400" y="9801225"/>
            <a:ext cx="13811250" cy="202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7"/>
              </a:lnSpc>
            </a:pPr>
            <a:r>
              <a:rPr lang="en-US" sz="1275">
                <a:solidFill>
                  <a:srgbClr val="5D6B75"/>
                </a:solidFill>
                <a:latin typeface="Be Vietnam"/>
                <a:ea typeface="Be Vietnam"/>
                <a:cs typeface="Be Vietnam"/>
                <a:sym typeface="Be Vietnam"/>
              </a:rPr>
              <a:t>Xây dựng ứng dụng quản lý sự kiện trực tuyến – Nguyễn Vinh Quang – DH52201310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6716375" y="9801225"/>
            <a:ext cx="666750" cy="202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57"/>
              </a:lnSpc>
            </a:pPr>
            <a:r>
              <a:rPr lang="en-US" sz="1275">
                <a:solidFill>
                  <a:srgbClr val="5D6B75"/>
                </a:solidFill>
                <a:latin typeface="Be Vietnam"/>
                <a:ea typeface="Be Vietnam"/>
                <a:cs typeface="Be Vietnam"/>
                <a:sym typeface="Be Vietnam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76250"/>
            <a:ext cx="85725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20" b="true">
                <a:solidFill>
                  <a:srgbClr val="176B87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WUANGEVENTS  •  14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933450"/>
            <a:ext cx="14287500" cy="574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6"/>
              </a:lnSpc>
            </a:pPr>
            <a:r>
              <a:rPr lang="en-US" sz="4050" b="true">
                <a:solidFill>
                  <a:srgbClr val="13233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HẠN CHẾ VÀ HƯỚNG PHÁT TRIỂN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14400" y="1638300"/>
            <a:ext cx="781050" cy="57150"/>
            <a:chOff x="0" y="0"/>
            <a:chExt cx="1041400" cy="76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41400" cy="76200"/>
            </a:xfrm>
            <a:custGeom>
              <a:avLst/>
              <a:gdLst/>
              <a:ahLst/>
              <a:cxnLst/>
              <a:rect r="r" b="b" t="t" l="l"/>
              <a:pathLst>
                <a:path h="76200" w="1041400">
                  <a:moveTo>
                    <a:pt x="0" y="0"/>
                  </a:moveTo>
                  <a:lnTo>
                    <a:pt x="1041400" y="0"/>
                  </a:lnTo>
                  <a:lnTo>
                    <a:pt x="10414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2AA198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041400" cy="114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2238375"/>
            <a:ext cx="7715250" cy="5429250"/>
            <a:chOff x="0" y="0"/>
            <a:chExt cx="10287000" cy="7239000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10287000" cy="7239000"/>
              <a:chOff x="0" y="0"/>
              <a:chExt cx="10287000" cy="72390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0287000" cy="7239000"/>
              </a:xfrm>
              <a:custGeom>
                <a:avLst/>
                <a:gdLst/>
                <a:ahLst/>
                <a:cxnLst/>
                <a:rect r="r" b="b" t="t" l="l"/>
                <a:pathLst>
                  <a:path h="7239000" w="10287000">
                    <a:moveTo>
                      <a:pt x="0" y="0"/>
                    </a:moveTo>
                    <a:lnTo>
                      <a:pt x="10287000" y="0"/>
                    </a:lnTo>
                    <a:lnTo>
                      <a:pt x="10287000" y="7239000"/>
                    </a:lnTo>
                    <a:lnTo>
                      <a:pt x="0" y="7239000"/>
                    </a:lnTo>
                    <a:close/>
                  </a:path>
                </a:pathLst>
              </a:custGeom>
              <a:solidFill>
                <a:srgbClr val="F6F8F9"/>
              </a:solidFill>
              <a:ln w="9525" cap="sq">
                <a:solidFill>
                  <a:srgbClr val="CBD7DC"/>
                </a:solidFill>
                <a:prstDash val="solid"/>
                <a:miter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10287000" cy="7277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0">
              <a:off x="0" y="0"/>
              <a:ext cx="101600" cy="7239000"/>
              <a:chOff x="0" y="0"/>
              <a:chExt cx="101600" cy="72390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01600" cy="7239000"/>
              </a:xfrm>
              <a:custGeom>
                <a:avLst/>
                <a:gdLst/>
                <a:ahLst/>
                <a:cxnLst/>
                <a:rect r="r" b="b" t="t" l="l"/>
                <a:pathLst>
                  <a:path h="7239000" w="101600">
                    <a:moveTo>
                      <a:pt x="0" y="0"/>
                    </a:moveTo>
                    <a:lnTo>
                      <a:pt x="101600" y="0"/>
                    </a:lnTo>
                    <a:lnTo>
                      <a:pt x="101600" y="7239000"/>
                    </a:lnTo>
                    <a:lnTo>
                      <a:pt x="0" y="7239000"/>
                    </a:lnTo>
                    <a:close/>
                  </a:path>
                </a:pathLst>
              </a:custGeom>
              <a:solidFill>
                <a:srgbClr val="9A6A1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101600" cy="7277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431800" y="365125"/>
              <a:ext cx="9423400" cy="414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15"/>
                </a:lnSpc>
              </a:pPr>
              <a:r>
                <a:rPr lang="en-US" sz="2100" b="true">
                  <a:solidFill>
                    <a:srgbClr val="13233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HẠN CHẾ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431800" y="1012825"/>
              <a:ext cx="9423400" cy="23469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202B35"/>
                  </a:solidFill>
                  <a:latin typeface="Be Vietnam"/>
                  <a:ea typeface="Be Vietnam"/>
                  <a:cs typeface="Be Vietnam"/>
                  <a:sym typeface="Be Vietnam"/>
                </a:rPr>
                <a:t>• Chưa kiểm thử chịu tải đầy đủ</a:t>
              </a:r>
            </a:p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202B35"/>
                  </a:solidFill>
                  <a:latin typeface="Be Vietnam"/>
                  <a:ea typeface="Be Vietnam"/>
                  <a:cs typeface="Be Vietnam"/>
                  <a:sym typeface="Be Vietnam"/>
                </a:rPr>
                <a:t>• Thanh toán mới ở môi trường Sandbox</a:t>
              </a:r>
            </a:p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202B35"/>
                  </a:solidFill>
                  <a:latin typeface="Be Vietnam"/>
                  <a:ea typeface="Be Vietnam"/>
                  <a:cs typeface="Be Vietnam"/>
                  <a:sym typeface="Be Vietnam"/>
                </a:rPr>
                <a:t>• Check-in cần kết nối Internet</a:t>
              </a:r>
            </a:p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202B35"/>
                  </a:solidFill>
                  <a:latin typeface="Be Vietnam"/>
                  <a:ea typeface="Be Vietnam"/>
                  <a:cs typeface="Be Vietnam"/>
                  <a:sym typeface="Be Vietnam"/>
                </a:rPr>
                <a:t>• Chưa có ứng dụng mobile</a:t>
              </a:r>
            </a:p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202B35"/>
                  </a:solidFill>
                  <a:latin typeface="Be Vietnam"/>
                  <a:ea typeface="Be Vietnam"/>
                  <a:cs typeface="Be Vietnam"/>
                  <a:sym typeface="Be Vietnam"/>
                </a:rPr>
                <a:t>• Chưa có AI gợi ý</a:t>
              </a:r>
            </a:p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202B35"/>
                  </a:solidFill>
                  <a:latin typeface="Be Vietnam"/>
                  <a:ea typeface="Be Vietnam"/>
                  <a:cs typeface="Be Vietnam"/>
                  <a:sym typeface="Be Vietnam"/>
                </a:rPr>
                <a:t>• Chưa tích hợp chống bot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658350" y="2238375"/>
            <a:ext cx="7715250" cy="5429250"/>
            <a:chOff x="0" y="0"/>
            <a:chExt cx="10287000" cy="7239000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10287000" cy="7239000"/>
              <a:chOff x="0" y="0"/>
              <a:chExt cx="10287000" cy="72390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0287000" cy="7239000"/>
              </a:xfrm>
              <a:custGeom>
                <a:avLst/>
                <a:gdLst/>
                <a:ahLst/>
                <a:cxnLst/>
                <a:rect r="r" b="b" t="t" l="l"/>
                <a:pathLst>
                  <a:path h="7239000" w="10287000">
                    <a:moveTo>
                      <a:pt x="0" y="0"/>
                    </a:moveTo>
                    <a:lnTo>
                      <a:pt x="10287000" y="0"/>
                    </a:lnTo>
                    <a:lnTo>
                      <a:pt x="10287000" y="7239000"/>
                    </a:lnTo>
                    <a:lnTo>
                      <a:pt x="0" y="7239000"/>
                    </a:lnTo>
                    <a:close/>
                  </a:path>
                </a:pathLst>
              </a:custGeom>
              <a:solidFill>
                <a:srgbClr val="F6F8F9"/>
              </a:solidFill>
              <a:ln w="9525" cap="sq">
                <a:solidFill>
                  <a:srgbClr val="CBD7DC"/>
                </a:solidFill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10287000" cy="7277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0">
              <a:off x="0" y="0"/>
              <a:ext cx="101600" cy="7239000"/>
              <a:chOff x="0" y="0"/>
              <a:chExt cx="101600" cy="72390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101600" cy="7239000"/>
              </a:xfrm>
              <a:custGeom>
                <a:avLst/>
                <a:gdLst/>
                <a:ahLst/>
                <a:cxnLst/>
                <a:rect r="r" b="b" t="t" l="l"/>
                <a:pathLst>
                  <a:path h="7239000" w="101600">
                    <a:moveTo>
                      <a:pt x="0" y="0"/>
                    </a:moveTo>
                    <a:lnTo>
                      <a:pt x="101600" y="0"/>
                    </a:lnTo>
                    <a:lnTo>
                      <a:pt x="101600" y="7239000"/>
                    </a:lnTo>
                    <a:lnTo>
                      <a:pt x="0" y="7239000"/>
                    </a:lnTo>
                    <a:close/>
                  </a:path>
                </a:pathLst>
              </a:custGeom>
              <a:solidFill>
                <a:srgbClr val="2AA19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38100"/>
                <a:ext cx="101600" cy="7277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431800" y="365125"/>
              <a:ext cx="9423400" cy="414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15"/>
                </a:lnSpc>
              </a:pPr>
              <a:r>
                <a:rPr lang="en-US" sz="2100" b="true">
                  <a:solidFill>
                    <a:srgbClr val="13233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HƯỚNG PHÁT TRIỂN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431800" y="1012825"/>
              <a:ext cx="9423400" cy="19532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202B35"/>
                  </a:solidFill>
                  <a:latin typeface="Be Vietnam"/>
                  <a:ea typeface="Be Vietnam"/>
                  <a:cs typeface="Be Vietnam"/>
                  <a:sym typeface="Be Vietnam"/>
                </a:rPr>
                <a:t>• Redis, queue và tối ưu chịu tải</a:t>
              </a:r>
            </a:p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202B35"/>
                  </a:solidFill>
                  <a:latin typeface="Be Vietnam"/>
                  <a:ea typeface="Be Vietnam"/>
                  <a:cs typeface="Be Vietnam"/>
                  <a:sym typeface="Be Vietnam"/>
                </a:rPr>
                <a:t>• Hoàn thiện thanh toán thực tế</a:t>
              </a:r>
            </a:p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202B35"/>
                  </a:solidFill>
                  <a:latin typeface="Be Vietnam"/>
                  <a:ea typeface="Be Vietnam"/>
                  <a:cs typeface="Be Vietnam"/>
                  <a:sym typeface="Be Vietnam"/>
                </a:rPr>
                <a:t>• Phát triển ứng dụng di động</a:t>
              </a:r>
            </a:p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202B35"/>
                  </a:solidFill>
                  <a:latin typeface="Be Vietnam"/>
                  <a:ea typeface="Be Vietnam"/>
                  <a:cs typeface="Be Vietnam"/>
                  <a:sym typeface="Be Vietnam"/>
                </a:rPr>
                <a:t>• AI gợi ý và chống bot</a:t>
              </a:r>
            </a:p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202B35"/>
                  </a:solidFill>
                  <a:latin typeface="Be Vietnam"/>
                  <a:ea typeface="Be Vietnam"/>
                  <a:cs typeface="Be Vietnam"/>
                  <a:sym typeface="Be Vietnam"/>
                </a:rPr>
                <a:t>• NFC, nhận diện khuôn mặt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14400" y="7953375"/>
            <a:ext cx="16002000" cy="1043464"/>
            <a:chOff x="0" y="0"/>
            <a:chExt cx="21336000" cy="1391285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0"/>
              <a:ext cx="21336000" cy="1270000"/>
              <a:chOff x="0" y="0"/>
              <a:chExt cx="21336000" cy="12700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21336000" cy="1270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0" w="21336000">
                    <a:moveTo>
                      <a:pt x="0" y="0"/>
                    </a:moveTo>
                    <a:lnTo>
                      <a:pt x="21336000" y="0"/>
                    </a:lnTo>
                    <a:lnTo>
                      <a:pt x="21336000" y="1270000"/>
                    </a:lnTo>
                    <a:lnTo>
                      <a:pt x="0" y="1270000"/>
                    </a:lnTo>
                    <a:close/>
                  </a:path>
                </a:pathLst>
              </a:custGeom>
              <a:solidFill>
                <a:srgbClr val="F6F8F9"/>
              </a:solidFill>
              <a:ln w="9525" cap="sq">
                <a:solidFill>
                  <a:srgbClr val="CBD7DC"/>
                </a:solidFill>
                <a:prstDash val="solid"/>
                <a:miter/>
              </a:ln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38100"/>
                <a:ext cx="21336000" cy="1308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9" id="29"/>
            <p:cNvGrpSpPr/>
            <p:nvPr/>
          </p:nvGrpSpPr>
          <p:grpSpPr>
            <a:xfrm rot="0">
              <a:off x="0" y="0"/>
              <a:ext cx="101600" cy="1270000"/>
              <a:chOff x="0" y="0"/>
              <a:chExt cx="101600" cy="12700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101600" cy="1270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0" w="101600">
                    <a:moveTo>
                      <a:pt x="0" y="0"/>
                    </a:moveTo>
                    <a:lnTo>
                      <a:pt x="101600" y="0"/>
                    </a:lnTo>
                    <a:lnTo>
                      <a:pt x="101600" y="1270000"/>
                    </a:lnTo>
                    <a:lnTo>
                      <a:pt x="0" y="1270000"/>
                    </a:lnTo>
                    <a:close/>
                  </a:path>
                </a:pathLst>
              </a:custGeom>
              <a:solidFill>
                <a:srgbClr val="176B8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38100"/>
                <a:ext cx="101600" cy="1308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2" id="32"/>
            <p:cNvSpPr txBox="true"/>
            <p:nvPr/>
          </p:nvSpPr>
          <p:spPr>
            <a:xfrm rot="0">
              <a:off x="431800" y="365125"/>
              <a:ext cx="20472400" cy="414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15"/>
                </a:lnSpc>
              </a:pPr>
              <a:r>
                <a:rPr lang="en-US" sz="2100" b="true">
                  <a:solidFill>
                    <a:srgbClr val="13233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KẾT LUẬN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431800" y="1012825"/>
              <a:ext cx="20472400" cy="3784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202B35"/>
                  </a:solidFill>
                  <a:latin typeface="Be Vietnam"/>
                  <a:ea typeface="Be Vietnam"/>
                  <a:cs typeface="Be Vietnam"/>
                  <a:sym typeface="Be Vietnam"/>
                </a:rPr>
                <a:t>WuangEvents đã đáp ứng quy trình nghiệp vụ cốt lõi và có nền tảng mở rộng.</a:t>
              </a:r>
            </a:p>
          </p:txBody>
        </p:sp>
      </p:grpSp>
      <p:sp>
        <p:nvSpPr>
          <p:cNvPr name="AutoShape 34" id="34"/>
          <p:cNvSpPr/>
          <p:nvPr/>
        </p:nvSpPr>
        <p:spPr>
          <a:xfrm>
            <a:off x="914400" y="9620250"/>
            <a:ext cx="16459200" cy="0"/>
          </a:xfrm>
          <a:prstGeom prst="line">
            <a:avLst/>
          </a:prstGeom>
          <a:ln cap="flat" w="9525">
            <a:solidFill>
              <a:srgbClr val="CBD7D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5" id="35"/>
          <p:cNvSpPr txBox="true"/>
          <p:nvPr/>
        </p:nvSpPr>
        <p:spPr>
          <a:xfrm rot="0">
            <a:off x="914400" y="9801225"/>
            <a:ext cx="13811250" cy="202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7"/>
              </a:lnSpc>
            </a:pPr>
            <a:r>
              <a:rPr lang="en-US" sz="1275">
                <a:solidFill>
                  <a:srgbClr val="5D6B75"/>
                </a:solidFill>
                <a:latin typeface="Be Vietnam"/>
                <a:ea typeface="Be Vietnam"/>
                <a:cs typeface="Be Vietnam"/>
                <a:sym typeface="Be Vietnam"/>
              </a:rPr>
              <a:t>Xây dựng ứng dụng quản lý sự kiện trực tuyến – Nguyễn Vinh Quang – DH52201310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6716375" y="9801225"/>
            <a:ext cx="666750" cy="202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57"/>
              </a:lnSpc>
            </a:pPr>
            <a:r>
              <a:rPr lang="en-US" sz="1275">
                <a:solidFill>
                  <a:srgbClr val="5D6B75"/>
                </a:solidFill>
                <a:latin typeface="Be Vietnam"/>
                <a:ea typeface="Be Vietnam"/>
                <a:cs typeface="Be Vietnam"/>
                <a:sym typeface="Be Vietnam"/>
              </a:rPr>
              <a:t>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1828800"/>
            <a:ext cx="14630400" cy="64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2563EB"/>
                </a:solidFill>
                <a:latin typeface="Segoe UI"/>
              </a:defRPr>
            </a:pPr>
            <a:r>
              <a:t>• NHỮNG HẠN CHẾ CÒN TỒN TẠI:</a:t>
            </a:r>
          </a:p>
          <a:p>
            <a:pPr>
              <a:spcAft>
                <a:spcPts val="800"/>
              </a:spcAft>
              <a:defRPr sz="1500" b="0">
                <a:solidFill>
                  <a:srgbClr val="1F2937"/>
                </a:solidFill>
                <a:latin typeface="Segoe UI"/>
              </a:defRPr>
            </a:pPr>
            <a:r>
              <a:t>   - Chưa tích hợp API hoàn tiền tự động trực tiếp từ cổng ngân hàng (mới ghi nhận nội bộ).</a:t>
            </a:r>
          </a:p>
          <a:p>
            <a:pPr>
              <a:spcAft>
                <a:spcPts val="800"/>
              </a:spcAft>
              <a:defRPr sz="1500" b="0">
                <a:solidFill>
                  <a:srgbClr val="1F2937"/>
                </a:solidFill>
                <a:latin typeface="Segoe UI"/>
              </a:defRPr>
            </a:pPr>
            <a:r>
              <a:t>   - Chưa xây dựng ứng dụng di động Native (Mobile App) riêng.</a:t>
            </a:r>
          </a:p>
          <a:p>
            <a:pPr>
              <a:spcAft>
                <a:spcPts val="800"/>
              </a:spcAft>
              <a:defRPr sz="1700" b="1">
                <a:solidFill>
                  <a:srgbClr val="2563EB"/>
                </a:solidFill>
                <a:latin typeface="Segoe UI"/>
              </a:defRPr>
            </a:pPr>
            <a:r>
              <a:t>• HƯỚNG PHÁT TRIỂN NGHỆ MỞ RỘNG:</a:t>
            </a:r>
          </a:p>
          <a:p>
            <a:pPr>
              <a:spcAft>
                <a:spcPts val="800"/>
              </a:spcAft>
              <a:defRPr sz="1500" b="0">
                <a:solidFill>
                  <a:srgbClr val="1F2937"/>
                </a:solidFill>
                <a:latin typeface="Segoe UI"/>
              </a:defRPr>
            </a:pPr>
            <a:r>
              <a:t>   - Tích hợp Hàng chờ Redis / Message Queue (RabbitMQ) để nâng công suất ghi lên 2,000+ TPS.</a:t>
            </a:r>
          </a:p>
          <a:p>
            <a:pPr>
              <a:spcAft>
                <a:spcPts val="800"/>
              </a:spcAft>
              <a:defRPr sz="1500" b="0">
                <a:solidFill>
                  <a:srgbClr val="1F2937"/>
                </a:solidFill>
                <a:latin typeface="Segoe UI"/>
              </a:defRPr>
            </a:pPr>
            <a:r>
              <a:t>   - Xây dựng Ứng dụng Mobile App (Flutter / React Native) quét mã QR chuyên dụng.</a:t>
            </a:r>
          </a:p>
          <a:p>
            <a:pPr>
              <a:spcAft>
                <a:spcPts val="800"/>
              </a:spcAft>
              <a:defRPr sz="1500" b="0">
                <a:solidFill>
                  <a:srgbClr val="1F2937"/>
                </a:solidFill>
                <a:latin typeface="Segoe UI"/>
              </a:defRPr>
            </a:pPr>
            <a:r>
              <a:t>   - Tích hợp VietQR API để tự động hóa đối soát chuyển khoản ngân hàng.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3850" cy="10287000"/>
            <a:chOff x="0" y="0"/>
            <a:chExt cx="4318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18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431800">
                  <a:moveTo>
                    <a:pt x="0" y="0"/>
                  </a:moveTo>
                  <a:lnTo>
                    <a:pt x="431800" y="0"/>
                  </a:lnTo>
                  <a:lnTo>
                    <a:pt x="4318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AA198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318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43000" y="2095500"/>
            <a:ext cx="1333500" cy="76200"/>
            <a:chOff x="0" y="0"/>
            <a:chExt cx="1778000" cy="1016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78000" cy="101600"/>
            </a:xfrm>
            <a:custGeom>
              <a:avLst/>
              <a:gdLst/>
              <a:ahLst/>
              <a:cxnLst/>
              <a:rect r="r" b="b" t="t" l="l"/>
              <a:pathLst>
                <a:path h="101600" w="1778000">
                  <a:moveTo>
                    <a:pt x="0" y="0"/>
                  </a:moveTo>
                  <a:lnTo>
                    <a:pt x="1778000" y="0"/>
                  </a:lnTo>
                  <a:lnTo>
                    <a:pt x="17780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2AA198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778000" cy="13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143000" y="1104900"/>
            <a:ext cx="11430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32" b="true">
                <a:solidFill>
                  <a:srgbClr val="176B87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WUANGEVENTS  •  BẢO VỆ KHÓA LUẬN TỐT NGHIỆP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43000" y="2800350"/>
            <a:ext cx="13906500" cy="2098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44"/>
              </a:lnSpc>
            </a:pPr>
            <a:r>
              <a:rPr lang="en-US" sz="4950" b="true">
                <a:solidFill>
                  <a:srgbClr val="13233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XIN CHÂN THÀNH CẢM ƠN</a:t>
            </a:r>
          </a:p>
          <a:p>
            <a:pPr algn="l">
              <a:lnSpc>
                <a:spcPts val="5544"/>
              </a:lnSpc>
            </a:pPr>
            <a:r>
              <a:rPr lang="en-US" sz="4950" b="true">
                <a:solidFill>
                  <a:srgbClr val="13233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QUÝ THẦY CÔ TRONG HỘI ĐỒNG</a:t>
            </a:r>
          </a:p>
          <a:p>
            <a:pPr algn="l">
              <a:lnSpc>
                <a:spcPts val="5544"/>
              </a:lnSpc>
            </a:pPr>
            <a:r>
              <a:rPr lang="en-US" sz="4950" b="true">
                <a:solidFill>
                  <a:srgbClr val="13233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ĐÃ LẮNG NGHE!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43000" y="6305550"/>
            <a:ext cx="12192000" cy="681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400" b="true">
                <a:solidFill>
                  <a:srgbClr val="176B8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EM XIN SẴN SÀNG TRÌNH BÀY PHẦN DEMO</a:t>
            </a:r>
          </a:p>
          <a:p>
            <a:pPr algn="l">
              <a:lnSpc>
                <a:spcPts val="2760"/>
              </a:lnSpc>
            </a:pPr>
            <a:r>
              <a:rPr lang="en-US" sz="2400" b="true">
                <a:solidFill>
                  <a:srgbClr val="176B8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VÀ TRẢ LỜI CÂU HỎI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192250" y="6772275"/>
            <a:ext cx="2476500" cy="1087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19"/>
              </a:lnSpc>
            </a:pPr>
            <a:r>
              <a:rPr lang="en-US" sz="6300" b="true">
                <a:solidFill>
                  <a:srgbClr val="2AA19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Q&amp;A</a:t>
            </a:r>
          </a:p>
        </p:txBody>
      </p:sp>
      <p:sp>
        <p:nvSpPr>
          <p:cNvPr name="AutoShape 12" id="12"/>
          <p:cNvSpPr/>
          <p:nvPr/>
        </p:nvSpPr>
        <p:spPr>
          <a:xfrm>
            <a:off x="914400" y="9620250"/>
            <a:ext cx="16459200" cy="0"/>
          </a:xfrm>
          <a:prstGeom prst="line">
            <a:avLst/>
          </a:prstGeom>
          <a:ln cap="flat" w="9525">
            <a:solidFill>
              <a:srgbClr val="CBD7D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3" id="13"/>
          <p:cNvSpPr txBox="true"/>
          <p:nvPr/>
        </p:nvSpPr>
        <p:spPr>
          <a:xfrm rot="0">
            <a:off x="914400" y="9801225"/>
            <a:ext cx="13811250" cy="202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7"/>
              </a:lnSpc>
            </a:pPr>
            <a:r>
              <a:rPr lang="en-US" sz="1275">
                <a:solidFill>
                  <a:srgbClr val="5D6B75"/>
                </a:solidFill>
                <a:latin typeface="Be Vietnam"/>
                <a:ea typeface="Be Vietnam"/>
                <a:cs typeface="Be Vietnam"/>
                <a:sym typeface="Be Vietnam"/>
              </a:rPr>
              <a:t>Xây dựng ứng dụng quản lý sự kiện trực tuyến – Nguyễn Vinh Quang – DH52201310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716375" y="9801225"/>
            <a:ext cx="666750" cy="202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57"/>
              </a:lnSpc>
            </a:pPr>
            <a:r>
              <a:rPr lang="en-US" sz="1275">
                <a:solidFill>
                  <a:srgbClr val="5D6B75"/>
                </a:solidFill>
                <a:latin typeface="Be Vietnam"/>
                <a:ea typeface="Be Vietnam"/>
                <a:cs typeface="Be Vietnam"/>
                <a:sym typeface="Be Vietnam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DAHR4jsc6kY</dc:identifier>
  <dcterms:modified xsi:type="dcterms:W3CDTF">2011-08-01T06:04:30Z</dcterms:modified>
  <cp:revision>1</cp:revision>
  <dc:title>TRƯỜNG ĐẠI HỌC CÔNG NGHỆ SÀI GÒN KHOA CÔNG NGHỆ THÔNG TIN</dc:title>
</cp:coreProperties>
</file>